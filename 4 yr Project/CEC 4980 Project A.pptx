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302" r:id="rId5"/>
    <p:sldId id="303" r:id="rId6"/>
    <p:sldId id="304" r:id="rId7"/>
    <p:sldId id="264" r:id="rId8"/>
    <p:sldId id="260" r:id="rId9"/>
    <p:sldId id="301" r:id="rId10"/>
    <p:sldId id="259" r:id="rId11"/>
    <p:sldId id="305" r:id="rId12"/>
    <p:sldId id="265" r:id="rId13"/>
    <p:sldId id="266"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7" r:id="rId41"/>
    <p:sldId id="295" r:id="rId42"/>
    <p:sldId id="296" r:id="rId43"/>
    <p:sldId id="299" r:id="rId44"/>
    <p:sldId id="298"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BAAC899-A51B-45B1-BA83-5FCB6ECBE755}">
          <p14:sldIdLst>
            <p14:sldId id="256"/>
            <p14:sldId id="258"/>
            <p14:sldId id="257"/>
            <p14:sldId id="302"/>
            <p14:sldId id="303"/>
            <p14:sldId id="304"/>
            <p14:sldId id="264"/>
            <p14:sldId id="260"/>
            <p14:sldId id="301"/>
            <p14:sldId id="259"/>
            <p14:sldId id="305"/>
            <p14:sldId id="265"/>
            <p14:sldId id="266"/>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7"/>
            <p14:sldId id="295"/>
            <p14:sldId id="296"/>
            <p14:sldId id="299"/>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33" autoAdjust="0"/>
    <p:restoredTop sz="95852" autoAdjust="0"/>
  </p:normalViewPr>
  <p:slideViewPr>
    <p:cSldViewPr snapToGrid="0">
      <p:cViewPr>
        <p:scale>
          <a:sx n="66" d="100"/>
          <a:sy n="66" d="100"/>
        </p:scale>
        <p:origin x="-230"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373417-3B0D-4440-AC75-E2F9EDE31328}"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IN"/>
        </a:p>
      </dgm:t>
    </dgm:pt>
    <dgm:pt modelId="{618354E4-AF55-47CF-9E32-A41E1FF9D7DB}">
      <dgm:prSet/>
      <dgm:spPr/>
      <dgm:t>
        <a:bodyPr/>
        <a:lstStyle/>
        <a:p>
          <a:r>
            <a:rPr lang="en-US" b="0" i="0"/>
            <a:t>Thank You</a:t>
          </a:r>
          <a:endParaRPr lang="en-IN"/>
        </a:p>
      </dgm:t>
    </dgm:pt>
    <dgm:pt modelId="{56158F87-C35E-4CEB-A4A1-ABF9B6EA6CDF}" type="parTrans" cxnId="{A4002C21-043F-4F63-9086-3EC922E081E5}">
      <dgm:prSet/>
      <dgm:spPr/>
      <dgm:t>
        <a:bodyPr/>
        <a:lstStyle/>
        <a:p>
          <a:endParaRPr lang="en-IN"/>
        </a:p>
      </dgm:t>
    </dgm:pt>
    <dgm:pt modelId="{2EFE6A64-24AB-4B66-9297-589243D291EB}" type="sibTrans" cxnId="{A4002C21-043F-4F63-9086-3EC922E081E5}">
      <dgm:prSet/>
      <dgm:spPr/>
      <dgm:t>
        <a:bodyPr/>
        <a:lstStyle/>
        <a:p>
          <a:endParaRPr lang="en-IN"/>
        </a:p>
      </dgm:t>
    </dgm:pt>
    <dgm:pt modelId="{D6E9CF63-C10C-4AD3-8AC3-717493874DB1}" type="pres">
      <dgm:prSet presAssocID="{EC373417-3B0D-4440-AC75-E2F9EDE31328}" presName="Name0" presStyleCnt="0">
        <dgm:presLayoutVars>
          <dgm:dir/>
          <dgm:animLvl val="lvl"/>
          <dgm:resizeHandles val="exact"/>
        </dgm:presLayoutVars>
      </dgm:prSet>
      <dgm:spPr/>
    </dgm:pt>
    <dgm:pt modelId="{58A60216-E70F-4D14-85BD-58727A9C0F0C}" type="pres">
      <dgm:prSet presAssocID="{618354E4-AF55-47CF-9E32-A41E1FF9D7DB}" presName="linNode" presStyleCnt="0"/>
      <dgm:spPr/>
    </dgm:pt>
    <dgm:pt modelId="{117555F9-3A2F-405A-A057-607295DCEF9E}" type="pres">
      <dgm:prSet presAssocID="{618354E4-AF55-47CF-9E32-A41E1FF9D7DB}" presName="parentText" presStyleLbl="node1" presStyleIdx="0" presStyleCnt="1">
        <dgm:presLayoutVars>
          <dgm:chMax val="1"/>
          <dgm:bulletEnabled val="1"/>
        </dgm:presLayoutVars>
      </dgm:prSet>
      <dgm:spPr/>
    </dgm:pt>
  </dgm:ptLst>
  <dgm:cxnLst>
    <dgm:cxn modelId="{2570F407-9757-4005-A70C-2D768ECCA90D}" type="presOf" srcId="{618354E4-AF55-47CF-9E32-A41E1FF9D7DB}" destId="{117555F9-3A2F-405A-A057-607295DCEF9E}" srcOrd="0" destOrd="0" presId="urn:microsoft.com/office/officeart/2005/8/layout/vList5"/>
    <dgm:cxn modelId="{141ACC0F-4C33-4564-BFCE-3E9D94F242C0}" type="presOf" srcId="{EC373417-3B0D-4440-AC75-E2F9EDE31328}" destId="{D6E9CF63-C10C-4AD3-8AC3-717493874DB1}" srcOrd="0" destOrd="0" presId="urn:microsoft.com/office/officeart/2005/8/layout/vList5"/>
    <dgm:cxn modelId="{A4002C21-043F-4F63-9086-3EC922E081E5}" srcId="{EC373417-3B0D-4440-AC75-E2F9EDE31328}" destId="{618354E4-AF55-47CF-9E32-A41E1FF9D7DB}" srcOrd="0" destOrd="0" parTransId="{56158F87-C35E-4CEB-A4A1-ABF9B6EA6CDF}" sibTransId="{2EFE6A64-24AB-4B66-9297-589243D291EB}"/>
    <dgm:cxn modelId="{05D1138C-7292-4D74-B4A5-818D1731F87A}" type="presParOf" srcId="{D6E9CF63-C10C-4AD3-8AC3-717493874DB1}" destId="{58A60216-E70F-4D14-85BD-58727A9C0F0C}" srcOrd="0" destOrd="0" presId="urn:microsoft.com/office/officeart/2005/8/layout/vList5"/>
    <dgm:cxn modelId="{46E32609-4089-4C4E-A305-E6D853CFD559}" type="presParOf" srcId="{58A60216-E70F-4D14-85BD-58727A9C0F0C}" destId="{117555F9-3A2F-405A-A057-607295DCEF9E}"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555F9-3A2F-405A-A057-607295DCEF9E}">
      <dsp:nvSpPr>
        <dsp:cNvPr id="0" name=""/>
        <dsp:cNvSpPr/>
      </dsp:nvSpPr>
      <dsp:spPr>
        <a:xfrm>
          <a:off x="2862893" y="0"/>
          <a:ext cx="3220754" cy="419548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marL="0" lvl="0" indent="0" algn="ctr" defTabSz="2889250">
            <a:lnSpc>
              <a:spcPct val="90000"/>
            </a:lnSpc>
            <a:spcBef>
              <a:spcPct val="0"/>
            </a:spcBef>
            <a:spcAft>
              <a:spcPct val="35000"/>
            </a:spcAft>
            <a:buNone/>
          </a:pPr>
          <a:r>
            <a:rPr lang="en-US" sz="6500" b="0" i="0" kern="1200"/>
            <a:t>Thank You</a:t>
          </a:r>
          <a:endParaRPr lang="en-IN" sz="6500" kern="1200"/>
        </a:p>
      </dsp:txBody>
      <dsp:txXfrm>
        <a:off x="3020117" y="157224"/>
        <a:ext cx="2906306" cy="3881033"/>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395430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982619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786125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510015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2510814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5" name="Footer Placeholder 3"/>
          <p:cNvSpPr>
            <a:spLocks noGrp="1"/>
          </p:cNvSpPr>
          <p:nvPr>
            <p:ph type="ftr" sz="quarter" idx="11"/>
          </p:nvPr>
        </p:nvSpPr>
        <p:spPr/>
        <p:txBody>
          <a:bodyPr/>
          <a:lstStyle/>
          <a:p>
            <a:endParaRPr lang="en-IN" dirty="0"/>
          </a:p>
        </p:txBody>
      </p:sp>
      <p:sp>
        <p:nvSpPr>
          <p:cNvPr id="6" name="Slide Number Placeholder 4"/>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349291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5" name="Footer Placeholder 2"/>
          <p:cNvSpPr>
            <a:spLocks noGrp="1"/>
          </p:cNvSpPr>
          <p:nvPr>
            <p:ph type="ftr" sz="quarter" idx="11"/>
          </p:nvPr>
        </p:nvSpPr>
        <p:spPr/>
        <p:txBody>
          <a:bodyPr/>
          <a:lstStyle/>
          <a:p>
            <a:endParaRPr lang="en-IN" dirty="0"/>
          </a:p>
        </p:txBody>
      </p:sp>
      <p:sp>
        <p:nvSpPr>
          <p:cNvPr id="6" name="Slide Number Placeholder 3"/>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3184579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5" name="Footer Placeholder 5"/>
          <p:cNvSpPr>
            <a:spLocks noGrp="1"/>
          </p:cNvSpPr>
          <p:nvPr>
            <p:ph type="ftr" sz="quarter" idx="11"/>
          </p:nvPr>
        </p:nvSpPr>
        <p:spPr/>
        <p:txBody>
          <a:bodyPr/>
          <a:lstStyle/>
          <a:p>
            <a:endParaRPr lang="en-IN" dirty="0"/>
          </a:p>
        </p:txBody>
      </p:sp>
      <p:sp>
        <p:nvSpPr>
          <p:cNvPr id="6" name="Slide Number Placeholder 6"/>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3471692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4229662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1013471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4019202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B362524-D8B4-4075-9174-696923C09217}" type="slidenum">
              <a:rPr lang="en-IN" smtClean="0"/>
              <a:t>‹#›</a:t>
            </a:fld>
            <a:endParaRPr lang="en-IN"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13596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4042933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36537222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42838000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21505530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B88A33-0184-4A26-8EBF-948D21F96BAD}" type="datetimeFigureOut">
              <a:rPr lang="en-IN" smtClean="0"/>
              <a:t>19-05-2023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B362524-D8B4-4075-9174-696923C09217}" type="slidenum">
              <a:rPr lang="en-IN" smtClean="0"/>
              <a:t>‹#›</a:t>
            </a:fld>
            <a:endParaRPr lang="en-IN" dirty="0"/>
          </a:p>
        </p:txBody>
      </p:sp>
    </p:spTree>
    <p:extLst>
      <p:ext uri="{BB962C8B-B14F-4D97-AF65-F5344CB8AC3E}">
        <p14:creationId xmlns:p14="http://schemas.microsoft.com/office/powerpoint/2010/main" val="3191986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7B88A33-0184-4A26-8EBF-948D21F96BAD}" type="datetimeFigureOut">
              <a:rPr lang="en-IN" smtClean="0"/>
              <a:t>19-05-2023</a:t>
            </a:fld>
            <a:endParaRPr lang="en-IN"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B362524-D8B4-4075-9174-696923C09217}" type="slidenum">
              <a:rPr lang="en-IN" smtClean="0"/>
              <a:t>‹#›</a:t>
            </a:fld>
            <a:endParaRPr lang="en-IN" dirty="0"/>
          </a:p>
        </p:txBody>
      </p:sp>
    </p:spTree>
    <p:extLst>
      <p:ext uri="{BB962C8B-B14F-4D97-AF65-F5344CB8AC3E}">
        <p14:creationId xmlns:p14="http://schemas.microsoft.com/office/powerpoint/2010/main" val="384561284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43B1B-BBBA-F254-CA90-64868F757DAC}"/>
              </a:ext>
            </a:extLst>
          </p:cNvPr>
          <p:cNvSpPr>
            <a:spLocks noGrp="1"/>
          </p:cNvSpPr>
          <p:nvPr>
            <p:ph type="ctrTitle"/>
          </p:nvPr>
        </p:nvSpPr>
        <p:spPr/>
        <p:txBody>
          <a:bodyPr/>
          <a:lstStyle/>
          <a:p>
            <a:r>
              <a:rPr lang="en-US" sz="4800" dirty="0"/>
              <a:t>Treatment Of Domestic Sewage Using Upflow Anaerobic Sludge Blanket(UASB) Reactor</a:t>
            </a:r>
            <a:endParaRPr lang="en-IN" sz="4800" dirty="0"/>
          </a:p>
        </p:txBody>
      </p:sp>
      <p:sp>
        <p:nvSpPr>
          <p:cNvPr id="3" name="Subtitle 2">
            <a:extLst>
              <a:ext uri="{FF2B5EF4-FFF2-40B4-BE49-F238E27FC236}">
                <a16:creationId xmlns:a16="http://schemas.microsoft.com/office/drawing/2014/main" id="{E0F6E9FD-079C-824C-0273-A3866971D573}"/>
              </a:ext>
            </a:extLst>
          </p:cNvPr>
          <p:cNvSpPr>
            <a:spLocks noGrp="1"/>
          </p:cNvSpPr>
          <p:nvPr>
            <p:ph type="subTitle" idx="1"/>
          </p:nvPr>
        </p:nvSpPr>
        <p:spPr/>
        <p:txBody>
          <a:bodyPr/>
          <a:lstStyle/>
          <a:p>
            <a:r>
              <a:rPr lang="en-US" cap="none" dirty="0"/>
              <a:t>Presented by : Aryan Varshney and Shishir Yadav</a:t>
            </a:r>
          </a:p>
          <a:p>
            <a:r>
              <a:rPr lang="en-US" cap="none" dirty="0"/>
              <a:t>Mentored by : Dr. </a:t>
            </a:r>
            <a:r>
              <a:rPr lang="en-US" cap="none"/>
              <a:t>Farrukh </a:t>
            </a:r>
            <a:r>
              <a:rPr lang="en-US" cap="none" dirty="0"/>
              <a:t>Basheer</a:t>
            </a:r>
            <a:endParaRPr lang="en-IN" cap="none" dirty="0"/>
          </a:p>
        </p:txBody>
      </p:sp>
      <p:sp>
        <p:nvSpPr>
          <p:cNvPr id="4" name="TextBox 3">
            <a:extLst>
              <a:ext uri="{FF2B5EF4-FFF2-40B4-BE49-F238E27FC236}">
                <a16:creationId xmlns:a16="http://schemas.microsoft.com/office/drawing/2014/main" id="{9BA2551D-0AE7-2F41-89C7-425D0B2AB42A}"/>
              </a:ext>
            </a:extLst>
          </p:cNvPr>
          <p:cNvSpPr txBox="1"/>
          <p:nvPr/>
        </p:nvSpPr>
        <p:spPr>
          <a:xfrm>
            <a:off x="1086338" y="390769"/>
            <a:ext cx="8894275" cy="523220"/>
          </a:xfrm>
          <a:prstGeom prst="rect">
            <a:avLst/>
          </a:prstGeom>
          <a:noFill/>
        </p:spPr>
        <p:txBody>
          <a:bodyPr wrap="square" rtlCol="0">
            <a:spAutoFit/>
          </a:bodyPr>
          <a:lstStyle/>
          <a:p>
            <a:pPr algn="ctr"/>
            <a:r>
              <a:rPr lang="en-US" sz="2800" dirty="0"/>
              <a:t>CEC 4980 Project A</a:t>
            </a:r>
            <a:endParaRPr lang="en-IN" sz="2800" dirty="0"/>
          </a:p>
        </p:txBody>
      </p:sp>
    </p:spTree>
    <p:extLst>
      <p:ext uri="{BB962C8B-B14F-4D97-AF65-F5344CB8AC3E}">
        <p14:creationId xmlns:p14="http://schemas.microsoft.com/office/powerpoint/2010/main" val="4005151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AE81F-A846-84F6-20C0-8DFF11B6CF0A}"/>
              </a:ext>
            </a:extLst>
          </p:cNvPr>
          <p:cNvSpPr>
            <a:spLocks noGrp="1"/>
          </p:cNvSpPr>
          <p:nvPr>
            <p:ph type="title"/>
          </p:nvPr>
        </p:nvSpPr>
        <p:spPr/>
        <p:txBody>
          <a:bodyPr/>
          <a:lstStyle/>
          <a:p>
            <a:r>
              <a:rPr lang="en-US" dirty="0"/>
              <a:t>Overview</a:t>
            </a:r>
            <a:endParaRPr lang="en-IN" dirty="0"/>
          </a:p>
        </p:txBody>
      </p:sp>
      <p:sp>
        <p:nvSpPr>
          <p:cNvPr id="3" name="Content Placeholder 2">
            <a:extLst>
              <a:ext uri="{FF2B5EF4-FFF2-40B4-BE49-F238E27FC236}">
                <a16:creationId xmlns:a16="http://schemas.microsoft.com/office/drawing/2014/main" id="{9FC5E01B-EF58-7879-4CB0-39EDFB8559CD}"/>
              </a:ext>
            </a:extLst>
          </p:cNvPr>
          <p:cNvSpPr>
            <a:spLocks noGrp="1"/>
          </p:cNvSpPr>
          <p:nvPr>
            <p:ph idx="1"/>
          </p:nvPr>
        </p:nvSpPr>
        <p:spPr>
          <a:xfrm>
            <a:off x="1103312" y="1853248"/>
            <a:ext cx="8946541" cy="4395151"/>
          </a:xfrm>
        </p:spPr>
        <p:txBody>
          <a:bodyPr/>
          <a:lstStyle/>
          <a:p>
            <a:pPr marL="457200" indent="-457200">
              <a:buFont typeface="+mj-lt"/>
              <a:buAutoNum type="arabicPeriod"/>
            </a:pPr>
            <a:r>
              <a:rPr lang="en-US" dirty="0"/>
              <a:t>Introduction</a:t>
            </a:r>
          </a:p>
          <a:p>
            <a:pPr marL="457200" indent="-457200">
              <a:buFont typeface="+mj-lt"/>
              <a:buAutoNum type="arabicPeriod"/>
            </a:pPr>
            <a:r>
              <a:rPr lang="en-IN" dirty="0"/>
              <a:t>Objective</a:t>
            </a:r>
          </a:p>
          <a:p>
            <a:pPr marL="457200" indent="-457200">
              <a:buFont typeface="+mj-lt"/>
              <a:buAutoNum type="arabicPeriod"/>
            </a:pPr>
            <a:r>
              <a:rPr lang="en-IN" dirty="0"/>
              <a:t>Preliminary Treatment</a:t>
            </a:r>
          </a:p>
          <a:p>
            <a:pPr marL="457200" indent="-457200">
              <a:buFont typeface="+mj-lt"/>
              <a:buAutoNum type="arabicPeriod"/>
            </a:pPr>
            <a:r>
              <a:rPr lang="en-IN" dirty="0"/>
              <a:t>UASB Reactor</a:t>
            </a:r>
          </a:p>
          <a:p>
            <a:pPr marL="457200" indent="-457200">
              <a:buFont typeface="+mj-lt"/>
              <a:buAutoNum type="arabicPeriod"/>
            </a:pPr>
            <a:r>
              <a:rPr lang="en-IN" dirty="0"/>
              <a:t>Facultative type Aerated Lagoon</a:t>
            </a:r>
          </a:p>
          <a:p>
            <a:pPr marL="457200" indent="-457200">
              <a:buFont typeface="+mj-lt"/>
              <a:buAutoNum type="arabicPeriod"/>
            </a:pPr>
            <a:r>
              <a:rPr lang="en-IN" dirty="0"/>
              <a:t>Design of Treatment units for 10 MLD Domestic Sewage</a:t>
            </a:r>
          </a:p>
          <a:p>
            <a:pPr marL="457200" indent="-457200">
              <a:buFont typeface="+mj-lt"/>
              <a:buAutoNum type="arabicPeriod"/>
            </a:pPr>
            <a:r>
              <a:rPr lang="en-IN" dirty="0"/>
              <a:t>References</a:t>
            </a:r>
          </a:p>
          <a:p>
            <a:pPr marL="0" indent="0">
              <a:buNone/>
            </a:pPr>
            <a:endParaRPr lang="en-IN" dirty="0"/>
          </a:p>
          <a:p>
            <a:pPr marL="457200" indent="-457200">
              <a:buFont typeface="+mj-lt"/>
              <a:buAutoNum type="arabicPeriod"/>
            </a:pPr>
            <a:endParaRPr lang="en-IN" dirty="0"/>
          </a:p>
          <a:p>
            <a:pPr marL="457200" indent="-457200">
              <a:buFont typeface="+mj-lt"/>
              <a:buAutoNum type="arabicPeriod"/>
            </a:pPr>
            <a:endParaRPr lang="en-IN" dirty="0"/>
          </a:p>
        </p:txBody>
      </p:sp>
    </p:spTree>
    <p:extLst>
      <p:ext uri="{BB962C8B-B14F-4D97-AF65-F5344CB8AC3E}">
        <p14:creationId xmlns:p14="http://schemas.microsoft.com/office/powerpoint/2010/main" val="333419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1C977-B2EA-51D6-515C-9CFD6DBB4748}"/>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3B298491-4982-567A-C62B-3F6BDC933AB6}"/>
              </a:ext>
            </a:extLst>
          </p:cNvPr>
          <p:cNvSpPr>
            <a:spLocks noGrp="1"/>
          </p:cNvSpPr>
          <p:nvPr>
            <p:ph idx="1"/>
          </p:nvPr>
        </p:nvSpPr>
        <p:spPr>
          <a:xfrm>
            <a:off x="1103312" y="1853248"/>
            <a:ext cx="10054313" cy="4732378"/>
          </a:xfrm>
        </p:spPr>
        <p:txBody>
          <a:bodyPr>
            <a:normAutofit/>
          </a:bodyPr>
          <a:lstStyle/>
          <a:p>
            <a:r>
              <a:rPr lang="en-US" dirty="0"/>
              <a:t>As the global population is so large and growing, so does the sewage.</a:t>
            </a:r>
          </a:p>
          <a:p>
            <a:r>
              <a:rPr lang="en-US" dirty="0"/>
              <a:t>As the natural water treatment process is overloaded, there is need for sewage treatment facilities.</a:t>
            </a:r>
          </a:p>
          <a:p>
            <a:r>
              <a:rPr lang="en-US" dirty="0"/>
              <a:t>The motive behind treatment of sewage is to purify water as much as possible with effective techniques to keep humans and the earth safe and thriving. </a:t>
            </a:r>
          </a:p>
          <a:p>
            <a:r>
              <a:rPr lang="en-US" dirty="0"/>
              <a:t>India will have the largest population in coming years and it is projected that India’s wastewater treatment market will reach to USD 4.3 billion by 2025 owing to increasing demand of sewage treatment plants across the country, according to NITI Aayog.</a:t>
            </a:r>
          </a:p>
          <a:p>
            <a:r>
              <a:rPr lang="en-US" dirty="0"/>
              <a:t>There are various methods to treat sewage. We are going to discuss about treatment of sewage by upflow anaerobic sludge blanket reactor.</a:t>
            </a:r>
            <a:endParaRPr lang="en-IN" dirty="0"/>
          </a:p>
        </p:txBody>
      </p:sp>
    </p:spTree>
    <p:extLst>
      <p:ext uri="{BB962C8B-B14F-4D97-AF65-F5344CB8AC3E}">
        <p14:creationId xmlns:p14="http://schemas.microsoft.com/office/powerpoint/2010/main" val="3854020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D1334-FFC1-D64D-946B-FF32A24BC08B}"/>
              </a:ext>
            </a:extLst>
          </p:cNvPr>
          <p:cNvSpPr>
            <a:spLocks noGrp="1"/>
          </p:cNvSpPr>
          <p:nvPr>
            <p:ph type="title"/>
          </p:nvPr>
        </p:nvSpPr>
        <p:spPr/>
        <p:txBody>
          <a:bodyPr/>
          <a:lstStyle/>
          <a:p>
            <a:r>
              <a:rPr lang="en-US" dirty="0"/>
              <a:t>Contribution of human wastes</a:t>
            </a:r>
            <a:endParaRPr lang="en-IN" dirty="0"/>
          </a:p>
        </p:txBody>
      </p:sp>
      <p:pic>
        <p:nvPicPr>
          <p:cNvPr id="5" name="Content Placeholder 4">
            <a:extLst>
              <a:ext uri="{FF2B5EF4-FFF2-40B4-BE49-F238E27FC236}">
                <a16:creationId xmlns:a16="http://schemas.microsoft.com/office/drawing/2014/main" id="{FC847CE5-D088-5A88-D3C8-DDC41A3866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4888" y="1556425"/>
            <a:ext cx="9404722" cy="5000017"/>
          </a:xfrm>
        </p:spPr>
      </p:pic>
    </p:spTree>
    <p:extLst>
      <p:ext uri="{BB962C8B-B14F-4D97-AF65-F5344CB8AC3E}">
        <p14:creationId xmlns:p14="http://schemas.microsoft.com/office/powerpoint/2010/main" val="3640105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3E702-4189-9CC7-FD8B-59CA29578F5D}"/>
              </a:ext>
            </a:extLst>
          </p:cNvPr>
          <p:cNvSpPr>
            <a:spLocks noGrp="1"/>
          </p:cNvSpPr>
          <p:nvPr>
            <p:ph type="title"/>
          </p:nvPr>
        </p:nvSpPr>
        <p:spPr/>
        <p:txBody>
          <a:bodyPr/>
          <a:lstStyle/>
          <a:p>
            <a:r>
              <a:rPr lang="en-US" dirty="0"/>
              <a:t>General Standards of Discharge of Pollutants</a:t>
            </a:r>
            <a:endParaRPr lang="en-IN" dirty="0"/>
          </a:p>
        </p:txBody>
      </p:sp>
      <p:pic>
        <p:nvPicPr>
          <p:cNvPr id="5" name="Content Placeholder 4">
            <a:extLst>
              <a:ext uri="{FF2B5EF4-FFF2-40B4-BE49-F238E27FC236}">
                <a16:creationId xmlns:a16="http://schemas.microsoft.com/office/drawing/2014/main" id="{1C551B0C-480C-09B0-F3A9-7012BFB9E9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39460" y="1853248"/>
            <a:ext cx="7113080" cy="5004752"/>
          </a:xfrm>
        </p:spPr>
      </p:pic>
    </p:spTree>
    <p:extLst>
      <p:ext uri="{BB962C8B-B14F-4D97-AF65-F5344CB8AC3E}">
        <p14:creationId xmlns:p14="http://schemas.microsoft.com/office/powerpoint/2010/main" val="1769144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F9625-81BE-CB1A-AE72-1D9C6521ED45}"/>
              </a:ext>
            </a:extLst>
          </p:cNvPr>
          <p:cNvSpPr>
            <a:spLocks noGrp="1"/>
          </p:cNvSpPr>
          <p:nvPr>
            <p:ph type="title"/>
          </p:nvPr>
        </p:nvSpPr>
        <p:spPr/>
        <p:txBody>
          <a:bodyPr/>
          <a:lstStyle/>
          <a:p>
            <a:r>
              <a:rPr lang="en-US" dirty="0"/>
              <a:t>Water Quality Changes</a:t>
            </a:r>
            <a:endParaRPr lang="en-IN" dirty="0"/>
          </a:p>
        </p:txBody>
      </p:sp>
      <p:pic>
        <p:nvPicPr>
          <p:cNvPr id="5" name="Content Placeholder 4">
            <a:extLst>
              <a:ext uri="{FF2B5EF4-FFF2-40B4-BE49-F238E27FC236}">
                <a16:creationId xmlns:a16="http://schemas.microsoft.com/office/drawing/2014/main" id="{19A97A8C-A939-B9FD-B8B6-2C33CCE334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6256" y="1426883"/>
            <a:ext cx="7831015" cy="4978399"/>
          </a:xfrm>
        </p:spPr>
      </p:pic>
    </p:spTree>
    <p:extLst>
      <p:ext uri="{BB962C8B-B14F-4D97-AF65-F5344CB8AC3E}">
        <p14:creationId xmlns:p14="http://schemas.microsoft.com/office/powerpoint/2010/main" val="2776441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134B4-27F9-500D-3DB1-E941C00EE60D}"/>
              </a:ext>
            </a:extLst>
          </p:cNvPr>
          <p:cNvSpPr>
            <a:spLocks noGrp="1"/>
          </p:cNvSpPr>
          <p:nvPr>
            <p:ph type="title"/>
          </p:nvPr>
        </p:nvSpPr>
        <p:spPr/>
        <p:txBody>
          <a:bodyPr/>
          <a:lstStyle/>
          <a:p>
            <a:r>
              <a:rPr lang="en-US" dirty="0"/>
              <a:t>Objective </a:t>
            </a:r>
            <a:endParaRPr lang="en-IN" dirty="0"/>
          </a:p>
        </p:txBody>
      </p:sp>
      <p:sp>
        <p:nvSpPr>
          <p:cNvPr id="3" name="Content Placeholder 2">
            <a:extLst>
              <a:ext uri="{FF2B5EF4-FFF2-40B4-BE49-F238E27FC236}">
                <a16:creationId xmlns:a16="http://schemas.microsoft.com/office/drawing/2014/main" id="{057C4830-F43A-DA60-4EFB-14F6EB44DA97}"/>
              </a:ext>
            </a:extLst>
          </p:cNvPr>
          <p:cNvSpPr>
            <a:spLocks noGrp="1"/>
          </p:cNvSpPr>
          <p:nvPr>
            <p:ph idx="1"/>
          </p:nvPr>
        </p:nvSpPr>
        <p:spPr/>
        <p:txBody>
          <a:bodyPr/>
          <a:lstStyle/>
          <a:p>
            <a:pPr marL="0" indent="0">
              <a:buNone/>
            </a:pPr>
            <a:r>
              <a:rPr lang="en-US" dirty="0"/>
              <a:t>The major objectives of UASB process are:</a:t>
            </a:r>
          </a:p>
          <a:p>
            <a:r>
              <a:rPr lang="en-US" dirty="0"/>
              <a:t>Pre-sedimentation anaerobic wastewater treatment and final sedimentation including sludge stabilization are essentially combined in one reactor making it most attractive high rate waste water treatment option.</a:t>
            </a:r>
          </a:p>
          <a:p>
            <a:r>
              <a:rPr lang="en-US" dirty="0"/>
              <a:t>To produce by products like methane enriched biogas as a source of energy and nutrient rich sludge.</a:t>
            </a:r>
          </a:p>
          <a:p>
            <a:r>
              <a:rPr lang="en-IN" dirty="0"/>
              <a:t>Management of carbon credits and low consumption of energy.</a:t>
            </a:r>
          </a:p>
        </p:txBody>
      </p:sp>
    </p:spTree>
    <p:extLst>
      <p:ext uri="{BB962C8B-B14F-4D97-AF65-F5344CB8AC3E}">
        <p14:creationId xmlns:p14="http://schemas.microsoft.com/office/powerpoint/2010/main" val="1365891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1F3B8-3B77-2588-C35A-CB429285469F}"/>
              </a:ext>
            </a:extLst>
          </p:cNvPr>
          <p:cNvSpPr>
            <a:spLocks noGrp="1"/>
          </p:cNvSpPr>
          <p:nvPr>
            <p:ph type="title"/>
          </p:nvPr>
        </p:nvSpPr>
        <p:spPr/>
        <p:txBody>
          <a:bodyPr/>
          <a:lstStyle/>
          <a:p>
            <a:r>
              <a:rPr lang="en-US" dirty="0"/>
              <a:t>Preliminary Treatment </a:t>
            </a:r>
            <a:endParaRPr lang="en-IN" dirty="0"/>
          </a:p>
        </p:txBody>
      </p:sp>
      <p:sp>
        <p:nvSpPr>
          <p:cNvPr id="3" name="Content Placeholder 2">
            <a:extLst>
              <a:ext uri="{FF2B5EF4-FFF2-40B4-BE49-F238E27FC236}">
                <a16:creationId xmlns:a16="http://schemas.microsoft.com/office/drawing/2014/main" id="{715718A5-A4E2-DBB2-58CF-D0C11094E66F}"/>
              </a:ext>
            </a:extLst>
          </p:cNvPr>
          <p:cNvSpPr>
            <a:spLocks noGrp="1"/>
          </p:cNvSpPr>
          <p:nvPr>
            <p:ph idx="1"/>
          </p:nvPr>
        </p:nvSpPr>
        <p:spPr/>
        <p:txBody>
          <a:bodyPr>
            <a:normAutofit lnSpcReduction="10000"/>
          </a:bodyPr>
          <a:lstStyle/>
          <a:p>
            <a:r>
              <a:rPr lang="en-US" dirty="0"/>
              <a:t>The objective of preliminary treatment is the removal of coarse solids and other large materials often found in raw sewage.</a:t>
            </a:r>
          </a:p>
          <a:p>
            <a:r>
              <a:rPr lang="en-US" dirty="0"/>
              <a:t>Removal of these is necessary to enhance the operation and maintenance of subsequent treatment units. </a:t>
            </a:r>
          </a:p>
          <a:p>
            <a:r>
              <a:rPr lang="en-US" dirty="0"/>
              <a:t>It includes pumping, coarse screening, grit removal and flow measuring devices.</a:t>
            </a:r>
          </a:p>
          <a:p>
            <a:r>
              <a:rPr lang="en-US" dirty="0"/>
              <a:t>We have adopted units of pumping, approach channel, screening and grit removal for preliminary treatment of sewage.</a:t>
            </a:r>
          </a:p>
          <a:p>
            <a:r>
              <a:rPr lang="en-US" dirty="0"/>
              <a:t>The pumping chamber will receive the raw sewage to pass to screens by approach channel and subsequently to the grit chamber.</a:t>
            </a:r>
          </a:p>
          <a:p>
            <a:r>
              <a:rPr lang="en-US" dirty="0"/>
              <a:t>Then it goes to UASB for further treatment.</a:t>
            </a:r>
          </a:p>
          <a:p>
            <a:endParaRPr lang="en-IN" dirty="0"/>
          </a:p>
        </p:txBody>
      </p:sp>
    </p:spTree>
    <p:extLst>
      <p:ext uri="{BB962C8B-B14F-4D97-AF65-F5344CB8AC3E}">
        <p14:creationId xmlns:p14="http://schemas.microsoft.com/office/powerpoint/2010/main" val="282351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E5AE3-D5A5-1CC4-BC69-52ECBC6DA68B}"/>
              </a:ext>
            </a:extLst>
          </p:cNvPr>
          <p:cNvSpPr>
            <a:spLocks noGrp="1"/>
          </p:cNvSpPr>
          <p:nvPr>
            <p:ph type="title"/>
          </p:nvPr>
        </p:nvSpPr>
        <p:spPr/>
        <p:txBody>
          <a:bodyPr/>
          <a:lstStyle/>
          <a:p>
            <a:r>
              <a:rPr lang="en-US" dirty="0"/>
              <a:t>UASB Reactor</a:t>
            </a:r>
            <a:endParaRPr lang="en-IN" dirty="0"/>
          </a:p>
        </p:txBody>
      </p:sp>
      <p:sp>
        <p:nvSpPr>
          <p:cNvPr id="3" name="Content Placeholder 2">
            <a:extLst>
              <a:ext uri="{FF2B5EF4-FFF2-40B4-BE49-F238E27FC236}">
                <a16:creationId xmlns:a16="http://schemas.microsoft.com/office/drawing/2014/main" id="{42FA8E38-C823-7753-F505-85CEC6C25D9E}"/>
              </a:ext>
            </a:extLst>
          </p:cNvPr>
          <p:cNvSpPr>
            <a:spLocks noGrp="1"/>
          </p:cNvSpPr>
          <p:nvPr>
            <p:ph idx="1"/>
          </p:nvPr>
        </p:nvSpPr>
        <p:spPr>
          <a:xfrm>
            <a:off x="1103313" y="2052918"/>
            <a:ext cx="6153522" cy="4195481"/>
          </a:xfrm>
        </p:spPr>
        <p:txBody>
          <a:bodyPr>
            <a:normAutofit lnSpcReduction="10000"/>
          </a:bodyPr>
          <a:lstStyle/>
          <a:p>
            <a:r>
              <a:rPr lang="en-US" dirty="0"/>
              <a:t>In this process, the waste water is passed through the anaerobic reactor in an upflow mode.</a:t>
            </a:r>
          </a:p>
          <a:p>
            <a:r>
              <a:rPr lang="en-US" dirty="0"/>
              <a:t>The up flowing sewage itself forms millions of small granules of sludge which are in suspension and the excess sludge is removed and taken to the sludge beds.</a:t>
            </a:r>
          </a:p>
          <a:p>
            <a:r>
              <a:rPr lang="en-US" dirty="0"/>
              <a:t>Organic compounds get anaerobically biodegraded converting it into methane enriched biogas.</a:t>
            </a:r>
          </a:p>
          <a:p>
            <a:r>
              <a:rPr lang="en-US" dirty="0"/>
              <a:t>It internally separates gas, liquid and solid and reduction of COD by 70-80%, of TSS by 70-80% and of pathogens by 70-90%.</a:t>
            </a:r>
          </a:p>
        </p:txBody>
      </p:sp>
      <p:pic>
        <p:nvPicPr>
          <p:cNvPr id="5" name="Picture 4">
            <a:extLst>
              <a:ext uri="{FF2B5EF4-FFF2-40B4-BE49-F238E27FC236}">
                <a16:creationId xmlns:a16="http://schemas.microsoft.com/office/drawing/2014/main" id="{F47E27F0-F8E7-165E-29F9-C9EDFEB2E725}"/>
              </a:ext>
            </a:extLst>
          </p:cNvPr>
          <p:cNvPicPr>
            <a:picLocks noChangeAspect="1"/>
          </p:cNvPicPr>
          <p:nvPr/>
        </p:nvPicPr>
        <p:blipFill rotWithShape="1">
          <a:blip r:embed="rId2">
            <a:extLst>
              <a:ext uri="{28A0092B-C50C-407E-A947-70E740481C1C}">
                <a14:useLocalDpi xmlns:a14="http://schemas.microsoft.com/office/drawing/2010/main" val="0"/>
              </a:ext>
            </a:extLst>
          </a:blip>
          <a:srcRect l="14420" t="6369" r="16367" b="547"/>
          <a:stretch/>
        </p:blipFill>
        <p:spPr>
          <a:xfrm>
            <a:off x="7256835" y="1586214"/>
            <a:ext cx="4610910" cy="4662185"/>
          </a:xfrm>
          <a:prstGeom prst="rect">
            <a:avLst/>
          </a:prstGeom>
        </p:spPr>
      </p:pic>
    </p:spTree>
    <p:extLst>
      <p:ext uri="{BB962C8B-B14F-4D97-AF65-F5344CB8AC3E}">
        <p14:creationId xmlns:p14="http://schemas.microsoft.com/office/powerpoint/2010/main" val="3003393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74C09-39C8-523F-907A-689A37E53EAB}"/>
              </a:ext>
            </a:extLst>
          </p:cNvPr>
          <p:cNvSpPr>
            <a:spLocks noGrp="1"/>
          </p:cNvSpPr>
          <p:nvPr>
            <p:ph type="title"/>
          </p:nvPr>
        </p:nvSpPr>
        <p:spPr/>
        <p:txBody>
          <a:bodyPr/>
          <a:lstStyle/>
          <a:p>
            <a:r>
              <a:rPr lang="en-US" dirty="0"/>
              <a:t>Anaerobic Process</a:t>
            </a:r>
            <a:endParaRPr lang="en-IN" dirty="0"/>
          </a:p>
        </p:txBody>
      </p:sp>
      <p:pic>
        <p:nvPicPr>
          <p:cNvPr id="5" name="Content Placeholder 4">
            <a:extLst>
              <a:ext uri="{FF2B5EF4-FFF2-40B4-BE49-F238E27FC236}">
                <a16:creationId xmlns:a16="http://schemas.microsoft.com/office/drawing/2014/main" id="{9DD8CA12-A409-A889-C6FE-A42B15304C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6579" y="1566152"/>
            <a:ext cx="10291864" cy="5019473"/>
          </a:xfrm>
        </p:spPr>
      </p:pic>
    </p:spTree>
    <p:extLst>
      <p:ext uri="{BB962C8B-B14F-4D97-AF65-F5344CB8AC3E}">
        <p14:creationId xmlns:p14="http://schemas.microsoft.com/office/powerpoint/2010/main" val="2156736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74C09-39C8-523F-907A-689A37E53EAB}"/>
              </a:ext>
            </a:extLst>
          </p:cNvPr>
          <p:cNvSpPr>
            <a:spLocks noGrp="1"/>
          </p:cNvSpPr>
          <p:nvPr>
            <p:ph type="title"/>
          </p:nvPr>
        </p:nvSpPr>
        <p:spPr/>
        <p:txBody>
          <a:bodyPr/>
          <a:lstStyle/>
          <a:p>
            <a:r>
              <a:rPr lang="en-US" dirty="0"/>
              <a:t>Anaerobic Process</a:t>
            </a:r>
            <a:endParaRPr lang="en-IN" dirty="0"/>
          </a:p>
        </p:txBody>
      </p:sp>
      <p:pic>
        <p:nvPicPr>
          <p:cNvPr id="7" name="Content Placeholder 6">
            <a:extLst>
              <a:ext uri="{FF2B5EF4-FFF2-40B4-BE49-F238E27FC236}">
                <a16:creationId xmlns:a16="http://schemas.microsoft.com/office/drawing/2014/main" id="{36371E77-9C97-B8BB-FAD0-A19B370D9A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8409" y="1853248"/>
            <a:ext cx="9747114" cy="4732378"/>
          </a:xfrm>
        </p:spPr>
      </p:pic>
    </p:spTree>
    <p:extLst>
      <p:ext uri="{BB962C8B-B14F-4D97-AF65-F5344CB8AC3E}">
        <p14:creationId xmlns:p14="http://schemas.microsoft.com/office/powerpoint/2010/main" val="4124444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FB786-7A02-AF73-63A3-7CE555229BFB}"/>
              </a:ext>
            </a:extLst>
          </p:cNvPr>
          <p:cNvSpPr>
            <a:spLocks noGrp="1"/>
          </p:cNvSpPr>
          <p:nvPr>
            <p:ph type="title"/>
          </p:nvPr>
        </p:nvSpPr>
        <p:spPr/>
        <p:txBody>
          <a:bodyPr/>
          <a:lstStyle/>
          <a:p>
            <a:r>
              <a:rPr lang="en-US" dirty="0"/>
              <a:t>Facultative type Aerated Lagoon</a:t>
            </a:r>
            <a:endParaRPr lang="en-IN" dirty="0"/>
          </a:p>
        </p:txBody>
      </p:sp>
      <p:sp>
        <p:nvSpPr>
          <p:cNvPr id="3" name="Content Placeholder 2">
            <a:extLst>
              <a:ext uri="{FF2B5EF4-FFF2-40B4-BE49-F238E27FC236}">
                <a16:creationId xmlns:a16="http://schemas.microsoft.com/office/drawing/2014/main" id="{C699CA54-0945-6D64-8752-C65429AC1C3E}"/>
              </a:ext>
            </a:extLst>
          </p:cNvPr>
          <p:cNvSpPr>
            <a:spLocks noGrp="1"/>
          </p:cNvSpPr>
          <p:nvPr>
            <p:ph idx="1"/>
          </p:nvPr>
        </p:nvSpPr>
        <p:spPr/>
        <p:txBody>
          <a:bodyPr/>
          <a:lstStyle/>
          <a:p>
            <a:r>
              <a:rPr lang="en-US" dirty="0"/>
              <a:t>The flow from UASB will be directed to aerated lagoon to provide aeration and allow further settlement of suspended solids of the effluents from the UASB reactors.</a:t>
            </a:r>
          </a:p>
          <a:p>
            <a:r>
              <a:rPr lang="en-IN" dirty="0"/>
              <a:t>This aerator provides the oxygen to be decomposed along with water. This resulting induction of oxygen reduces the BOD load by further 75%.</a:t>
            </a:r>
          </a:p>
          <a:p>
            <a:r>
              <a:rPr lang="en-IN" dirty="0"/>
              <a:t>Detention period is taken to be 1 day.</a:t>
            </a:r>
          </a:p>
        </p:txBody>
      </p:sp>
      <p:pic>
        <p:nvPicPr>
          <p:cNvPr id="5" name="Picture 4">
            <a:extLst>
              <a:ext uri="{FF2B5EF4-FFF2-40B4-BE49-F238E27FC236}">
                <a16:creationId xmlns:a16="http://schemas.microsoft.com/office/drawing/2014/main" id="{C1B45E04-4136-70D6-8B19-33EA02C8C6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313" y="4659549"/>
            <a:ext cx="9404722" cy="2000835"/>
          </a:xfrm>
          <a:prstGeom prst="rect">
            <a:avLst/>
          </a:prstGeom>
        </p:spPr>
      </p:pic>
    </p:spTree>
    <p:extLst>
      <p:ext uri="{BB962C8B-B14F-4D97-AF65-F5344CB8AC3E}">
        <p14:creationId xmlns:p14="http://schemas.microsoft.com/office/powerpoint/2010/main" val="785881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F3E4-286A-44F9-EB70-1730FFAD045C}"/>
              </a:ext>
            </a:extLst>
          </p:cNvPr>
          <p:cNvSpPr>
            <a:spLocks noGrp="1"/>
          </p:cNvSpPr>
          <p:nvPr>
            <p:ph type="title"/>
          </p:nvPr>
        </p:nvSpPr>
        <p:spPr/>
        <p:txBody>
          <a:bodyPr/>
          <a:lstStyle/>
          <a:p>
            <a:r>
              <a:rPr lang="en-US" dirty="0"/>
              <a:t>Treatment Scheme</a:t>
            </a:r>
            <a:endParaRPr lang="en-IN" dirty="0"/>
          </a:p>
        </p:txBody>
      </p:sp>
      <p:pic>
        <p:nvPicPr>
          <p:cNvPr id="5" name="Content Placeholder 4">
            <a:extLst>
              <a:ext uri="{FF2B5EF4-FFF2-40B4-BE49-F238E27FC236}">
                <a16:creationId xmlns:a16="http://schemas.microsoft.com/office/drawing/2014/main" id="{907812F5-9FE9-6A21-5AAF-598728E0A8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6111" y="1853248"/>
            <a:ext cx="10906021" cy="4479458"/>
          </a:xfrm>
        </p:spPr>
      </p:pic>
    </p:spTree>
    <p:extLst>
      <p:ext uri="{BB962C8B-B14F-4D97-AF65-F5344CB8AC3E}">
        <p14:creationId xmlns:p14="http://schemas.microsoft.com/office/powerpoint/2010/main" val="701811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A6C73-CD95-981E-97FB-D0745ACC5F02}"/>
              </a:ext>
            </a:extLst>
          </p:cNvPr>
          <p:cNvSpPr>
            <a:spLocks noGrp="1"/>
          </p:cNvSpPr>
          <p:nvPr>
            <p:ph type="title"/>
          </p:nvPr>
        </p:nvSpPr>
        <p:spPr>
          <a:xfrm>
            <a:off x="2349623" y="1467035"/>
            <a:ext cx="7492753" cy="3923930"/>
          </a:xfrm>
        </p:spPr>
        <p:txBody>
          <a:bodyPr anchor="ctr" anchorCtr="0"/>
          <a:lstStyle/>
          <a:p>
            <a:pPr algn="ctr"/>
            <a:r>
              <a:rPr lang="en-US" sz="6000" dirty="0"/>
              <a:t>Design of Treatment Units</a:t>
            </a:r>
            <a:br>
              <a:rPr lang="en-US" sz="6000" dirty="0"/>
            </a:br>
            <a:r>
              <a:rPr lang="en-US" sz="6000" dirty="0"/>
              <a:t>for 10 MLD Domestic Sewage</a:t>
            </a:r>
            <a:endParaRPr lang="en-IN" sz="6000" dirty="0"/>
          </a:p>
        </p:txBody>
      </p:sp>
    </p:spTree>
    <p:extLst>
      <p:ext uri="{BB962C8B-B14F-4D97-AF65-F5344CB8AC3E}">
        <p14:creationId xmlns:p14="http://schemas.microsoft.com/office/powerpoint/2010/main" val="2525217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FACD5-EE0E-DC82-5F35-EA88FD1BDBC9}"/>
              </a:ext>
            </a:extLst>
          </p:cNvPr>
          <p:cNvSpPr>
            <a:spLocks noGrp="1"/>
          </p:cNvSpPr>
          <p:nvPr>
            <p:ph type="title"/>
          </p:nvPr>
        </p:nvSpPr>
        <p:spPr/>
        <p:txBody>
          <a:bodyPr/>
          <a:lstStyle/>
          <a:p>
            <a:r>
              <a:rPr lang="en-US" dirty="0"/>
              <a:t>Design of Pump House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D46966-0E2E-F115-9B5F-00F202947A8B}"/>
                  </a:ext>
                </a:extLst>
              </p:cNvPr>
              <p:cNvSpPr>
                <a:spLocks noGrp="1"/>
              </p:cNvSpPr>
              <p:nvPr>
                <p:ph idx="1"/>
              </p:nvPr>
            </p:nvSpPr>
            <p:spPr>
              <a:xfrm>
                <a:off x="1103311" y="2052918"/>
                <a:ext cx="10096135" cy="4352364"/>
              </a:xfrm>
            </p:spPr>
            <p:txBody>
              <a:bodyPr>
                <a:normAutofit/>
              </a:bodyPr>
              <a:lstStyle/>
              <a:p>
                <a:pPr marL="0" indent="0">
                  <a:buNone/>
                </a:pPr>
                <a:r>
                  <a:rPr lang="en-US" dirty="0"/>
                  <a:t> Q</a:t>
                </a:r>
                <a:r>
                  <a:rPr lang="en-US" baseline="-25000" dirty="0"/>
                  <a:t>avg </a:t>
                </a:r>
                <a:r>
                  <a:rPr lang="en-US" dirty="0"/>
                  <a:t>= 10 MLD = 10</a:t>
                </a:r>
                <a:r>
                  <a:rPr lang="en-US" baseline="30000" dirty="0"/>
                  <a:t>4</a:t>
                </a:r>
                <a:r>
                  <a:rPr lang="en-US" dirty="0"/>
                  <a:t> m</a:t>
                </a:r>
                <a:r>
                  <a:rPr lang="en-US" baseline="30000" dirty="0"/>
                  <a:t>3</a:t>
                </a:r>
                <a:r>
                  <a:rPr lang="en-US" dirty="0"/>
                  <a:t>/d = 0.116 m</a:t>
                </a:r>
                <a:r>
                  <a:rPr lang="en-US" baseline="30000" dirty="0"/>
                  <a:t>3</a:t>
                </a:r>
                <a:r>
                  <a:rPr lang="en-US" dirty="0"/>
                  <a:t>/s</a:t>
                </a:r>
                <a:endParaRPr lang="en-US" baseline="-25000" dirty="0"/>
              </a:p>
              <a:p>
                <a:pPr marL="0" indent="0">
                  <a:buNone/>
                </a:pPr>
                <a:r>
                  <a:rPr lang="en-US" dirty="0"/>
                  <a:t> Max. sewage flow, Q</a:t>
                </a:r>
                <a:r>
                  <a:rPr lang="en-US" baseline="-25000" dirty="0"/>
                  <a:t>max</a:t>
                </a:r>
                <a:r>
                  <a:rPr lang="en-US" dirty="0"/>
                  <a:t> = </a:t>
                </a:r>
                <a14:m>
                  <m:oMath xmlns:m="http://schemas.openxmlformats.org/officeDocument/2006/math">
                    <m:r>
                      <a:rPr lang="en-US" i="1" dirty="0" smtClean="0">
                        <a:latin typeface="Cambria Math" panose="02040503050406030204" pitchFamily="18" charset="0"/>
                      </a:rPr>
                      <m:t>2∗0.116 </m:t>
                    </m:r>
                  </m:oMath>
                </a14:m>
                <a:r>
                  <a:rPr lang="en-US" dirty="0"/>
                  <a:t>= 0.232 m</a:t>
                </a:r>
                <a:r>
                  <a:rPr lang="en-US" baseline="30000" dirty="0"/>
                  <a:t>3</a:t>
                </a:r>
                <a:r>
                  <a:rPr lang="en-US" dirty="0"/>
                  <a:t>/s</a:t>
                </a:r>
              </a:p>
              <a:p>
                <a:pPr marL="0" indent="0">
                  <a:buNone/>
                </a:pPr>
                <a:r>
                  <a:rPr lang="en-US" dirty="0"/>
                  <a:t> Assuming Min. flow as 40% of average flow, </a:t>
                </a:r>
              </a:p>
              <a:p>
                <a:pPr marL="0" indent="0">
                  <a:buNone/>
                </a:pPr>
                <a:r>
                  <a:rPr lang="en-US" dirty="0"/>
                  <a:t>                                 Q</a:t>
                </a:r>
                <a:r>
                  <a:rPr lang="en-US" baseline="-25000" dirty="0"/>
                  <a:t>min</a:t>
                </a:r>
                <a:r>
                  <a:rPr lang="en-US" dirty="0"/>
                  <a:t> = </a:t>
                </a:r>
                <a14:m>
                  <m:oMath xmlns:m="http://schemas.openxmlformats.org/officeDocument/2006/math">
                    <m:r>
                      <a:rPr lang="en-US" i="1" dirty="0" smtClean="0">
                        <a:latin typeface="Cambria Math" panose="02040503050406030204" pitchFamily="18" charset="0"/>
                      </a:rPr>
                      <m:t>0.4∗0.116</m:t>
                    </m:r>
                    <m:r>
                      <a:rPr lang="en-US" i="1" dirty="0">
                        <a:latin typeface="Cambria Math" panose="02040503050406030204" pitchFamily="18" charset="0"/>
                      </a:rPr>
                      <m:t> </m:t>
                    </m:r>
                  </m:oMath>
                </a14:m>
                <a:r>
                  <a:rPr lang="en-US" dirty="0"/>
                  <a:t>= 0.046 m</a:t>
                </a:r>
                <a:r>
                  <a:rPr lang="en-US" baseline="30000" dirty="0"/>
                  <a:t>3</a:t>
                </a:r>
                <a:r>
                  <a:rPr lang="en-US" dirty="0"/>
                  <a:t>/s</a:t>
                </a:r>
              </a:p>
              <a:p>
                <a:r>
                  <a:rPr lang="en-US" u="sng" dirty="0"/>
                  <a:t>Design of rising main</a:t>
                </a:r>
                <a:r>
                  <a:rPr lang="en-US" dirty="0"/>
                  <a:t>:</a:t>
                </a:r>
              </a:p>
              <a:p>
                <a:pPr marL="0" indent="0">
                  <a:buNone/>
                </a:pPr>
                <a:r>
                  <a:rPr lang="en-US" dirty="0">
                    <a:latin typeface="+mn-lt"/>
                  </a:rPr>
                  <a:t>Assuming 1m/s as the flow through velocity in the rising main, the cross sectional area of the rising main at peak flow, A= flow / velocity</a:t>
                </a:r>
              </a:p>
              <a:p>
                <a:pPr marL="0" indent="0">
                  <a:buNone/>
                </a:pPr>
                <a:r>
                  <a:rPr lang="en-US" dirty="0">
                    <a:latin typeface="+mn-lt"/>
                  </a:rPr>
                  <a:t>              A = 0.232 m</a:t>
                </a:r>
                <a:r>
                  <a:rPr lang="en-US" baseline="30000" dirty="0">
                    <a:latin typeface="+mn-lt"/>
                  </a:rPr>
                  <a:t>2</a:t>
                </a:r>
              </a:p>
              <a:p>
                <a:pPr marL="0" indent="0">
                  <a:buNone/>
                </a:pPr>
                <a:r>
                  <a:rPr lang="en-US" dirty="0">
                    <a:latin typeface="+mn-lt"/>
                  </a:rPr>
                  <a:t> Diameter of the rising main, d</a:t>
                </a:r>
                <a:r>
                  <a:rPr lang="en-US" baseline="-25000" dirty="0">
                    <a:latin typeface="+mn-lt"/>
                  </a:rPr>
                  <a:t>r</a:t>
                </a:r>
                <a:r>
                  <a:rPr lang="en-US" dirty="0">
                    <a:latin typeface="+mn-lt"/>
                  </a:rPr>
                  <a:t> = </a:t>
                </a:r>
                <a14:m>
                  <m:oMath xmlns:m="http://schemas.openxmlformats.org/officeDocument/2006/math">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e>
                    </m:rad>
                  </m:oMath>
                </a14:m>
                <a:r>
                  <a:rPr lang="en-US" b="0" dirty="0">
                    <a:latin typeface="+mn-lt"/>
                    <a:ea typeface="Cambria Math" panose="02040503050406030204" pitchFamily="18" charset="0"/>
                  </a:rPr>
                  <a:t> = 0.54 m</a:t>
                </a:r>
              </a:p>
              <a:p>
                <a:pPr marL="0" indent="0">
                  <a:buNone/>
                </a:pPr>
                <a:r>
                  <a:rPr lang="en-US" dirty="0">
                    <a:latin typeface="+mn-lt"/>
                    <a:ea typeface="Cambria Math" panose="02040503050406030204" pitchFamily="18" charset="0"/>
                  </a:rPr>
                  <a:t> Provide a rising main of 550 mm diameter and a</a:t>
                </a:r>
                <a:r>
                  <a:rPr lang="en-US" b="0" dirty="0">
                    <a:latin typeface="+mn-lt"/>
                    <a:ea typeface="Cambria Math" panose="02040503050406030204" pitchFamily="18" charset="0"/>
                  </a:rPr>
                  <a:t>rea = 0.23 m</a:t>
                </a:r>
                <a:r>
                  <a:rPr lang="en-US" b="0" baseline="30000" dirty="0">
                    <a:latin typeface="+mn-lt"/>
                    <a:ea typeface="Cambria Math" panose="02040503050406030204" pitchFamily="18" charset="0"/>
                  </a:rPr>
                  <a:t>2</a:t>
                </a:r>
              </a:p>
            </p:txBody>
          </p:sp>
        </mc:Choice>
        <mc:Fallback xmlns="">
          <p:sp>
            <p:nvSpPr>
              <p:cNvPr id="3" name="Content Placeholder 2">
                <a:extLst>
                  <a:ext uri="{FF2B5EF4-FFF2-40B4-BE49-F238E27FC236}">
                    <a16:creationId xmlns:a16="http://schemas.microsoft.com/office/drawing/2014/main" id="{D8D46966-0E2E-F115-9B5F-00F202947A8B}"/>
                  </a:ext>
                </a:extLst>
              </p:cNvPr>
              <p:cNvSpPr>
                <a:spLocks noGrp="1" noRot="1" noChangeAspect="1" noMove="1" noResize="1" noEditPoints="1" noAdjustHandles="1" noChangeArrowheads="1" noChangeShapeType="1" noTextEdit="1"/>
              </p:cNvSpPr>
              <p:nvPr>
                <p:ph idx="1"/>
              </p:nvPr>
            </p:nvSpPr>
            <p:spPr>
              <a:xfrm>
                <a:off x="1103311" y="2052918"/>
                <a:ext cx="10096135" cy="4352364"/>
              </a:xfrm>
              <a:blipFill>
                <a:blip r:embed="rId2"/>
                <a:stretch>
                  <a:fillRect l="-664" t="-840" r="-60"/>
                </a:stretch>
              </a:blipFill>
            </p:spPr>
            <p:txBody>
              <a:bodyPr/>
              <a:lstStyle/>
              <a:p>
                <a:r>
                  <a:rPr lang="en-IN">
                    <a:noFill/>
                  </a:rPr>
                  <a:t> </a:t>
                </a:r>
              </a:p>
            </p:txBody>
          </p:sp>
        </mc:Fallback>
      </mc:AlternateContent>
    </p:spTree>
    <p:extLst>
      <p:ext uri="{BB962C8B-B14F-4D97-AF65-F5344CB8AC3E}">
        <p14:creationId xmlns:p14="http://schemas.microsoft.com/office/powerpoint/2010/main" val="2941592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2B035-AB54-8AC1-5547-354BC43D9CE7}"/>
              </a:ext>
            </a:extLst>
          </p:cNvPr>
          <p:cNvSpPr>
            <a:spLocks noGrp="1"/>
          </p:cNvSpPr>
          <p:nvPr>
            <p:ph type="title"/>
          </p:nvPr>
        </p:nvSpPr>
        <p:spPr/>
        <p:txBody>
          <a:bodyPr/>
          <a:lstStyle/>
          <a:p>
            <a:r>
              <a:rPr lang="en-US" dirty="0"/>
              <a:t>Design of Pump House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2B0CEA-F792-C367-957E-9BE77BC0503A}"/>
                  </a:ext>
                </a:extLst>
              </p:cNvPr>
              <p:cNvSpPr>
                <a:spLocks noGrp="1"/>
              </p:cNvSpPr>
              <p:nvPr>
                <p:ph idx="1"/>
              </p:nvPr>
            </p:nvSpPr>
            <p:spPr>
              <a:xfrm>
                <a:off x="993913" y="2052918"/>
                <a:ext cx="10368502" cy="4467152"/>
              </a:xfrm>
            </p:spPr>
            <p:txBody>
              <a:bodyPr>
                <a:normAutofit/>
              </a:bodyPr>
              <a:lstStyle/>
              <a:p>
                <a:r>
                  <a:rPr lang="en-US" u="sng" dirty="0"/>
                  <a:t>Design of sump well (wet well)</a:t>
                </a:r>
                <a:r>
                  <a:rPr lang="en-US" dirty="0"/>
                  <a:t>: </a:t>
                </a:r>
              </a:p>
              <a:p>
                <a:pPr marL="0" indent="0">
                  <a:buNone/>
                </a:pPr>
                <a:r>
                  <a:rPr lang="en-US" dirty="0"/>
                  <a:t>Assuming that the sump well retains the flow of waste water for 20 min.,</a:t>
                </a:r>
              </a:p>
              <a:p>
                <a:pPr marL="0" indent="0">
                  <a:buNone/>
                </a:pPr>
                <a:r>
                  <a:rPr lang="en-US" dirty="0"/>
                  <a:t>the maximum quantity of sewage in the sump, </a:t>
                </a:r>
                <a14:m>
                  <m:oMath xmlns:m="http://schemas.openxmlformats.org/officeDocument/2006/math">
                    <m:r>
                      <a:rPr lang="en-US" i="1" dirty="0" smtClean="0">
                        <a:latin typeface="Cambria Math" panose="02040503050406030204" pitchFamily="18" charset="0"/>
                      </a:rPr>
                      <m:t>𝑄</m:t>
                    </m:r>
                    <m:r>
                      <a:rPr lang="en-US" i="1" baseline="-25000" dirty="0" err="1" smtClean="0">
                        <a:latin typeface="Cambria Math" panose="02040503050406030204" pitchFamily="18" charset="0"/>
                      </a:rPr>
                      <m:t>𝑚𝑎𝑥</m:t>
                    </m:r>
                    <m:r>
                      <a:rPr lang="en-US" i="1" dirty="0" err="1" smtClean="0">
                        <a:latin typeface="Cambria Math" panose="02040503050406030204" pitchFamily="18" charset="0"/>
                      </a:rPr>
                      <m:t>∗</m:t>
                    </m:r>
                    <m:r>
                      <a:rPr lang="en-US" i="1" dirty="0" err="1" smtClean="0">
                        <a:latin typeface="Cambria Math" panose="02040503050406030204" pitchFamily="18" charset="0"/>
                      </a:rPr>
                      <m:t>𝑡</m:t>
                    </m:r>
                    <m:r>
                      <a:rPr lang="en-US" i="1" dirty="0" smtClean="0">
                        <a:latin typeface="Cambria Math" panose="02040503050406030204" pitchFamily="18" charset="0"/>
                      </a:rPr>
                      <m:t>=0.232∗20∗60</m:t>
                    </m:r>
                    <m:r>
                      <a:rPr lang="en-IN" i="1" dirty="0" smtClean="0">
                        <a:latin typeface="Cambria Math" panose="02040503050406030204" pitchFamily="18" charset="0"/>
                      </a:rPr>
                      <m:t>=278.4</m:t>
                    </m:r>
                    <m:r>
                      <a:rPr lang="en-IN" i="1" dirty="0">
                        <a:latin typeface="Cambria Math" panose="02040503050406030204" pitchFamily="18" charset="0"/>
                      </a:rPr>
                      <m:t> </m:t>
                    </m:r>
                    <m:r>
                      <a:rPr lang="en-IN" i="1" dirty="0" smtClean="0">
                        <a:latin typeface="Cambria Math" panose="02040503050406030204" pitchFamily="18" charset="0"/>
                      </a:rPr>
                      <m:t>𝑚</m:t>
                    </m:r>
                    <m:r>
                      <a:rPr lang="en-IN" i="1" baseline="30000" dirty="0" smtClean="0">
                        <a:latin typeface="Cambria Math" panose="02040503050406030204" pitchFamily="18" charset="0"/>
                      </a:rPr>
                      <m:t>3</m:t>
                    </m:r>
                  </m:oMath>
                </a14:m>
                <a:endParaRPr lang="en-IN" baseline="30000" dirty="0"/>
              </a:p>
              <a:p>
                <a:pPr marL="0" indent="0">
                  <a:buNone/>
                </a:pPr>
                <a:r>
                  <a:rPr lang="en-IN" dirty="0"/>
                  <a:t>Quantity of sewage in a rising main of 200 m length </a:t>
                </a:r>
                <a14:m>
                  <m:oMath xmlns:m="http://schemas.openxmlformats.org/officeDocument/2006/math">
                    <m:r>
                      <a:rPr lang="en-IN" i="1" dirty="0" smtClean="0">
                        <a:latin typeface="Cambria Math" panose="02040503050406030204" pitchFamily="18" charset="0"/>
                      </a:rPr>
                      <m:t>=200∗0.23=46 </m:t>
                    </m:r>
                    <m:r>
                      <a:rPr lang="en-IN" i="1" dirty="0" smtClean="0">
                        <a:latin typeface="Cambria Math" panose="02040503050406030204" pitchFamily="18" charset="0"/>
                      </a:rPr>
                      <m:t>𝑚</m:t>
                    </m:r>
                    <m:r>
                      <a:rPr lang="en-IN" i="1" baseline="30000" dirty="0" smtClean="0">
                        <a:latin typeface="Cambria Math" panose="02040503050406030204" pitchFamily="18" charset="0"/>
                      </a:rPr>
                      <m:t>3</m:t>
                    </m:r>
                    <m:r>
                      <a:rPr lang="en-IN" i="1" dirty="0" smtClean="0">
                        <a:latin typeface="Cambria Math" panose="02040503050406030204" pitchFamily="18" charset="0"/>
                      </a:rPr>
                      <m:t> </m:t>
                    </m:r>
                  </m:oMath>
                </a14:m>
                <a:endParaRPr lang="en-US" baseline="30000" dirty="0"/>
              </a:p>
              <a:p>
                <a:pPr marL="0" indent="0">
                  <a:buNone/>
                </a:pPr>
                <a:r>
                  <a:rPr lang="en-US" dirty="0"/>
                  <a:t>Total Capacity of the sump required </a:t>
                </a:r>
                <a14:m>
                  <m:oMath xmlns:m="http://schemas.openxmlformats.org/officeDocument/2006/math">
                    <m:r>
                      <a:rPr lang="en-US" i="1" dirty="0" smtClean="0">
                        <a:latin typeface="Cambria Math" panose="02040503050406030204" pitchFamily="18" charset="0"/>
                      </a:rPr>
                      <m:t>=278.4+46=324.4 </m:t>
                    </m:r>
                    <m:r>
                      <a:rPr lang="en-US" i="1" dirty="0" smtClean="0">
                        <a:latin typeface="Cambria Math" panose="02040503050406030204" pitchFamily="18" charset="0"/>
                      </a:rPr>
                      <m:t>𝑚</m:t>
                    </m:r>
                    <m:r>
                      <a:rPr lang="en-US" i="1" baseline="30000" dirty="0" smtClean="0">
                        <a:latin typeface="Cambria Math" panose="02040503050406030204" pitchFamily="18" charset="0"/>
                      </a:rPr>
                      <m:t>3</m:t>
                    </m:r>
                    <m:r>
                      <a:rPr lang="en-US" i="1" dirty="0" smtClean="0">
                        <a:latin typeface="Cambria Math" panose="02040503050406030204" pitchFamily="18" charset="0"/>
                      </a:rPr>
                      <m:t>=325 </m:t>
                    </m:r>
                    <m:r>
                      <a:rPr lang="en-US" i="1" dirty="0" smtClean="0">
                        <a:latin typeface="Cambria Math" panose="02040503050406030204" pitchFamily="18" charset="0"/>
                      </a:rPr>
                      <m:t>𝑚</m:t>
                    </m:r>
                    <m:r>
                      <a:rPr lang="en-US" i="1" baseline="30000" dirty="0" smtClean="0">
                        <a:latin typeface="Cambria Math" panose="02040503050406030204" pitchFamily="18" charset="0"/>
                      </a:rPr>
                      <m:t>3</m:t>
                    </m:r>
                  </m:oMath>
                </a14:m>
                <a:endParaRPr lang="en-US" baseline="30000" dirty="0"/>
              </a:p>
              <a:p>
                <a:pPr marL="0" indent="0">
                  <a:buNone/>
                </a:pPr>
                <a:r>
                  <a:rPr lang="en-US" dirty="0"/>
                  <a:t>Assuming a max. of 4 m depth of the sump, </a:t>
                </a:r>
              </a:p>
              <a:p>
                <a:pPr marL="0" indent="0">
                  <a:buNone/>
                </a:pPr>
                <a:r>
                  <a:rPr lang="en-US" dirty="0"/>
                  <a:t>the surface area of the sump, As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325</m:t>
                        </m:r>
                      </m:num>
                      <m:den>
                        <m:r>
                          <a:rPr lang="en-US" b="0" i="1" smtClean="0">
                            <a:latin typeface="Cambria Math" panose="02040503050406030204" pitchFamily="18" charset="0"/>
                          </a:rPr>
                          <m:t>4</m:t>
                        </m:r>
                      </m:den>
                    </m:f>
                  </m:oMath>
                </a14:m>
                <a:r>
                  <a:rPr lang="en-IN" dirty="0"/>
                  <a:t> = 81.25 m</a:t>
                </a:r>
                <a:r>
                  <a:rPr lang="en-IN" baseline="30000" dirty="0"/>
                  <a:t>2</a:t>
                </a:r>
              </a:p>
              <a:p>
                <a:pPr marL="0" indent="0">
                  <a:buNone/>
                </a:pPr>
                <a:r>
                  <a:rPr lang="en-IN" dirty="0"/>
                  <a:t>Providing 3 sump wells for 3 pumps, 2 working and 1 standby (2W+1S), such that 2 wells will always remain in operation when one of the wells is taken under repair or maintenance. The surface area of one sump is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81.25</m:t>
                        </m:r>
                      </m:num>
                      <m:den>
                        <m:r>
                          <a:rPr lang="en-US" b="0" i="1" smtClean="0">
                            <a:latin typeface="Cambria Math" panose="02040503050406030204" pitchFamily="18" charset="0"/>
                          </a:rPr>
                          <m:t>2</m:t>
                        </m:r>
                      </m:den>
                    </m:f>
                    <m:r>
                      <a:rPr lang="en-US" b="0" i="1" smtClean="0">
                        <a:latin typeface="Cambria Math" panose="02040503050406030204" pitchFamily="18" charset="0"/>
                      </a:rPr>
                      <m:t>=40.625 </m:t>
                    </m:r>
                    <m:r>
                      <a:rPr lang="en-US" b="0" i="1" smtClean="0">
                        <a:latin typeface="Cambria Math" panose="02040503050406030204" pitchFamily="18" charset="0"/>
                      </a:rPr>
                      <m:t>𝑚</m:t>
                    </m:r>
                    <m:r>
                      <a:rPr lang="en-US" b="0" i="1" baseline="30000" smtClean="0">
                        <a:latin typeface="Cambria Math" panose="02040503050406030204" pitchFamily="18" charset="0"/>
                      </a:rPr>
                      <m:t>2</m:t>
                    </m:r>
                  </m:oMath>
                </a14:m>
                <a:endParaRPr lang="en-IN" baseline="30000" dirty="0"/>
              </a:p>
            </p:txBody>
          </p:sp>
        </mc:Choice>
        <mc:Fallback xmlns="">
          <p:sp>
            <p:nvSpPr>
              <p:cNvPr id="3" name="Content Placeholder 2">
                <a:extLst>
                  <a:ext uri="{FF2B5EF4-FFF2-40B4-BE49-F238E27FC236}">
                    <a16:creationId xmlns:a16="http://schemas.microsoft.com/office/drawing/2014/main" id="{892B0CEA-F792-C367-957E-9BE77BC0503A}"/>
                  </a:ext>
                </a:extLst>
              </p:cNvPr>
              <p:cNvSpPr>
                <a:spLocks noGrp="1" noRot="1" noChangeAspect="1" noMove="1" noResize="1" noEditPoints="1" noAdjustHandles="1" noChangeArrowheads="1" noChangeShapeType="1" noTextEdit="1"/>
              </p:cNvSpPr>
              <p:nvPr>
                <p:ph idx="1"/>
              </p:nvPr>
            </p:nvSpPr>
            <p:spPr>
              <a:xfrm>
                <a:off x="993913" y="2052918"/>
                <a:ext cx="10368502" cy="4467152"/>
              </a:xfrm>
              <a:blipFill>
                <a:blip r:embed="rId2"/>
                <a:stretch>
                  <a:fillRect l="-588" t="-819"/>
                </a:stretch>
              </a:blipFill>
            </p:spPr>
            <p:txBody>
              <a:bodyPr/>
              <a:lstStyle/>
              <a:p>
                <a:r>
                  <a:rPr lang="en-IN">
                    <a:noFill/>
                  </a:rPr>
                  <a:t> </a:t>
                </a:r>
              </a:p>
            </p:txBody>
          </p:sp>
        </mc:Fallback>
      </mc:AlternateContent>
    </p:spTree>
    <p:extLst>
      <p:ext uri="{BB962C8B-B14F-4D97-AF65-F5344CB8AC3E}">
        <p14:creationId xmlns:p14="http://schemas.microsoft.com/office/powerpoint/2010/main" val="2337265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C3BF0-CDED-3B43-99B5-AC609763B7C8}"/>
              </a:ext>
            </a:extLst>
          </p:cNvPr>
          <p:cNvSpPr>
            <a:spLocks noGrp="1"/>
          </p:cNvSpPr>
          <p:nvPr>
            <p:ph type="title"/>
          </p:nvPr>
        </p:nvSpPr>
        <p:spPr/>
        <p:txBody>
          <a:bodyPr/>
          <a:lstStyle/>
          <a:p>
            <a:r>
              <a:rPr lang="en-US" dirty="0"/>
              <a:t>Design of Pump House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B69ED0-ACCE-06A1-FD1A-190DC5BBC0D3}"/>
                  </a:ext>
                </a:extLst>
              </p:cNvPr>
              <p:cNvSpPr>
                <a:spLocks noGrp="1"/>
              </p:cNvSpPr>
              <p:nvPr>
                <p:ph idx="1"/>
              </p:nvPr>
            </p:nvSpPr>
            <p:spPr>
              <a:xfrm>
                <a:off x="711200" y="1853248"/>
                <a:ext cx="10957169" cy="4782014"/>
              </a:xfrm>
            </p:spPr>
            <p:txBody>
              <a:bodyPr/>
              <a:lstStyle/>
              <a:p>
                <a:pPr marL="0" indent="0">
                  <a:buNone/>
                </a:pPr>
                <a:r>
                  <a:rPr lang="en-US" dirty="0"/>
                  <a:t>Diameter of each sump, d</a:t>
                </a:r>
                <a:r>
                  <a:rPr lang="en-US" baseline="-25000" dirty="0"/>
                  <a:t>s</a:t>
                </a:r>
                <a:r>
                  <a:rPr lang="en-US" dirty="0"/>
                  <a:t> = </a:t>
                </a:r>
                <a14:m>
                  <m:oMath xmlns:m="http://schemas.openxmlformats.org/officeDocument/2006/math">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4∗40.625/</m:t>
                        </m:r>
                        <m:r>
                          <a:rPr lang="en-US" b="0" i="1" smtClean="0">
                            <a:latin typeface="Cambria Math" panose="02040503050406030204" pitchFamily="18" charset="0"/>
                            <a:ea typeface="Cambria Math" panose="02040503050406030204" pitchFamily="18" charset="0"/>
                          </a:rPr>
                          <m:t>𝜋</m:t>
                        </m:r>
                      </m:e>
                    </m:rad>
                    <m:r>
                      <a:rPr lang="en-US" b="0" i="1" smtClean="0">
                        <a:latin typeface="Cambria Math" panose="02040503050406030204" pitchFamily="18" charset="0"/>
                        <a:ea typeface="Cambria Math" panose="02040503050406030204" pitchFamily="18" charset="0"/>
                      </a:rPr>
                      <m:t>=7.2 </m:t>
                    </m:r>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 </m:t>
                    </m:r>
                  </m:oMath>
                </a14:m>
                <a:endParaRPr lang="en-US" b="0" dirty="0">
                  <a:ea typeface="Cambria Math" panose="02040503050406030204" pitchFamily="18" charset="0"/>
                </a:endParaRPr>
              </a:p>
              <a:p>
                <a:pPr marL="0" indent="0">
                  <a:buNone/>
                </a:pPr>
                <a:r>
                  <a:rPr lang="en-US" dirty="0">
                    <a:ea typeface="Cambria Math" panose="02040503050406030204" pitchFamily="18" charset="0"/>
                  </a:rPr>
                  <a:t>To determine minimum liquid depth in the sump well, </a:t>
                </a:r>
                <a14:m>
                  <m:oMath xmlns:m="http://schemas.openxmlformats.org/officeDocument/2006/math">
                    <m:r>
                      <a:rPr lang="en-US" sz="1800" i="1" dirty="0" smtClean="0">
                        <a:latin typeface="Cambria Math" panose="02040503050406030204" pitchFamily="18" charset="0"/>
                        <a:ea typeface="Cambria Math" panose="02040503050406030204" pitchFamily="18" charset="0"/>
                      </a:rPr>
                      <m:t>𝑄</m:t>
                    </m:r>
                    <m:r>
                      <a:rPr lang="en-US" sz="1800" i="1" baseline="-25000" dirty="0" smtClean="0">
                        <a:latin typeface="Cambria Math" panose="02040503050406030204" pitchFamily="18" charset="0"/>
                        <a:ea typeface="Cambria Math" panose="02040503050406030204" pitchFamily="18" charset="0"/>
                      </a:rPr>
                      <m:t>𝑚𝑖𝑛</m:t>
                    </m:r>
                    <m:r>
                      <a:rPr lang="en-US" sz="1800" i="1" dirty="0" smtClean="0">
                        <a:latin typeface="Cambria Math" panose="02040503050406030204" pitchFamily="18" charset="0"/>
                        <a:ea typeface="Cambria Math" panose="02040503050406030204" pitchFamily="18" charset="0"/>
                      </a:rPr>
                      <m:t> </m:t>
                    </m:r>
                    <m:r>
                      <a:rPr lang="en-US" sz="1800" i="1" dirty="0" smtClean="0">
                        <a:latin typeface="Cambria Math" panose="02040503050406030204" pitchFamily="18" charset="0"/>
                        <a:ea typeface="Cambria Math" panose="02040503050406030204" pitchFamily="18" charset="0"/>
                      </a:rPr>
                      <m:t>𝑖𝑛</m:t>
                    </m:r>
                    <m:r>
                      <a:rPr lang="en-US" sz="1800" i="1" dirty="0" smtClean="0">
                        <a:latin typeface="Cambria Math" panose="02040503050406030204" pitchFamily="18" charset="0"/>
                        <a:ea typeface="Cambria Math" panose="02040503050406030204" pitchFamily="18" charset="0"/>
                      </a:rPr>
                      <m:t> </m:t>
                    </m:r>
                    <m:r>
                      <a:rPr lang="en-US" sz="1800" i="1" dirty="0" smtClean="0">
                        <a:latin typeface="Cambria Math" panose="02040503050406030204" pitchFamily="18" charset="0"/>
                        <a:ea typeface="Cambria Math" panose="02040503050406030204" pitchFamily="18" charset="0"/>
                      </a:rPr>
                      <m:t>𝑡h𝑒</m:t>
                    </m:r>
                    <m:r>
                      <a:rPr lang="en-US" sz="1800" i="1" dirty="0" smtClean="0">
                        <a:latin typeface="Cambria Math" panose="02040503050406030204" pitchFamily="18" charset="0"/>
                        <a:ea typeface="Cambria Math" panose="02040503050406030204" pitchFamily="18" charset="0"/>
                      </a:rPr>
                      <m:t> </m:t>
                    </m:r>
                    <m:r>
                      <a:rPr lang="en-US" sz="1800" i="1" dirty="0" smtClean="0">
                        <a:latin typeface="Cambria Math" panose="02040503050406030204" pitchFamily="18" charset="0"/>
                        <a:ea typeface="Cambria Math" panose="02040503050406030204" pitchFamily="18" charset="0"/>
                      </a:rPr>
                      <m:t>𝑤𝑒𝑙𝑙</m:t>
                    </m:r>
                    <m:r>
                      <a:rPr lang="en-US" sz="1800" b="0" i="1" dirty="0" smtClean="0">
                        <a:latin typeface="Cambria Math" panose="02040503050406030204" pitchFamily="18" charset="0"/>
                        <a:ea typeface="Cambria Math" panose="02040503050406030204" pitchFamily="18" charset="0"/>
                      </a:rPr>
                      <m:t>+</m:t>
                    </m:r>
                    <m:r>
                      <a:rPr lang="en-US" sz="1800" i="1" dirty="0" smtClean="0">
                        <a:latin typeface="Cambria Math" panose="02040503050406030204" pitchFamily="18" charset="0"/>
                        <a:ea typeface="Cambria Math" panose="02040503050406030204" pitchFamily="18" charset="0"/>
                      </a:rPr>
                      <m:t>𝑓𝑙𝑜𝑤</m:t>
                    </m:r>
                    <m:r>
                      <a:rPr lang="en-US" sz="1800" i="1" dirty="0" smtClean="0">
                        <a:latin typeface="Cambria Math" panose="02040503050406030204" pitchFamily="18" charset="0"/>
                        <a:ea typeface="Cambria Math" panose="02040503050406030204" pitchFamily="18" charset="0"/>
                      </a:rPr>
                      <m:t> </m:t>
                    </m:r>
                    <m:r>
                      <a:rPr lang="en-US" sz="1800" i="1" dirty="0" smtClean="0">
                        <a:latin typeface="Cambria Math" panose="02040503050406030204" pitchFamily="18" charset="0"/>
                        <a:ea typeface="Cambria Math" panose="02040503050406030204" pitchFamily="18" charset="0"/>
                      </a:rPr>
                      <m:t>𝑖𝑛</m:t>
                    </m:r>
                    <m:r>
                      <a:rPr lang="en-US" sz="1800" i="1" dirty="0" smtClean="0">
                        <a:latin typeface="Cambria Math" panose="02040503050406030204" pitchFamily="18" charset="0"/>
                        <a:ea typeface="Cambria Math" panose="02040503050406030204" pitchFamily="18" charset="0"/>
                      </a:rPr>
                      <m:t> </m:t>
                    </m:r>
                    <m:r>
                      <a:rPr lang="en-US" sz="1800" i="1" dirty="0" smtClean="0">
                        <a:latin typeface="Cambria Math" panose="02040503050406030204" pitchFamily="18" charset="0"/>
                        <a:ea typeface="Cambria Math" panose="02040503050406030204" pitchFamily="18" charset="0"/>
                      </a:rPr>
                      <m:t>𝑟𝑖𝑠𝑖𝑛𝑔</m:t>
                    </m:r>
                    <m:r>
                      <a:rPr lang="en-US" sz="1800" i="1" dirty="0" smtClean="0">
                        <a:latin typeface="Cambria Math" panose="02040503050406030204" pitchFamily="18" charset="0"/>
                        <a:ea typeface="Cambria Math" panose="02040503050406030204" pitchFamily="18" charset="0"/>
                      </a:rPr>
                      <m:t> </m:t>
                    </m:r>
                    <m:r>
                      <a:rPr lang="en-US" sz="1800" i="1" dirty="0" smtClean="0">
                        <a:latin typeface="Cambria Math" panose="02040503050406030204" pitchFamily="18" charset="0"/>
                        <a:ea typeface="Cambria Math" panose="02040503050406030204" pitchFamily="18" charset="0"/>
                      </a:rPr>
                      <m:t>𝑚𝑎𝑖𝑛</m:t>
                    </m:r>
                  </m:oMath>
                </a14:m>
                <a:r>
                  <a:rPr lang="en-US" dirty="0">
                    <a:ea typeface="Cambria Math" panose="02040503050406030204" pitchFamily="18" charset="0"/>
                  </a:rPr>
                  <a:t> </a:t>
                </a:r>
                <a:endParaRPr lang="en-US" b="0" dirty="0">
                  <a:ea typeface="Cambria Math" panose="02040503050406030204" pitchFamily="18" charset="0"/>
                </a:endParaRPr>
              </a:p>
              <a:p>
                <a:pPr marL="0" indent="0">
                  <a:buNone/>
                </a:pPr>
                <a:r>
                  <a:rPr lang="en-IN" dirty="0"/>
                  <a:t>Assuming 20 min. detention time, </a:t>
                </a:r>
                <a14:m>
                  <m:oMath xmlns:m="http://schemas.openxmlformats.org/officeDocument/2006/math">
                    <m:r>
                      <a:rPr lang="en-IN" i="1" dirty="0" smtClean="0">
                        <a:latin typeface="Cambria Math" panose="02040503050406030204" pitchFamily="18" charset="0"/>
                      </a:rPr>
                      <m:t>𝑄</m:t>
                    </m:r>
                    <m:r>
                      <a:rPr lang="en-IN" i="1" baseline="-25000" dirty="0" smtClean="0">
                        <a:latin typeface="Cambria Math" panose="02040503050406030204" pitchFamily="18" charset="0"/>
                      </a:rPr>
                      <m:t>𝑚𝑖𝑛</m:t>
                    </m:r>
                    <m:r>
                      <a:rPr lang="en-IN" i="1" dirty="0" smtClean="0">
                        <a:latin typeface="Cambria Math" panose="02040503050406030204" pitchFamily="18" charset="0"/>
                      </a:rPr>
                      <m:t>∗</m:t>
                    </m:r>
                    <m:r>
                      <a:rPr lang="en-IN" i="1" dirty="0" smtClean="0">
                        <a:latin typeface="Cambria Math" panose="02040503050406030204" pitchFamily="18" charset="0"/>
                      </a:rPr>
                      <m:t>𝑡</m:t>
                    </m:r>
                    <m:r>
                      <a:rPr lang="en-US" b="0" i="1" dirty="0" smtClean="0">
                        <a:latin typeface="Cambria Math" panose="02040503050406030204" pitchFamily="18" charset="0"/>
                      </a:rPr>
                      <m:t>=0.046∗20∗60=55.2 </m:t>
                    </m:r>
                    <m:r>
                      <a:rPr lang="en-US" b="0" i="1" dirty="0" smtClean="0">
                        <a:latin typeface="Cambria Math" panose="02040503050406030204" pitchFamily="18" charset="0"/>
                      </a:rPr>
                      <m:t>𝑚</m:t>
                    </m:r>
                    <m:r>
                      <a:rPr lang="en-US" b="0" i="1" baseline="30000" dirty="0" smtClean="0">
                        <a:latin typeface="Cambria Math" panose="02040503050406030204" pitchFamily="18" charset="0"/>
                      </a:rPr>
                      <m:t>3</m:t>
                    </m:r>
                  </m:oMath>
                </a14:m>
                <a:endParaRPr lang="en-IN" baseline="30000" dirty="0"/>
              </a:p>
              <a:p>
                <a:pPr marL="0" indent="0">
                  <a:buNone/>
                </a:pPr>
                <a:r>
                  <a:rPr lang="en-IN" dirty="0"/>
                  <a:t>Minimum volume of liquid in the well = </a:t>
                </a:r>
                <a14:m>
                  <m:oMath xmlns:m="http://schemas.openxmlformats.org/officeDocument/2006/math">
                    <m:r>
                      <a:rPr lang="en-IN" i="1" dirty="0" smtClean="0">
                        <a:latin typeface="Cambria Math" panose="02040503050406030204" pitchFamily="18" charset="0"/>
                      </a:rPr>
                      <m:t>55.2+46=101.2</m:t>
                    </m:r>
                    <m:r>
                      <a:rPr lang="en-IN" i="1" dirty="0">
                        <a:latin typeface="Cambria Math" panose="02040503050406030204" pitchFamily="18" charset="0"/>
                      </a:rPr>
                      <m:t> </m:t>
                    </m:r>
                    <m:r>
                      <a:rPr lang="en-IN" i="1" dirty="0" smtClean="0">
                        <a:latin typeface="Cambria Math" panose="02040503050406030204" pitchFamily="18" charset="0"/>
                      </a:rPr>
                      <m:t>𝑚</m:t>
                    </m:r>
                    <m:r>
                      <a:rPr lang="en-IN" i="1" baseline="30000" dirty="0">
                        <a:latin typeface="Cambria Math" panose="02040503050406030204" pitchFamily="18" charset="0"/>
                      </a:rPr>
                      <m:t>3</m:t>
                    </m:r>
                  </m:oMath>
                </a14:m>
                <a:endParaRPr lang="en-IN" baseline="30000" dirty="0"/>
              </a:p>
              <a:p>
                <a:pPr marL="0" indent="0">
                  <a:buNone/>
                </a:pPr>
                <a:r>
                  <a:rPr lang="en-IN" dirty="0"/>
                  <a:t>Area of one wet well </a:t>
                </a: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4</m:t>
                        </m:r>
                      </m:den>
                    </m:f>
                    <m:r>
                      <a:rPr lang="en-US" b="0" i="1" smtClean="0">
                        <a:latin typeface="Cambria Math" panose="02040503050406030204" pitchFamily="18" charset="0"/>
                        <a:ea typeface="Cambria Math" panose="02040503050406030204" pitchFamily="18" charset="0"/>
                      </a:rPr>
                      <m:t>∗7.2</m:t>
                    </m:r>
                    <m:r>
                      <a:rPr lang="en-US" b="0" i="1" baseline="30000"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=40.7 </m:t>
                    </m:r>
                    <m:r>
                      <a:rPr lang="en-US" b="0" i="1" smtClean="0">
                        <a:latin typeface="Cambria Math" panose="02040503050406030204" pitchFamily="18" charset="0"/>
                        <a:ea typeface="Cambria Math" panose="02040503050406030204" pitchFamily="18" charset="0"/>
                      </a:rPr>
                      <m:t>𝑚</m:t>
                    </m:r>
                    <m:r>
                      <a:rPr lang="en-US" b="0" i="1" baseline="30000" smtClean="0">
                        <a:latin typeface="Cambria Math" panose="02040503050406030204" pitchFamily="18" charset="0"/>
                        <a:ea typeface="Cambria Math" panose="02040503050406030204" pitchFamily="18" charset="0"/>
                      </a:rPr>
                      <m:t>2</m:t>
                    </m:r>
                  </m:oMath>
                </a14:m>
                <a:r>
                  <a:rPr lang="en-IN" baseline="30000" dirty="0"/>
                  <a:t> </a:t>
                </a:r>
              </a:p>
              <a:p>
                <a:pPr marL="0" indent="0">
                  <a:buNone/>
                </a:pPr>
                <a:r>
                  <a:rPr lang="en-IN" dirty="0"/>
                  <a:t>Minimum liquid depth in each well </a:t>
                </a: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101.2</m:t>
                        </m:r>
                      </m:num>
                      <m:den>
                        <m:r>
                          <a:rPr lang="en-US" b="0" i="1" smtClean="0">
                            <a:latin typeface="Cambria Math" panose="02040503050406030204" pitchFamily="18" charset="0"/>
                          </a:rPr>
                          <m:t>40.7</m:t>
                        </m:r>
                      </m:den>
                    </m:f>
                    <m:r>
                      <a:rPr lang="en-US" b="0" i="1" smtClean="0">
                        <a:latin typeface="Cambria Math" panose="02040503050406030204" pitchFamily="18" charset="0"/>
                      </a:rPr>
                      <m:t>=2.5 </m:t>
                    </m:r>
                    <m:r>
                      <a:rPr lang="en-US" b="0" i="1" smtClean="0">
                        <a:latin typeface="Cambria Math" panose="02040503050406030204" pitchFamily="18" charset="0"/>
                      </a:rPr>
                      <m:t>𝑚</m:t>
                    </m:r>
                  </m:oMath>
                </a14:m>
                <a:endParaRPr lang="en-IN" dirty="0"/>
              </a:p>
              <a:p>
                <a:r>
                  <a:rPr lang="en-IN" u="sng" dirty="0"/>
                  <a:t>Design of Dry well</a:t>
                </a:r>
                <a:r>
                  <a:rPr lang="en-IN" dirty="0"/>
                  <a:t>: </a:t>
                </a:r>
              </a:p>
              <a:p>
                <a:pPr marL="0" indent="0">
                  <a:buNone/>
                </a:pPr>
                <a:r>
                  <a:rPr lang="en-IN" dirty="0"/>
                  <a:t>A dry well is designed on the basis of the space equal to that is required for housing the working as well as standby pumps. Normally one can assume the same dimensions as that for a wet well. Additional space is provided for ladder and working area of maintenance.</a:t>
                </a:r>
              </a:p>
            </p:txBody>
          </p:sp>
        </mc:Choice>
        <mc:Fallback xmlns="">
          <p:sp>
            <p:nvSpPr>
              <p:cNvPr id="3" name="Content Placeholder 2">
                <a:extLst>
                  <a:ext uri="{FF2B5EF4-FFF2-40B4-BE49-F238E27FC236}">
                    <a16:creationId xmlns:a16="http://schemas.microsoft.com/office/drawing/2014/main" id="{20B69ED0-ACCE-06A1-FD1A-190DC5BBC0D3}"/>
                  </a:ext>
                </a:extLst>
              </p:cNvPr>
              <p:cNvSpPr>
                <a:spLocks noGrp="1" noRot="1" noChangeAspect="1" noMove="1" noResize="1" noEditPoints="1" noAdjustHandles="1" noChangeArrowheads="1" noChangeShapeType="1" noTextEdit="1"/>
              </p:cNvSpPr>
              <p:nvPr>
                <p:ph idx="1"/>
              </p:nvPr>
            </p:nvSpPr>
            <p:spPr>
              <a:xfrm>
                <a:off x="711200" y="1853248"/>
                <a:ext cx="10957169" cy="4782014"/>
              </a:xfrm>
              <a:blipFill>
                <a:blip r:embed="rId2"/>
                <a:stretch>
                  <a:fillRect l="-612" r="-501"/>
                </a:stretch>
              </a:blipFill>
            </p:spPr>
            <p:txBody>
              <a:bodyPr/>
              <a:lstStyle/>
              <a:p>
                <a:r>
                  <a:rPr lang="en-IN">
                    <a:noFill/>
                  </a:rPr>
                  <a:t> </a:t>
                </a:r>
              </a:p>
            </p:txBody>
          </p:sp>
        </mc:Fallback>
      </mc:AlternateContent>
    </p:spTree>
    <p:extLst>
      <p:ext uri="{BB962C8B-B14F-4D97-AF65-F5344CB8AC3E}">
        <p14:creationId xmlns:p14="http://schemas.microsoft.com/office/powerpoint/2010/main" val="3648490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91005-FAA0-D949-7E5D-14B5F7634737}"/>
              </a:ext>
            </a:extLst>
          </p:cNvPr>
          <p:cNvSpPr>
            <a:spLocks noGrp="1"/>
          </p:cNvSpPr>
          <p:nvPr>
            <p:ph type="title"/>
          </p:nvPr>
        </p:nvSpPr>
        <p:spPr/>
        <p:txBody>
          <a:bodyPr/>
          <a:lstStyle/>
          <a:p>
            <a:r>
              <a:rPr lang="en-US" dirty="0"/>
              <a:t>Design of Pump House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FFCD1F-86B6-B2AE-909B-BD7FA3A0BB58}"/>
                  </a:ext>
                </a:extLst>
              </p:cNvPr>
              <p:cNvSpPr>
                <a:spLocks noGrp="1"/>
              </p:cNvSpPr>
              <p:nvPr>
                <p:ph idx="1"/>
              </p:nvPr>
            </p:nvSpPr>
            <p:spPr>
              <a:xfrm>
                <a:off x="995423" y="1724627"/>
                <a:ext cx="10428790" cy="4965539"/>
              </a:xfrm>
            </p:spPr>
            <p:txBody>
              <a:bodyPr>
                <a:normAutofit lnSpcReduction="10000"/>
              </a:bodyPr>
              <a:lstStyle/>
              <a:p>
                <a:pPr marL="342900" marR="0" lvl="0" indent="-342900" algn="l" defTabSz="457200" rtl="0" eaLnBrk="1" fontAlgn="auto" latinLnBrk="0" hangingPunct="1">
                  <a:spcBef>
                    <a:spcPts val="1000"/>
                  </a:spcBef>
                  <a:spcAft>
                    <a:spcPts val="0"/>
                  </a:spcAft>
                  <a:buClr>
                    <a:srgbClr val="455F51">
                      <a:lumMod val="40000"/>
                      <a:lumOff val="60000"/>
                    </a:srgbClr>
                  </a:buClr>
                  <a:buSzPct val="80000"/>
                  <a:buFont typeface="Wingdings 3" charset="2"/>
                  <a:buChar char=""/>
                  <a:tabLst/>
                  <a:defRPr/>
                </a:pPr>
                <a:r>
                  <a:rPr kumimoji="0" lang="en-IN" sz="2000" b="0" i="0" u="sng" strike="noStrike" kern="1200" cap="none" spc="0" normalizeH="0" baseline="0" noProof="0" dirty="0">
                    <a:ln>
                      <a:noFill/>
                    </a:ln>
                    <a:solidFill>
                      <a:prstClr val="white"/>
                    </a:solidFill>
                    <a:effectLst/>
                    <a:uLnTx/>
                    <a:uFillTx/>
                    <a:latin typeface="Century Gothic" panose="020B0502020202020204"/>
                    <a:ea typeface="+mj-ea"/>
                    <a:cs typeface="+mj-cs"/>
                  </a:rPr>
                  <a:t>Design of pumps</a:t>
                </a:r>
                <a:r>
                  <a:rPr kumimoji="0" lang="en-IN" sz="2000" b="0" i="0" u="none" strike="noStrike" kern="1200" cap="none" spc="0" normalizeH="0" baseline="0" noProof="0" dirty="0">
                    <a:ln>
                      <a:noFill/>
                    </a:ln>
                    <a:solidFill>
                      <a:prstClr val="white"/>
                    </a:solidFill>
                    <a:effectLst/>
                    <a:uLnTx/>
                    <a:uFillTx/>
                    <a:latin typeface="Century Gothic" panose="020B0502020202020204"/>
                    <a:ea typeface="+mj-ea"/>
                    <a:cs typeface="+mj-cs"/>
                  </a:rPr>
                  <a:t>:</a:t>
                </a:r>
              </a:p>
              <a:p>
                <a:pPr marL="0" marR="0" lvl="0" indent="0" algn="l" defTabSz="457200" rtl="0" eaLnBrk="1" fontAlgn="auto" latinLnBrk="0" hangingPunct="1">
                  <a:spcBef>
                    <a:spcPts val="1000"/>
                  </a:spcBef>
                  <a:spcAft>
                    <a:spcPts val="0"/>
                  </a:spcAft>
                  <a:buClr>
                    <a:srgbClr val="455F51">
                      <a:lumMod val="40000"/>
                      <a:lumOff val="60000"/>
                    </a:srgbClr>
                  </a:buClr>
                  <a:buSzPct val="80000"/>
                  <a:buFont typeface="Wingdings 3" charset="2"/>
                  <a:buNone/>
                  <a:tabLst/>
                  <a:defRPr/>
                </a:pPr>
                <a:r>
                  <a:rPr kumimoji="0" lang="en-IN" sz="2000" b="0" i="0" u="none" strike="noStrike" kern="1200" cap="none" spc="0" normalizeH="0" baseline="0" noProof="0" dirty="0">
                    <a:ln>
                      <a:noFill/>
                    </a:ln>
                    <a:solidFill>
                      <a:prstClr val="white"/>
                    </a:solidFill>
                    <a:effectLst/>
                    <a:uLnTx/>
                    <a:uFillTx/>
                    <a:latin typeface="Century Gothic" panose="020B0502020202020204"/>
                    <a:ea typeface="+mj-ea"/>
                    <a:cs typeface="+mj-cs"/>
                  </a:rPr>
                  <a:t>Providing 3 pumps, 2 in operation and 1 as standby, the maximum flow that each pump has to lift, </a:t>
                </a:r>
                <a14:m>
                  <m:oMath xmlns:m="http://schemas.openxmlformats.org/officeDocument/2006/math">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j-ea"/>
                        <a:cs typeface="+mj-cs"/>
                      </a:rPr>
                      <m:t>𝑄</m:t>
                    </m:r>
                    <m:r>
                      <a:rPr kumimoji="0" lang="en-US" sz="2000" b="0" i="1" u="none" strike="noStrike" kern="1200" cap="none" spc="0" normalizeH="0" baseline="-25000" noProof="0" smtClean="0">
                        <a:ln>
                          <a:noFill/>
                        </a:ln>
                        <a:solidFill>
                          <a:prstClr val="white"/>
                        </a:solidFill>
                        <a:effectLst/>
                        <a:uLnTx/>
                        <a:uFillTx/>
                        <a:latin typeface="Cambria Math" panose="02040503050406030204" pitchFamily="18" charset="0"/>
                        <a:ea typeface="+mj-ea"/>
                        <a:cs typeface="+mj-cs"/>
                      </a:rPr>
                      <m:t>𝑝𝑢𝑚𝑝</m:t>
                    </m:r>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j-ea"/>
                        <a:cs typeface="+mj-cs"/>
                      </a:rPr>
                      <m:t>=</m:t>
                    </m:r>
                    <m:f>
                      <m:fPr>
                        <m:ctrlP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j-ea"/>
                            <a:cs typeface="+mj-cs"/>
                          </a:rPr>
                        </m:ctrlPr>
                      </m:fPr>
                      <m:num>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j-ea"/>
                            <a:cs typeface="+mj-cs"/>
                          </a:rPr>
                          <m:t>0.232</m:t>
                        </m:r>
                      </m:num>
                      <m:den>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j-ea"/>
                            <a:cs typeface="+mj-cs"/>
                          </a:rPr>
                          <m:t>2</m:t>
                        </m:r>
                      </m:den>
                    </m:f>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j-ea"/>
                        <a:cs typeface="+mj-cs"/>
                      </a:rPr>
                      <m:t>=0.116 </m:t>
                    </m:r>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j-ea"/>
                        <a:cs typeface="+mj-cs"/>
                      </a:rPr>
                      <m:t>𝑚</m:t>
                    </m:r>
                    <m:r>
                      <a:rPr kumimoji="0" lang="en-US" sz="2000" b="0" i="1" u="none" strike="noStrike" kern="1200" cap="none" spc="0" normalizeH="0" baseline="30000" noProof="0" smtClean="0">
                        <a:ln>
                          <a:noFill/>
                        </a:ln>
                        <a:solidFill>
                          <a:prstClr val="white"/>
                        </a:solidFill>
                        <a:effectLst/>
                        <a:uLnTx/>
                        <a:uFillTx/>
                        <a:latin typeface="Cambria Math" panose="02040503050406030204" pitchFamily="18" charset="0"/>
                        <a:ea typeface="+mj-ea"/>
                        <a:cs typeface="+mj-cs"/>
                      </a:rPr>
                      <m:t>3</m:t>
                    </m:r>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j-ea"/>
                        <a:cs typeface="+mj-cs"/>
                      </a:rPr>
                      <m:t>/</m:t>
                    </m:r>
                    <m:r>
                      <a:rPr kumimoji="0" lang="en-US" sz="2000" b="0" i="1" u="none" strike="noStrike" kern="1200" cap="none" spc="0" normalizeH="0" baseline="0" noProof="0" smtClean="0">
                        <a:ln>
                          <a:noFill/>
                        </a:ln>
                        <a:solidFill>
                          <a:prstClr val="white"/>
                        </a:solidFill>
                        <a:effectLst/>
                        <a:uLnTx/>
                        <a:uFillTx/>
                        <a:latin typeface="Cambria Math" panose="02040503050406030204" pitchFamily="18" charset="0"/>
                        <a:ea typeface="+mj-ea"/>
                        <a:cs typeface="+mj-cs"/>
                      </a:rPr>
                      <m:t>𝑠</m:t>
                    </m:r>
                  </m:oMath>
                </a14:m>
                <a:endParaRPr lang="en-US" dirty="0"/>
              </a:p>
              <a:p>
                <a:pPr marL="0" indent="0" algn="r">
                  <a:buNone/>
                </a:pPr>
                <a:r>
                  <a:rPr lang="en-US" dirty="0"/>
                  <a:t>Frictional losses in pipe, </a:t>
                </a:r>
                <a14:m>
                  <m:oMath xmlns:m="http://schemas.openxmlformats.org/officeDocument/2006/math">
                    <m:r>
                      <a:rPr lang="en-US" b="0" i="1" smtClean="0">
                        <a:latin typeface="Cambria Math" panose="02040503050406030204" pitchFamily="18" charset="0"/>
                      </a:rPr>
                      <m:t>h</m:t>
                    </m:r>
                    <m:r>
                      <a:rPr lang="en-US" b="0" i="1" baseline="-25000" smtClean="0">
                        <a:latin typeface="Cambria Math" panose="02040503050406030204" pitchFamily="18" charset="0"/>
                      </a:rPr>
                      <m:t>𝑓</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𝑓𝑙𝑣</m:t>
                        </m:r>
                        <m:r>
                          <a:rPr lang="en-US" b="0" i="1" baseline="30000" smtClean="0">
                            <a:latin typeface="Cambria Math" panose="02040503050406030204" pitchFamily="18" charset="0"/>
                          </a:rPr>
                          <m:t>2</m:t>
                        </m:r>
                      </m:num>
                      <m:den>
                        <m:r>
                          <a:rPr lang="en-US" b="0" i="1" smtClean="0">
                            <a:latin typeface="Cambria Math" panose="02040503050406030204" pitchFamily="18" charset="0"/>
                          </a:rPr>
                          <m:t>2</m:t>
                        </m:r>
                        <m:r>
                          <a:rPr lang="en-US" b="0" i="1" smtClean="0">
                            <a:latin typeface="Cambria Math" panose="02040503050406030204" pitchFamily="18" charset="0"/>
                          </a:rPr>
                          <m:t>𝑔𝑑</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0.01∗200∗1</m:t>
                        </m:r>
                        <m:r>
                          <a:rPr lang="en-US" b="0" i="1" baseline="30000" smtClean="0">
                            <a:latin typeface="Cambria Math" panose="02040503050406030204" pitchFamily="18" charset="0"/>
                          </a:rPr>
                          <m:t>2</m:t>
                        </m:r>
                      </m:num>
                      <m:den>
                        <m:r>
                          <a:rPr lang="en-US" b="0" i="1" smtClean="0">
                            <a:latin typeface="Cambria Math" panose="02040503050406030204" pitchFamily="18" charset="0"/>
                          </a:rPr>
                          <m:t>2∗9.81∗0.54</m:t>
                        </m:r>
                      </m:den>
                    </m:f>
                    <m:r>
                      <a:rPr lang="en-US" b="0" i="1" smtClean="0">
                        <a:latin typeface="Cambria Math" panose="02040503050406030204" pitchFamily="18" charset="0"/>
                      </a:rPr>
                      <m:t>=0.19 </m:t>
                    </m:r>
                    <m:r>
                      <a:rPr lang="en-US" b="0" i="1" smtClean="0">
                        <a:latin typeface="Cambria Math" panose="02040503050406030204" pitchFamily="18" charset="0"/>
                      </a:rPr>
                      <m:t>𝑚</m:t>
                    </m:r>
                  </m:oMath>
                </a14:m>
                <a:r>
                  <a:rPr lang="en-US" b="0" dirty="0"/>
                  <a:t>                           </a:t>
                </a:r>
                <a:r>
                  <a:rPr lang="en-US" sz="1700" b="0" dirty="0"/>
                  <a:t> </a:t>
                </a:r>
                <a:r>
                  <a:rPr lang="en-US" sz="1600" b="0" dirty="0"/>
                  <a:t>(Assuming </a:t>
                </a:r>
                <a14:m>
                  <m:oMath xmlns:m="http://schemas.openxmlformats.org/officeDocument/2006/math">
                    <m:r>
                      <a:rPr lang="en-US" sz="1600" b="0" i="1" dirty="0" smtClean="0">
                        <a:latin typeface="Cambria Math" panose="02040503050406030204" pitchFamily="18" charset="0"/>
                      </a:rPr>
                      <m:t>𝑓</m:t>
                    </m:r>
                    <m:r>
                      <a:rPr lang="en-US" sz="1600" b="0" i="1" dirty="0" smtClean="0">
                        <a:latin typeface="Cambria Math" panose="02040503050406030204" pitchFamily="18" charset="0"/>
                      </a:rPr>
                      <m:t>=0.01</m:t>
                    </m:r>
                  </m:oMath>
                </a14:m>
                <a:r>
                  <a:rPr lang="en-US" sz="1600" b="0" dirty="0"/>
                  <a:t>)</a:t>
                </a:r>
              </a:p>
              <a:p>
                <a:pPr marL="0" indent="0">
                  <a:buNone/>
                </a:pPr>
                <a:r>
                  <a:rPr lang="en-IN" dirty="0"/>
                  <a:t>Assuming losses in bends, etc. = 0.5 m </a:t>
                </a:r>
              </a:p>
              <a:p>
                <a:pPr marL="0" indent="0">
                  <a:buNone/>
                </a:pPr>
                <a:r>
                  <a:rPr lang="en-IN" dirty="0"/>
                  <a:t>Total Head, </a:t>
                </a: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𝑃𝑢𝑚𝑝𝑖𝑛𝑔</m:t>
                    </m:r>
                    <m:r>
                      <a:rPr lang="en-US" b="0" i="1" smtClean="0">
                        <a:latin typeface="Cambria Math" panose="02040503050406030204" pitchFamily="18" charset="0"/>
                      </a:rPr>
                      <m:t> </m:t>
                    </m:r>
                    <m:r>
                      <a:rPr lang="en-US" b="0" i="1" smtClean="0">
                        <a:latin typeface="Cambria Math" panose="02040503050406030204" pitchFamily="18" charset="0"/>
                      </a:rPr>
                      <m:t>𝐻𝑒𝑎𝑑</m:t>
                    </m:r>
                    <m:r>
                      <a:rPr lang="en-US" b="0" i="1" smtClean="0">
                        <a:latin typeface="Cambria Math" panose="02040503050406030204" pitchFamily="18" charset="0"/>
                      </a:rPr>
                      <m:t>+</m:t>
                    </m:r>
                    <m:r>
                      <a:rPr lang="en-US" b="0" i="1" smtClean="0">
                        <a:latin typeface="Cambria Math" panose="02040503050406030204" pitchFamily="18" charset="0"/>
                      </a:rPr>
                      <m:t>𝐻𝑒𝑎𝑑</m:t>
                    </m:r>
                    <m:r>
                      <a:rPr lang="en-US" b="0" i="1" smtClean="0">
                        <a:latin typeface="Cambria Math" panose="02040503050406030204" pitchFamily="18" charset="0"/>
                      </a:rPr>
                      <m:t> </m:t>
                    </m:r>
                    <m:r>
                      <a:rPr lang="en-US" b="0" i="1" smtClean="0">
                        <a:latin typeface="Cambria Math" panose="02040503050406030204" pitchFamily="18" charset="0"/>
                      </a:rPr>
                      <m:t>𝑙𝑜𝑠𝑠𝑒𝑠</m:t>
                    </m:r>
                  </m:oMath>
                </a14:m>
                <a:endParaRPr lang="en-IN" dirty="0"/>
              </a:p>
              <a:p>
                <a:pPr marL="0" indent="0">
                  <a:buNone/>
                </a:pPr>
                <a:r>
                  <a:rPr lang="en-IN" dirty="0"/>
                  <a:t>Assuming sewage is to pumped against a head of 8 m,</a:t>
                </a:r>
              </a:p>
              <a:p>
                <a:pPr marL="0" indent="0">
                  <a:buNone/>
                </a:pPr>
                <a:r>
                  <a:rPr lang="en-IN" dirty="0"/>
                  <a:t>          </a:t>
                </a: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=8+0.19+0.5=8.69 </m:t>
                    </m:r>
                    <m:r>
                      <a:rPr lang="en-US" b="0" i="1" smtClean="0">
                        <a:latin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≅9 </m:t>
                    </m:r>
                    <m:r>
                      <a:rPr lang="en-US" b="0" i="1" smtClean="0">
                        <a:latin typeface="Cambria Math" panose="02040503050406030204" pitchFamily="18" charset="0"/>
                        <a:ea typeface="Cambria Math" panose="02040503050406030204" pitchFamily="18" charset="0"/>
                      </a:rPr>
                      <m:t>𝑚</m:t>
                    </m:r>
                  </m:oMath>
                </a14:m>
                <a:r>
                  <a:rPr lang="en-IN" dirty="0"/>
                  <a:t> </a:t>
                </a:r>
              </a:p>
              <a:p>
                <a:pPr marL="0" indent="0">
                  <a:buNone/>
                </a:pPr>
                <a:r>
                  <a:rPr lang="en-IN" dirty="0"/>
                  <a:t>Power required </a:t>
                </a: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𝑊</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𝐻</m:t>
                        </m:r>
                      </m:num>
                      <m:den>
                        <m:r>
                          <a:rPr lang="en-US" b="0" i="1" smtClean="0">
                            <a:latin typeface="Cambria Math" panose="02040503050406030204" pitchFamily="18" charset="0"/>
                          </a:rPr>
                          <m:t>75∗</m:t>
                        </m:r>
                        <m:r>
                          <a:rPr lang="en-US" b="0" i="1" smtClean="0">
                            <a:latin typeface="Cambria Math" panose="02040503050406030204" pitchFamily="18" charset="0"/>
                            <a:ea typeface="Cambria Math" panose="02040503050406030204" pitchFamily="18" charset="0"/>
                          </a:rPr>
                          <m:t>𝜂</m:t>
                        </m:r>
                        <m:r>
                          <a:rPr lang="en-US" b="0" i="1" baseline="-25000"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𝜂</m:t>
                        </m:r>
                        <m:r>
                          <a:rPr lang="en-US" b="0" i="1" baseline="-25000" smtClean="0">
                            <a:latin typeface="Cambria Math" panose="02040503050406030204" pitchFamily="18" charset="0"/>
                            <a:ea typeface="Cambria Math" panose="02040503050406030204" pitchFamily="18" charset="0"/>
                          </a:rPr>
                          <m:t>𝑚</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1000∗0.116∗9</m:t>
                        </m:r>
                      </m:num>
                      <m:den>
                        <m:r>
                          <a:rPr lang="en-US" b="0" i="1" smtClean="0">
                            <a:latin typeface="Cambria Math" panose="02040503050406030204" pitchFamily="18" charset="0"/>
                          </a:rPr>
                          <m:t>75∗0.7∗0.8</m:t>
                        </m:r>
                      </m:den>
                    </m:f>
                    <m:r>
                      <a:rPr lang="en-US" b="0" i="0" smtClean="0">
                        <a:latin typeface="Cambria Math" panose="02040503050406030204" pitchFamily="18" charset="0"/>
                      </a:rPr>
                      <m:t>=24.8 </m:t>
                    </m:r>
                    <m:r>
                      <m:rPr>
                        <m:sty m:val="p"/>
                      </m:rPr>
                      <a:rPr lang="en-US" b="0" i="0" smtClean="0">
                        <a:latin typeface="Cambria Math" panose="02040503050406030204" pitchFamily="18" charset="0"/>
                      </a:rPr>
                      <m:t>BHP</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25 </m:t>
                    </m:r>
                    <m:r>
                      <a:rPr lang="en-US" b="0" i="1" smtClean="0">
                        <a:latin typeface="Cambria Math" panose="02040503050406030204" pitchFamily="18" charset="0"/>
                        <a:ea typeface="Cambria Math" panose="02040503050406030204" pitchFamily="18" charset="0"/>
                      </a:rPr>
                      <m:t>𝐵𝐻𝑃</m:t>
                    </m:r>
                  </m:oMath>
                </a14:m>
                <a:r>
                  <a:rPr lang="en-US" sz="1700" b="0" dirty="0"/>
                  <a:t>   </a:t>
                </a:r>
                <a:r>
                  <a:rPr lang="en-US" sz="1600" b="0" dirty="0"/>
                  <a:t>(Assuming </a:t>
                </a:r>
                <a14:m>
                  <m:oMath xmlns:m="http://schemas.openxmlformats.org/officeDocument/2006/math">
                    <m:r>
                      <a:rPr lang="en-US" sz="1600" b="0" i="1" smtClean="0">
                        <a:latin typeface="Cambria Math" panose="02040503050406030204" pitchFamily="18" charset="0"/>
                        <a:ea typeface="Cambria Math" panose="02040503050406030204" pitchFamily="18" charset="0"/>
                      </a:rPr>
                      <m:t>𝜂</m:t>
                    </m:r>
                    <m:r>
                      <a:rPr lang="en-US" sz="1600" b="0" i="1" baseline="-25000" smtClean="0">
                        <a:latin typeface="Cambria Math" panose="02040503050406030204" pitchFamily="18" charset="0"/>
                        <a:ea typeface="Cambria Math" panose="02040503050406030204" pitchFamily="18" charset="0"/>
                      </a:rPr>
                      <m:t>𝑝</m:t>
                    </m:r>
                    <m:r>
                      <a:rPr lang="en-US" sz="1600" b="0" i="1" smtClean="0">
                        <a:latin typeface="Cambria Math" panose="02040503050406030204" pitchFamily="18" charset="0"/>
                        <a:ea typeface="Cambria Math" panose="02040503050406030204" pitchFamily="18" charset="0"/>
                      </a:rPr>
                      <m:t>=70%,  </m:t>
                    </m:r>
                    <m:r>
                      <a:rPr lang="en-US" sz="1600" b="0" i="1" smtClean="0">
                        <a:latin typeface="Cambria Math" panose="02040503050406030204" pitchFamily="18" charset="0"/>
                        <a:ea typeface="Cambria Math" panose="02040503050406030204" pitchFamily="18" charset="0"/>
                      </a:rPr>
                      <m:t>𝜂</m:t>
                    </m:r>
                    <m:r>
                      <a:rPr lang="en-US" sz="1600" b="0" i="1" baseline="-25000" smtClean="0">
                        <a:latin typeface="Cambria Math" panose="02040503050406030204" pitchFamily="18" charset="0"/>
                        <a:ea typeface="Cambria Math" panose="02040503050406030204" pitchFamily="18" charset="0"/>
                      </a:rPr>
                      <m:t>𝑚</m:t>
                    </m:r>
                    <m:r>
                      <a:rPr lang="en-US" sz="1600" b="0" i="1" smtClean="0">
                        <a:latin typeface="Cambria Math" panose="02040503050406030204" pitchFamily="18" charset="0"/>
                        <a:ea typeface="Cambria Math" panose="02040503050406030204" pitchFamily="18" charset="0"/>
                      </a:rPr>
                      <m:t>=80%</m:t>
                    </m:r>
                  </m:oMath>
                </a14:m>
                <a:r>
                  <a:rPr lang="en-US" sz="1600" b="0" dirty="0"/>
                  <a:t>)</a:t>
                </a:r>
              </a:p>
              <a:p>
                <a:pPr marL="0" indent="0">
                  <a:buNone/>
                </a:pPr>
                <a:r>
                  <a:rPr lang="en-US" dirty="0"/>
                  <a:t>Total Power required </a:t>
                </a:r>
                <a14:m>
                  <m:oMath xmlns:m="http://schemas.openxmlformats.org/officeDocument/2006/math">
                    <m:r>
                      <a:rPr lang="en-US" b="0" i="1" smtClean="0">
                        <a:latin typeface="Cambria Math" panose="02040503050406030204" pitchFamily="18" charset="0"/>
                      </a:rPr>
                      <m:t>=2∗25=50 </m:t>
                    </m:r>
                    <m:r>
                      <a:rPr lang="en-US" b="0" i="1" smtClean="0">
                        <a:latin typeface="Cambria Math" panose="02040503050406030204" pitchFamily="18" charset="0"/>
                      </a:rPr>
                      <m:t>𝐵𝐻𝑃</m:t>
                    </m:r>
                  </m:oMath>
                </a14:m>
                <a:endParaRPr lang="en-US" b="0" dirty="0"/>
              </a:p>
              <a:p>
                <a:pPr marL="0" indent="0">
                  <a:buNone/>
                </a:pPr>
                <a:r>
                  <a:rPr lang="en-US" b="0" dirty="0"/>
                  <a:t>Provide 3(2W+1S) pumps, each of 25 BHP for each well.</a:t>
                </a:r>
              </a:p>
            </p:txBody>
          </p:sp>
        </mc:Choice>
        <mc:Fallback xmlns="">
          <p:sp>
            <p:nvSpPr>
              <p:cNvPr id="3" name="Content Placeholder 2">
                <a:extLst>
                  <a:ext uri="{FF2B5EF4-FFF2-40B4-BE49-F238E27FC236}">
                    <a16:creationId xmlns:a16="http://schemas.microsoft.com/office/drawing/2014/main" id="{B2FFCD1F-86B6-B2AE-909B-BD7FA3A0BB58}"/>
                  </a:ext>
                </a:extLst>
              </p:cNvPr>
              <p:cNvSpPr>
                <a:spLocks noGrp="1" noRot="1" noChangeAspect="1" noMove="1" noResize="1" noEditPoints="1" noAdjustHandles="1" noChangeArrowheads="1" noChangeShapeType="1" noTextEdit="1"/>
              </p:cNvSpPr>
              <p:nvPr>
                <p:ph idx="1"/>
              </p:nvPr>
            </p:nvSpPr>
            <p:spPr>
              <a:xfrm>
                <a:off x="995423" y="1724627"/>
                <a:ext cx="10428790" cy="4965539"/>
              </a:xfrm>
              <a:blipFill>
                <a:blip r:embed="rId2"/>
                <a:stretch>
                  <a:fillRect l="-584" t="-1351" r="-351"/>
                </a:stretch>
              </a:blipFill>
            </p:spPr>
            <p:txBody>
              <a:bodyPr/>
              <a:lstStyle/>
              <a:p>
                <a:r>
                  <a:rPr lang="en-IN">
                    <a:noFill/>
                  </a:rPr>
                  <a:t> </a:t>
                </a:r>
              </a:p>
            </p:txBody>
          </p:sp>
        </mc:Fallback>
      </mc:AlternateContent>
    </p:spTree>
    <p:extLst>
      <p:ext uri="{BB962C8B-B14F-4D97-AF65-F5344CB8AC3E}">
        <p14:creationId xmlns:p14="http://schemas.microsoft.com/office/powerpoint/2010/main" val="2704762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C4A5B-9210-CB7D-C019-E84542022917}"/>
              </a:ext>
            </a:extLst>
          </p:cNvPr>
          <p:cNvSpPr>
            <a:spLocks noGrp="1"/>
          </p:cNvSpPr>
          <p:nvPr>
            <p:ph type="title"/>
          </p:nvPr>
        </p:nvSpPr>
        <p:spPr/>
        <p:txBody>
          <a:bodyPr/>
          <a:lstStyle/>
          <a:p>
            <a:r>
              <a:rPr lang="en-US" dirty="0"/>
              <a:t>Design of Power House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68BBDC-3263-75EB-572D-2B2613E596F4}"/>
                  </a:ext>
                </a:extLst>
              </p:cNvPr>
              <p:cNvSpPr>
                <a:spLocks noGrp="1"/>
              </p:cNvSpPr>
              <p:nvPr>
                <p:ph idx="1"/>
              </p:nvPr>
            </p:nvSpPr>
            <p:spPr>
              <a:xfrm>
                <a:off x="1103312" y="2052918"/>
                <a:ext cx="10174288" cy="4195481"/>
              </a:xfrm>
            </p:spPr>
            <p:txBody>
              <a:bodyPr/>
              <a:lstStyle/>
              <a:p>
                <a:r>
                  <a:rPr lang="en-US" u="sng" dirty="0"/>
                  <a:t>Design of Suction Pipe</a:t>
                </a:r>
                <a:r>
                  <a:rPr lang="en-US" dirty="0"/>
                  <a:t>:</a:t>
                </a:r>
              </a:p>
              <a:p>
                <a:pPr marL="0" indent="0">
                  <a:buNone/>
                </a:pPr>
                <a:r>
                  <a:rPr lang="en-US" dirty="0"/>
                  <a:t>Max. flow in the pipe for each wet well </a:t>
                </a:r>
                <a14:m>
                  <m:oMath xmlns:m="http://schemas.openxmlformats.org/officeDocument/2006/math">
                    <m:r>
                      <a:rPr lang="en-US" i="1" dirty="0" smtClean="0">
                        <a:latin typeface="Cambria Math" panose="02040503050406030204" pitchFamily="18" charset="0"/>
                      </a:rPr>
                      <m:t>=0.116</m:t>
                    </m:r>
                    <m:r>
                      <a:rPr lang="en-US" b="0" i="1" dirty="0" smtClean="0">
                        <a:latin typeface="Cambria Math" panose="02040503050406030204" pitchFamily="18" charset="0"/>
                      </a:rPr>
                      <m:t> </m:t>
                    </m:r>
                    <m:r>
                      <a:rPr lang="en-US" i="1" dirty="0" smtClean="0">
                        <a:latin typeface="Cambria Math" panose="02040503050406030204" pitchFamily="18" charset="0"/>
                      </a:rPr>
                      <m:t>𝑚</m:t>
                    </m:r>
                    <m:r>
                      <a:rPr lang="en-US" i="1" baseline="30000" dirty="0" smtClean="0">
                        <a:latin typeface="Cambria Math" panose="02040503050406030204" pitchFamily="18" charset="0"/>
                      </a:rPr>
                      <m:t>3</m:t>
                    </m:r>
                    <m:r>
                      <a:rPr lang="en-US" i="1" dirty="0" smtClean="0">
                        <a:latin typeface="Cambria Math" panose="02040503050406030204" pitchFamily="18" charset="0"/>
                      </a:rPr>
                      <m:t>/</m:t>
                    </m:r>
                    <m:r>
                      <a:rPr lang="en-US" i="1" dirty="0">
                        <a:latin typeface="Cambria Math" panose="02040503050406030204" pitchFamily="18" charset="0"/>
                      </a:rPr>
                      <m:t>𝑠</m:t>
                    </m:r>
                  </m:oMath>
                </a14:m>
                <a:endParaRPr lang="en-IN" dirty="0"/>
              </a:p>
              <a:p>
                <a:pPr marL="0" indent="0">
                  <a:buNone/>
                </a:pPr>
                <a:r>
                  <a:rPr lang="en-IN" dirty="0"/>
                  <a:t>Assuming velocity of flow in the pipe, </a:t>
                </a:r>
                <a14:m>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rPr>
                      <m:t>=1 </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𝑠</m:t>
                    </m:r>
                  </m:oMath>
                </a14:m>
                <a:r>
                  <a:rPr lang="en-IN" dirty="0"/>
                  <a:t>, the cross sectional area of the intake pipe, </a:t>
                </a:r>
                <a14:m>
                  <m:oMath xmlns:m="http://schemas.openxmlformats.org/officeDocument/2006/math">
                    <m:r>
                      <a:rPr lang="en-IN" i="1" dirty="0" smtClean="0">
                        <a:latin typeface="Cambria Math" panose="02040503050406030204" pitchFamily="18" charset="0"/>
                      </a:rPr>
                      <m:t>𝐴</m:t>
                    </m:r>
                    <m:r>
                      <a:rPr lang="en-US" b="0" i="1" baseline="-25000" dirty="0" smtClean="0">
                        <a:latin typeface="Cambria Math" panose="02040503050406030204" pitchFamily="18" charset="0"/>
                      </a:rPr>
                      <m:t>𝑥</m:t>
                    </m:r>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0.116</m:t>
                        </m:r>
                      </m:num>
                      <m:den>
                        <m:r>
                          <a:rPr lang="en-US" b="0" i="1" dirty="0" smtClean="0">
                            <a:latin typeface="Cambria Math" panose="02040503050406030204" pitchFamily="18" charset="0"/>
                          </a:rPr>
                          <m:t>1</m:t>
                        </m:r>
                      </m:den>
                    </m:f>
                    <m:r>
                      <a:rPr lang="en-US" b="0" i="1" dirty="0" smtClean="0">
                        <a:latin typeface="Cambria Math" panose="02040503050406030204" pitchFamily="18" charset="0"/>
                      </a:rPr>
                      <m:t>=0.116 </m:t>
                    </m:r>
                    <m:r>
                      <a:rPr lang="en-US" b="0" i="1" dirty="0" smtClean="0">
                        <a:latin typeface="Cambria Math" panose="02040503050406030204" pitchFamily="18" charset="0"/>
                      </a:rPr>
                      <m:t>𝑚</m:t>
                    </m:r>
                    <m:r>
                      <a:rPr lang="en-US" b="0" i="1" baseline="30000" dirty="0" smtClean="0">
                        <a:latin typeface="Cambria Math" panose="02040503050406030204" pitchFamily="18" charset="0"/>
                      </a:rPr>
                      <m:t>2</m:t>
                    </m:r>
                  </m:oMath>
                </a14:m>
                <a:endParaRPr lang="en-IN" baseline="30000" dirty="0"/>
              </a:p>
              <a:p>
                <a:pPr marL="0" indent="0">
                  <a:buNone/>
                </a:pPr>
                <a:r>
                  <a:rPr lang="en-IN" dirty="0"/>
                  <a:t>Diameter of suction or inlet pipe, </a:t>
                </a:r>
                <a14:m>
                  <m:oMath xmlns:m="http://schemas.openxmlformats.org/officeDocument/2006/math">
                    <m:r>
                      <a:rPr lang="en-IN" i="1" dirty="0" smtClean="0">
                        <a:latin typeface="Cambria Math" panose="02040503050406030204" pitchFamily="18" charset="0"/>
                      </a:rPr>
                      <m:t>𝑑</m:t>
                    </m:r>
                    <m:r>
                      <a:rPr lang="en-IN" i="1" baseline="-25000" dirty="0" smtClean="0">
                        <a:latin typeface="Cambria Math" panose="02040503050406030204" pitchFamily="18" charset="0"/>
                      </a:rPr>
                      <m:t>𝑖𝑛</m:t>
                    </m:r>
                    <m:r>
                      <a:rPr lang="en-IN" i="1" dirty="0" smtClean="0">
                        <a:latin typeface="Cambria Math" panose="02040503050406030204" pitchFamily="18" charset="0"/>
                      </a:rPr>
                      <m:t>=</m:t>
                    </m:r>
                    <m:rad>
                      <m:radPr>
                        <m:degHide m:val="on"/>
                        <m:ctrlPr>
                          <a:rPr lang="en-IN" b="0" i="1" dirty="0" smtClean="0">
                            <a:latin typeface="Cambria Math" panose="02040503050406030204" pitchFamily="18" charset="0"/>
                            <a:ea typeface="Cambria Math" panose="02040503050406030204" pitchFamily="18" charset="0"/>
                          </a:rPr>
                        </m:ctrlPr>
                      </m:radPr>
                      <m:deg/>
                      <m:e>
                        <m:r>
                          <a:rPr lang="en-US" b="0" i="1" dirty="0" smtClean="0">
                            <a:latin typeface="Cambria Math" panose="02040503050406030204" pitchFamily="18" charset="0"/>
                            <a:ea typeface="Cambria Math" panose="02040503050406030204" pitchFamily="18" charset="0"/>
                          </a:rPr>
                          <m:t>4∗0.116/</m:t>
                        </m:r>
                        <m:r>
                          <a:rPr lang="en-US" b="0" i="1" dirty="0" smtClean="0">
                            <a:latin typeface="Cambria Math" panose="02040503050406030204" pitchFamily="18" charset="0"/>
                            <a:ea typeface="Cambria Math" panose="02040503050406030204" pitchFamily="18" charset="0"/>
                          </a:rPr>
                          <m:t>𝜋</m:t>
                        </m:r>
                      </m:e>
                    </m:rad>
                    <m:r>
                      <a:rPr lang="en-US" b="0" i="1" dirty="0" smtClean="0">
                        <a:latin typeface="Cambria Math" panose="02040503050406030204" pitchFamily="18" charset="0"/>
                        <a:ea typeface="Cambria Math" panose="02040503050406030204" pitchFamily="18" charset="0"/>
                      </a:rPr>
                      <m:t>=0.38 </m:t>
                    </m:r>
                    <m:r>
                      <a:rPr lang="en-US" b="0" i="1" dirty="0" smtClean="0">
                        <a:latin typeface="Cambria Math" panose="02040503050406030204" pitchFamily="18" charset="0"/>
                        <a:ea typeface="Cambria Math" panose="02040503050406030204" pitchFamily="18" charset="0"/>
                      </a:rPr>
                      <m:t>𝑚</m:t>
                    </m:r>
                    <m:r>
                      <a:rPr lang="en-US" b="0" i="1" dirty="0" smtClean="0">
                        <a:latin typeface="Cambria Math" panose="02040503050406030204" pitchFamily="18" charset="0"/>
                        <a:ea typeface="Cambria Math" panose="02040503050406030204" pitchFamily="18" charset="0"/>
                      </a:rPr>
                      <m:t> ~ 0.4 </m:t>
                    </m:r>
                    <m:r>
                      <a:rPr lang="en-US" b="0" i="1" dirty="0" smtClean="0">
                        <a:latin typeface="Cambria Math" panose="02040503050406030204" pitchFamily="18" charset="0"/>
                        <a:ea typeface="Cambria Math" panose="02040503050406030204" pitchFamily="18" charset="0"/>
                      </a:rPr>
                      <m:t>𝑚</m:t>
                    </m:r>
                  </m:oMath>
                </a14:m>
                <a:endParaRPr lang="en-IN" dirty="0"/>
              </a:p>
              <a:p>
                <a:pPr marL="0" indent="0">
                  <a:buNone/>
                </a:pPr>
                <a:r>
                  <a:rPr lang="en-IN" dirty="0"/>
                  <a:t>Provide 400 mm diameter pipes.</a:t>
                </a:r>
              </a:p>
              <a:p>
                <a:pPr marL="0" indent="0">
                  <a:buNone/>
                </a:pPr>
                <a:endParaRPr lang="en-IN" dirty="0"/>
              </a:p>
              <a:p>
                <a:r>
                  <a:rPr lang="en-IN" dirty="0"/>
                  <a:t>Approximate length of pump house </a:t>
                </a:r>
                <a14:m>
                  <m:oMath xmlns:m="http://schemas.openxmlformats.org/officeDocument/2006/math">
                    <m:r>
                      <a:rPr lang="en-US" b="0" i="1" smtClean="0">
                        <a:latin typeface="Cambria Math" panose="02040503050406030204" pitchFamily="18" charset="0"/>
                      </a:rPr>
                      <m:t>=7.2+7.2+7.2</m:t>
                    </m:r>
                    <m:r>
                      <a:rPr lang="en-US" b="0" i="1" smtClean="0">
                        <a:latin typeface="Cambria Math" panose="02040503050406030204" pitchFamily="18" charset="0"/>
                        <a:ea typeface="Cambria Math" panose="02040503050406030204" pitchFamily="18" charset="0"/>
                      </a:rPr>
                      <m:t>≅25 </m:t>
                    </m:r>
                    <m:r>
                      <a:rPr lang="en-US" b="0" i="1" smtClean="0">
                        <a:latin typeface="Cambria Math" panose="02040503050406030204" pitchFamily="18" charset="0"/>
                        <a:ea typeface="Cambria Math" panose="02040503050406030204" pitchFamily="18" charset="0"/>
                      </a:rPr>
                      <m:t>𝑚</m:t>
                    </m:r>
                  </m:oMath>
                </a14:m>
                <a:endParaRPr lang="en-US" b="0" dirty="0">
                  <a:ea typeface="Cambria Math" panose="02040503050406030204" pitchFamily="18" charset="0"/>
                </a:endParaRPr>
              </a:p>
              <a:p>
                <a:r>
                  <a:rPr lang="en-IN" dirty="0"/>
                  <a:t>Approximate width of pump house </a:t>
                </a:r>
                <a14:m>
                  <m:oMath xmlns:m="http://schemas.openxmlformats.org/officeDocument/2006/math">
                    <m:r>
                      <a:rPr lang="en-US" b="0" i="1" smtClean="0">
                        <a:latin typeface="Cambria Math" panose="02040503050406030204" pitchFamily="18" charset="0"/>
                      </a:rPr>
                      <m:t>=7.2+7.2+5</m:t>
                    </m:r>
                    <m:r>
                      <a:rPr lang="en-US" b="0" i="1" smtClean="0">
                        <a:latin typeface="Cambria Math" panose="02040503050406030204" pitchFamily="18" charset="0"/>
                        <a:ea typeface="Cambria Math" panose="02040503050406030204" pitchFamily="18" charset="0"/>
                      </a:rPr>
                      <m:t>≅20 </m:t>
                    </m:r>
                    <m:r>
                      <a:rPr lang="en-US" b="0" i="1" smtClean="0">
                        <a:latin typeface="Cambria Math" panose="02040503050406030204" pitchFamily="18" charset="0"/>
                        <a:ea typeface="Cambria Math" panose="02040503050406030204" pitchFamily="18" charset="0"/>
                      </a:rPr>
                      <m:t>𝑚</m:t>
                    </m:r>
                  </m:oMath>
                </a14:m>
                <a:endParaRPr lang="en-IN" dirty="0"/>
              </a:p>
            </p:txBody>
          </p:sp>
        </mc:Choice>
        <mc:Fallback xmlns="">
          <p:sp>
            <p:nvSpPr>
              <p:cNvPr id="3" name="Content Placeholder 2">
                <a:extLst>
                  <a:ext uri="{FF2B5EF4-FFF2-40B4-BE49-F238E27FC236}">
                    <a16:creationId xmlns:a16="http://schemas.microsoft.com/office/drawing/2014/main" id="{1A68BBDC-3263-75EB-572D-2B2613E596F4}"/>
                  </a:ext>
                </a:extLst>
              </p:cNvPr>
              <p:cNvSpPr>
                <a:spLocks noGrp="1" noRot="1" noChangeAspect="1" noMove="1" noResize="1" noEditPoints="1" noAdjustHandles="1" noChangeArrowheads="1" noChangeShapeType="1" noTextEdit="1"/>
              </p:cNvSpPr>
              <p:nvPr>
                <p:ph idx="1"/>
              </p:nvPr>
            </p:nvSpPr>
            <p:spPr>
              <a:xfrm>
                <a:off x="1103312" y="2052918"/>
                <a:ext cx="10174288" cy="4195481"/>
              </a:xfrm>
              <a:blipFill>
                <a:blip r:embed="rId2"/>
                <a:stretch>
                  <a:fillRect l="-659" t="-872"/>
                </a:stretch>
              </a:blipFill>
            </p:spPr>
            <p:txBody>
              <a:bodyPr/>
              <a:lstStyle/>
              <a:p>
                <a:r>
                  <a:rPr lang="en-IN">
                    <a:noFill/>
                  </a:rPr>
                  <a:t> </a:t>
                </a:r>
              </a:p>
            </p:txBody>
          </p:sp>
        </mc:Fallback>
      </mc:AlternateContent>
    </p:spTree>
    <p:extLst>
      <p:ext uri="{BB962C8B-B14F-4D97-AF65-F5344CB8AC3E}">
        <p14:creationId xmlns:p14="http://schemas.microsoft.com/office/powerpoint/2010/main" val="3121800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E0263-219E-8491-D747-7C96D24D86EA}"/>
              </a:ext>
            </a:extLst>
          </p:cNvPr>
          <p:cNvSpPr>
            <a:spLocks noGrp="1"/>
          </p:cNvSpPr>
          <p:nvPr>
            <p:ph type="title"/>
          </p:nvPr>
        </p:nvSpPr>
        <p:spPr/>
        <p:txBody>
          <a:bodyPr/>
          <a:lstStyle/>
          <a:p>
            <a:r>
              <a:rPr lang="en-IN" dirty="0"/>
              <a:t>DESIGN OF APPROACH  CHANNEL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8297A2-A481-68D3-5035-D3D1FDD25F8D}"/>
                  </a:ext>
                </a:extLst>
              </p:cNvPr>
              <p:cNvSpPr>
                <a:spLocks noGrp="1"/>
              </p:cNvSpPr>
              <p:nvPr>
                <p:ph idx="1"/>
              </p:nvPr>
            </p:nvSpPr>
            <p:spPr>
              <a:xfrm>
                <a:off x="945662" y="1713053"/>
                <a:ext cx="9925538" cy="4765901"/>
              </a:xfrm>
            </p:spPr>
            <p:txBody>
              <a:bodyPr>
                <a:normAutofit/>
              </a:bodyPr>
              <a:lstStyle/>
              <a:p>
                <a:pPr marL="0" indent="0">
                  <a:spcAft>
                    <a:spcPts val="1000"/>
                  </a:spcAft>
                  <a:buNone/>
                </a:pPr>
                <a:r>
                  <a:rPr lang="en-GB" dirty="0">
                    <a:effectLst/>
                    <a:latin typeface="+mn-lt"/>
                    <a:ea typeface="Calibri" panose="020F0502020204030204" pitchFamily="34" charset="0"/>
                    <a:cs typeface="Times New Roman" panose="02020603050405020304" pitchFamily="18" charset="0"/>
                  </a:rPr>
                  <a:t>Providing two channels in one unit </a:t>
                </a:r>
                <a:endParaRPr lang="en-IN" dirty="0">
                  <a:latin typeface="+mn-lt"/>
                  <a:ea typeface="Calibri" panose="020F0502020204030204" pitchFamily="34" charset="0"/>
                  <a:cs typeface="Times New Roman" panose="02020603050405020304" pitchFamily="18" charset="0"/>
                </a:endParaRPr>
              </a:p>
              <a:p>
                <a:pPr marL="0" indent="0">
                  <a:spcAft>
                    <a:spcPts val="1000"/>
                  </a:spcAft>
                  <a:buNone/>
                </a:pPr>
                <a14:m>
                  <m:oMathPara xmlns:m="http://schemas.openxmlformats.org/officeDocument/2006/math">
                    <m:oMathParaPr>
                      <m:jc m:val="left"/>
                    </m:oMathParaPr>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𝑄</m:t>
                      </m:r>
                      <m:r>
                        <a:rPr lang="en-GB" i="1" baseline="-25000" dirty="0" err="1" smtClean="0">
                          <a:effectLst/>
                          <a:latin typeface="Cambria Math" panose="02040503050406030204" pitchFamily="18" charset="0"/>
                          <a:ea typeface="Calibri" panose="020F0502020204030204" pitchFamily="34" charset="0"/>
                          <a:cs typeface="Times New Roman" panose="02020603050405020304" pitchFamily="18" charset="0"/>
                        </a:rPr>
                        <m:t>𝑚𝑎𝑥</m:t>
                      </m:r>
                      <m:r>
                        <a:rPr lang="en-GB" i="1" baseline="-25000"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=20/2=10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𝑀𝐿𝐷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=104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𝑑</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=0.116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m:t>
                      </m:r>
                    </m:oMath>
                  </m:oMathPara>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A</a:t>
                </a:r>
                <a:r>
                  <a:rPr lang="en-GB" baseline="-25000" dirty="0">
                    <a:effectLst/>
                    <a:latin typeface="+mn-lt"/>
                    <a:ea typeface="Calibri" panose="020F0502020204030204" pitchFamily="34" charset="0"/>
                    <a:cs typeface="Times New Roman" panose="02020603050405020304" pitchFamily="18" charset="0"/>
                  </a:rPr>
                  <a:t>x </a:t>
                </a:r>
                <a:r>
                  <a:rPr lang="en-GB" dirty="0">
                    <a:effectLst/>
                    <a:latin typeface="+mn-lt"/>
                    <a:ea typeface="Calibri" panose="020F0502020204030204" pitchFamily="34" charset="0"/>
                    <a:cs typeface="Times New Roman" panose="02020603050405020304" pitchFamily="18" charset="0"/>
                  </a:rPr>
                  <a:t>= </a:t>
                </a:r>
                <a14:m>
                  <m:oMath xmlns:m="http://schemas.openxmlformats.org/officeDocument/2006/math">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0.116</m:t>
                        </m:r>
                      </m:num>
                      <m:den>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=0.116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oMath>
                </a14:m>
                <a:r>
                  <a:rPr lang="en-US" i="1" baseline="30000" dirty="0">
                    <a:effectLst/>
                    <a:latin typeface="Cambria Math" panose="02040503050406030204" pitchFamily="18" charset="0"/>
                    <a:ea typeface="Calibri" panose="020F0502020204030204" pitchFamily="34" charset="0"/>
                    <a:cs typeface="Times New Roman" panose="02020603050405020304" pitchFamily="18" charset="0"/>
                  </a:rPr>
                  <a:t> </a:t>
                </a:r>
                <a:r>
                  <a:rPr lang="en-US" i="1" dirty="0">
                    <a:effectLst/>
                    <a:latin typeface="Cambria Math" panose="02040503050406030204" pitchFamily="18" charset="0"/>
                    <a:ea typeface="Calibri" panose="020F0502020204030204" pitchFamily="34" charset="0"/>
                    <a:cs typeface="Times New Roman" panose="02020603050405020304" pitchFamily="18" charset="0"/>
                  </a:rPr>
                  <a:t>                                                                    </a:t>
                </a:r>
                <a:r>
                  <a:rPr lang="en-US" sz="1600" dirty="0">
                    <a:effectLst/>
                    <a:latin typeface="Cambria Math" panose="02040503050406030204" pitchFamily="18" charset="0"/>
                    <a:ea typeface="Calibri" panose="020F0502020204030204" pitchFamily="34" charset="0"/>
                    <a:cs typeface="Times New Roman" panose="02020603050405020304" pitchFamily="18" charset="0"/>
                  </a:rPr>
                  <a:t>(</a:t>
                </a:r>
                <a:r>
                  <a:rPr lang="en-US" sz="1600" dirty="0">
                    <a:effectLst/>
                    <a:latin typeface="+mn-lt"/>
                    <a:ea typeface="Calibri" panose="020F0502020204030204" pitchFamily="34" charset="0"/>
                    <a:cs typeface="Times New Roman" panose="02020603050405020304" pitchFamily="18" charset="0"/>
                  </a:rPr>
                  <a:t>Assuming</a:t>
                </a:r>
                <a:r>
                  <a:rPr lang="en-US" sz="1600" dirty="0">
                    <a:effectLst/>
                    <a:latin typeface="Cambria Math" panose="02040503050406030204" pitchFamily="18" charset="0"/>
                    <a:ea typeface="Calibri" panose="020F0502020204030204" pitchFamily="34" charset="0"/>
                    <a:cs typeface="Times New Roman" panose="02020603050405020304" pitchFamily="18" charset="0"/>
                  </a:rPr>
                  <a:t> </a:t>
                </a:r>
                <a14:m>
                  <m:oMath xmlns:m="http://schemas.openxmlformats.org/officeDocument/2006/math">
                    <m:r>
                      <a:rPr lang="en-US" sz="1600" i="1" dirty="0" smtClean="0">
                        <a:effectLst/>
                        <a:latin typeface="Cambria Math" panose="02040503050406030204" pitchFamily="18" charset="0"/>
                        <a:ea typeface="Calibri" panose="020F0502020204030204" pitchFamily="34" charset="0"/>
                        <a:cs typeface="Times New Roman" panose="02020603050405020304" pitchFamily="18" charset="0"/>
                      </a:rPr>
                      <m:t>𝑣</m:t>
                    </m:r>
                    <m:r>
                      <a:rPr lang="en-US" sz="1600" i="1" dirty="0" smtClean="0">
                        <a:effectLst/>
                        <a:latin typeface="Cambria Math" panose="02040503050406030204" pitchFamily="18" charset="0"/>
                        <a:ea typeface="Calibri" panose="020F0502020204030204" pitchFamily="34" charset="0"/>
                        <a:cs typeface="Times New Roman" panose="02020603050405020304" pitchFamily="18" charset="0"/>
                      </a:rPr>
                      <m:t>=1 </m:t>
                    </m:r>
                    <m:r>
                      <a:rPr lang="en-US" sz="1600"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US" sz="160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1600" i="1" dirty="0" smtClean="0">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n-US" sz="1600" dirty="0">
                    <a:effectLst/>
                    <a:latin typeface="Cambria Math" panose="02040503050406030204" pitchFamily="18" charset="0"/>
                    <a:ea typeface="Calibri" panose="020F0502020204030204" pitchFamily="34" charset="0"/>
                    <a:cs typeface="Times New Roman" panose="02020603050405020304" pitchFamily="18" charset="0"/>
                  </a:rPr>
                  <a:t>)</a:t>
                </a:r>
                <a:endParaRPr lang="en-US" dirty="0">
                  <a:effectLst/>
                  <a:latin typeface="Cambria Math" panose="02040503050406030204" pitchFamily="18" charset="0"/>
                  <a:ea typeface="Calibri" panose="020F0502020204030204" pitchFamily="34" charset="0"/>
                  <a:cs typeface="Times New Roman" panose="02020603050405020304" pitchFamily="18" charset="0"/>
                </a:endParaRPr>
              </a:p>
              <a:p>
                <a:pPr marL="0" indent="0">
                  <a:spcAft>
                    <a:spcPts val="1000"/>
                  </a:spcAft>
                  <a:buNone/>
                </a:pP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𝑏</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=1.5/1</m:t>
                    </m:r>
                  </m:oMath>
                </a14:m>
                <a:r>
                  <a:rPr lang="en-GB" dirty="0">
                    <a:effectLst/>
                    <a:latin typeface="+mn-lt"/>
                    <a:ea typeface="Calibri" panose="020F0502020204030204" pitchFamily="34" charset="0"/>
                    <a:cs typeface="Times New Roman" panose="02020603050405020304" pitchFamily="18" charset="0"/>
                  </a:rPr>
                  <a:t>                   </a:t>
                </a:r>
                <a14:m>
                  <m:oMath xmlns:m="http://schemas.openxmlformats.org/officeDocument/2006/math">
                    <m:r>
                      <a:rPr lang="en-GB" i="1" dirty="0" smtClean="0">
                        <a:effectLst/>
                        <a:latin typeface="Cambria Math" panose="02040503050406030204" pitchFamily="18" charset="0"/>
                        <a:ea typeface="Cambria Math" panose="02040503050406030204" pitchFamily="18"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1.5</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0.116</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14:m>
                  <m:oMathPara xmlns:m="http://schemas.openxmlformats.org/officeDocument/2006/math">
                    <m:oMathParaPr>
                      <m:jc m:val="left"/>
                    </m:oMathParaPr>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=0.278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US" i="1" dirty="0">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0.3 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14:m>
                  <m:oMathPara xmlns:m="http://schemas.openxmlformats.org/officeDocument/2006/math">
                    <m:oMathParaPr>
                      <m:jc m:val="left"/>
                    </m:oMathParaPr>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𝑏</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=1.5∗0.3=0.45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latin typeface="+mn-lt"/>
                    <a:ea typeface="Calibri" panose="020F0502020204030204" pitchFamily="34" charset="0"/>
                    <a:cs typeface="Times New Roman" panose="02020603050405020304" pitchFamily="18" charset="0"/>
                  </a:rPr>
                  <a:t>P</a:t>
                </a:r>
                <a:r>
                  <a:rPr lang="en-GB" dirty="0">
                    <a:effectLst/>
                    <a:latin typeface="+mn-lt"/>
                    <a:ea typeface="Calibri" panose="020F0502020204030204" pitchFamily="34" charset="0"/>
                    <a:cs typeface="Times New Roman" panose="02020603050405020304" pitchFamily="18" charset="0"/>
                  </a:rPr>
                  <a:t>rovide net depth , </a:t>
                </a:r>
                <a14:m>
                  <m:oMath xmlns:m="http://schemas.openxmlformats.org/officeDocument/2006/math">
                    <m:r>
                      <m:rPr>
                        <m:sty m:val="p"/>
                      </m:rPr>
                      <a:rPr lang="en-US" b="0" i="0" dirty="0" smtClean="0">
                        <a:effectLst/>
                        <a:latin typeface="Cambria Math" panose="02040503050406030204" pitchFamily="18" charset="0"/>
                        <a:ea typeface="Calibri" panose="020F0502020204030204" pitchFamily="34" charset="0"/>
                        <a:cs typeface="Times New Roman" panose="02020603050405020304" pitchFamily="18" charset="0"/>
                      </a:rPr>
                      <m:t>d</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=0.3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GB" dirty="0">
                    <a:effectLst/>
                    <a:latin typeface="+mn-lt"/>
                    <a:ea typeface="Calibri" panose="020F0502020204030204" pitchFamily="34" charset="0"/>
                    <a:cs typeface="Times New Roman" panose="02020603050405020304" pitchFamily="18" charset="0"/>
                  </a:rPr>
                  <a:t>and width ,</a:t>
                </a:r>
                <a14:m>
                  <m:oMath xmlns:m="http://schemas.openxmlformats.org/officeDocument/2006/math">
                    <m:r>
                      <m:rPr>
                        <m:sty m:val="p"/>
                      </m:rPr>
                      <a:rPr lang="en-US" b="0" i="0" dirty="0" smtClean="0">
                        <a:effectLst/>
                        <a:latin typeface="Cambria Math" panose="02040503050406030204" pitchFamily="18" charset="0"/>
                        <a:ea typeface="Calibri" panose="020F0502020204030204" pitchFamily="34" charset="0"/>
                        <a:cs typeface="Times New Roman" panose="02020603050405020304" pitchFamily="18" charset="0"/>
                      </a:rPr>
                      <m:t>b</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=0.45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latin typeface="+mn-lt"/>
                    <a:ea typeface="Calibri" panose="020F0502020204030204" pitchFamily="34" charset="0"/>
                    <a:cs typeface="Times New Roman" panose="02020603050405020304" pitchFamily="18" charset="0"/>
                  </a:rPr>
                  <a:t>A</a:t>
                </a:r>
                <a:r>
                  <a:rPr lang="en-GB" dirty="0">
                    <a:effectLst/>
                    <a:latin typeface="+mn-lt"/>
                    <a:ea typeface="Calibri" panose="020F0502020204030204" pitchFamily="34" charset="0"/>
                    <a:cs typeface="Times New Roman" panose="02020603050405020304" pitchFamily="18" charset="0"/>
                  </a:rPr>
                  <a:t>rea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=0.3∗0.45=0.135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0" indent="0">
                  <a:buNone/>
                </a:pPr>
                <a:r>
                  <a:rPr lang="en-GB" dirty="0">
                    <a:latin typeface="+mn-lt"/>
                    <a:ea typeface="Calibri" panose="020F0502020204030204" pitchFamily="34" charset="0"/>
                    <a:cs typeface="Times New Roman" panose="02020603050405020304" pitchFamily="18" charset="0"/>
                  </a:rPr>
                  <a:t>A</a:t>
                </a:r>
                <a:r>
                  <a:rPr lang="en-GB" dirty="0">
                    <a:effectLst/>
                    <a:latin typeface="+mn-lt"/>
                    <a:ea typeface="Calibri" panose="020F0502020204030204" pitchFamily="34" charset="0"/>
                    <a:cs typeface="Times New Roman" panose="02020603050405020304" pitchFamily="18" charset="0"/>
                  </a:rPr>
                  <a:t>ssuming free board is 0.3 m, the tota</a:t>
                </a:r>
                <a:r>
                  <a:rPr lang="en-GB" dirty="0">
                    <a:latin typeface="+mn-lt"/>
                    <a:ea typeface="Calibri" panose="020F0502020204030204" pitchFamily="34" charset="0"/>
                    <a:cs typeface="Times New Roman" panose="02020603050405020304" pitchFamily="18" charset="0"/>
                  </a:rPr>
                  <a:t>l depth of tank, </a:t>
                </a:r>
                <a14:m>
                  <m:oMath xmlns:m="http://schemas.openxmlformats.org/officeDocument/2006/math">
                    <m:r>
                      <a:rPr lang="en-GB" i="1" dirty="0" smtClean="0">
                        <a:latin typeface="Cambria Math" panose="02040503050406030204" pitchFamily="18" charset="0"/>
                        <a:ea typeface="Calibri" panose="020F0502020204030204" pitchFamily="34" charset="0"/>
                        <a:cs typeface="Times New Roman" panose="02020603050405020304" pitchFamily="18" charset="0"/>
                      </a:rPr>
                      <m:t>𝐷</m:t>
                    </m:r>
                    <m:r>
                      <a:rPr lang="en-GB" i="1" baseline="-25000" dirty="0" smtClean="0">
                        <a:latin typeface="Cambria Math" panose="02040503050406030204" pitchFamily="18" charset="0"/>
                        <a:ea typeface="Calibri" panose="020F0502020204030204" pitchFamily="34" charset="0"/>
                        <a:cs typeface="Times New Roman" panose="02020603050405020304" pitchFamily="18" charset="0"/>
                      </a:rPr>
                      <m:t>𝑓</m:t>
                    </m:r>
                    <m:r>
                      <a:rPr lang="en-US" b="0" i="1" dirty="0" smtClean="0">
                        <a:latin typeface="Cambria Math" panose="02040503050406030204" pitchFamily="18" charset="0"/>
                        <a:ea typeface="Calibri" panose="020F0502020204030204" pitchFamily="34" charset="0"/>
                        <a:cs typeface="Times New Roman" panose="02020603050405020304" pitchFamily="18" charset="0"/>
                      </a:rPr>
                      <m:t>=0.3+0.3=0.6 </m:t>
                    </m:r>
                    <m:r>
                      <a:rPr lang="en-US" b="0" i="1" dirty="0" smtClean="0">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CD8297A2-A481-68D3-5035-D3D1FDD25F8D}"/>
                  </a:ext>
                </a:extLst>
              </p:cNvPr>
              <p:cNvSpPr>
                <a:spLocks noGrp="1" noRot="1" noChangeAspect="1" noMove="1" noResize="1" noEditPoints="1" noAdjustHandles="1" noChangeArrowheads="1" noChangeShapeType="1" noTextEdit="1"/>
              </p:cNvSpPr>
              <p:nvPr>
                <p:ph idx="1"/>
              </p:nvPr>
            </p:nvSpPr>
            <p:spPr>
              <a:xfrm>
                <a:off x="945662" y="1713053"/>
                <a:ext cx="9925538" cy="4765901"/>
              </a:xfrm>
              <a:blipFill>
                <a:blip r:embed="rId2"/>
                <a:stretch>
                  <a:fillRect l="-614" t="-639"/>
                </a:stretch>
              </a:blipFill>
            </p:spPr>
            <p:txBody>
              <a:bodyPr/>
              <a:lstStyle/>
              <a:p>
                <a:r>
                  <a:rPr lang="en-IN">
                    <a:noFill/>
                  </a:rPr>
                  <a:t> </a:t>
                </a:r>
              </a:p>
            </p:txBody>
          </p:sp>
        </mc:Fallback>
      </mc:AlternateContent>
    </p:spTree>
    <p:extLst>
      <p:ext uri="{BB962C8B-B14F-4D97-AF65-F5344CB8AC3E}">
        <p14:creationId xmlns:p14="http://schemas.microsoft.com/office/powerpoint/2010/main" val="4013143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BFEF6-9D76-AE49-B2D1-3A8736E13BC9}"/>
              </a:ext>
            </a:extLst>
          </p:cNvPr>
          <p:cNvSpPr>
            <a:spLocks noGrp="1"/>
          </p:cNvSpPr>
          <p:nvPr>
            <p:ph type="title"/>
          </p:nvPr>
        </p:nvSpPr>
        <p:spPr/>
        <p:txBody>
          <a:bodyPr/>
          <a:lstStyle/>
          <a:p>
            <a:r>
              <a:rPr lang="en-IN" dirty="0"/>
              <a:t>DESIGN OF APPROACH  CHANNEL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B3C012-752F-B69D-D510-656BFF9BE306}"/>
                  </a:ext>
                </a:extLst>
              </p:cNvPr>
              <p:cNvSpPr>
                <a:spLocks noGrp="1"/>
              </p:cNvSpPr>
              <p:nvPr>
                <p:ph idx="1"/>
              </p:nvPr>
            </p:nvSpPr>
            <p:spPr>
              <a:xfrm>
                <a:off x="710214" y="1853248"/>
                <a:ext cx="10431919" cy="4793085"/>
              </a:xfrm>
            </p:spPr>
            <p:txBody>
              <a:bodyPr>
                <a:normAutofit/>
              </a:bodyPr>
              <a:lstStyle/>
              <a:p>
                <a:pPr marL="0" indent="0">
                  <a:spcAft>
                    <a:spcPts val="1000"/>
                  </a:spcAft>
                  <a:buNone/>
                </a:pPr>
                <a:r>
                  <a:rPr lang="en-GB" dirty="0">
                    <a:latin typeface="+mn-lt"/>
                    <a:ea typeface="Calibri" panose="020F0502020204030204" pitchFamily="34" charset="0"/>
                    <a:cs typeface="Times New Roman" panose="02020603050405020304" pitchFamily="18" charset="0"/>
                  </a:rPr>
                  <a:t>A</a:t>
                </a:r>
                <a:r>
                  <a:rPr lang="en-GB" dirty="0">
                    <a:effectLst/>
                    <a:latin typeface="+mn-lt"/>
                    <a:ea typeface="Calibri" panose="020F0502020204030204" pitchFamily="34" charset="0"/>
                    <a:cs typeface="Times New Roman" panose="02020603050405020304" pitchFamily="18" charset="0"/>
                  </a:rPr>
                  <a:t>ssuming length of the channel as 2 m, so provide a 2 m long channel of 0.45 m width and 0.6 m depth </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latin typeface="+mn-lt"/>
                    <a:ea typeface="Calibri" panose="020F0502020204030204" pitchFamily="34" charset="0"/>
                    <a:cs typeface="Times New Roman" panose="02020603050405020304" pitchFamily="18" charset="0"/>
                  </a:rPr>
                  <a:t>D</a:t>
                </a:r>
                <a:r>
                  <a:rPr lang="en-GB" dirty="0">
                    <a:effectLst/>
                    <a:latin typeface="+mn-lt"/>
                    <a:ea typeface="Calibri" panose="020F0502020204030204" pitchFamily="34" charset="0"/>
                    <a:cs typeface="Times New Roman" panose="02020603050405020304" pitchFamily="18" charset="0"/>
                  </a:rPr>
                  <a:t>imension</a:t>
                </a:r>
                <a14:m>
                  <m:oMath xmlns:m="http://schemas.openxmlformats.org/officeDocument/2006/math">
                    <m:r>
                      <a:rPr lang="en-GB" i="1" dirty="0" smtClean="0">
                        <a:effectLst/>
                        <a:latin typeface="Cambria Math" panose="02040503050406030204" pitchFamily="18" charset="0"/>
                        <a:ea typeface="Cambria Math" panose="02040503050406030204" pitchFamily="18"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(2∗0.45∗0.3+0.3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𝐹𝐵</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latin typeface="+mn-lt"/>
                    <a:ea typeface="Calibri" panose="020F0502020204030204" pitchFamily="34" charset="0"/>
                    <a:cs typeface="Times New Roman" panose="02020603050405020304" pitchFamily="18" charset="0"/>
                  </a:rPr>
                  <a:t>A</a:t>
                </a:r>
                <a:r>
                  <a:rPr lang="en-GB" dirty="0">
                    <a:effectLst/>
                    <a:latin typeface="+mn-lt"/>
                    <a:ea typeface="Calibri" panose="020F0502020204030204" pitchFamily="34" charset="0"/>
                    <a:cs typeface="Times New Roman" panose="02020603050405020304" pitchFamily="18" charset="0"/>
                  </a:rPr>
                  <a:t>ssuming slope of channel as 1:1000</a:t>
                </a:r>
                <a:r>
                  <a:rPr lang="en-IN" dirty="0">
                    <a:latin typeface="+mn-lt"/>
                    <a:ea typeface="Calibri" panose="020F0502020204030204" pitchFamily="34" charset="0"/>
                    <a:cs typeface="Times New Roman" panose="02020603050405020304" pitchFamily="18" charset="0"/>
                  </a:rPr>
                  <a:t> and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𝑛</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=0.012</m:t>
                    </m:r>
                  </m:oMath>
                </a14:m>
                <a:r>
                  <a:rPr lang="en-GB" dirty="0">
                    <a:effectLst/>
                    <a:latin typeface="+mn-lt"/>
                    <a:ea typeface="Calibri" panose="020F0502020204030204" pitchFamily="34" charset="0"/>
                    <a:cs typeface="Times New Roman" panose="02020603050405020304" pitchFamily="18" charset="0"/>
                  </a:rPr>
                  <a:t> for cement concrete (Manning’s roughness coefficient)</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latin typeface="+mn-lt"/>
                    <a:ea typeface="Calibri" panose="020F0502020204030204" pitchFamily="34" charset="0"/>
                    <a:cs typeface="Times New Roman" panose="02020603050405020304" pitchFamily="18" charset="0"/>
                  </a:rPr>
                  <a:t>W</a:t>
                </a:r>
                <a:r>
                  <a:rPr lang="en-GB" dirty="0">
                    <a:effectLst/>
                    <a:latin typeface="+mn-lt"/>
                    <a:ea typeface="Calibri" panose="020F0502020204030204" pitchFamily="34" charset="0"/>
                    <a:cs typeface="Times New Roman" panose="02020603050405020304" pitchFamily="18" charset="0"/>
                  </a:rPr>
                  <a:t>etted perimeter of the channel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𝐵</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=2∗0.3+0.45=1.05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r>
                  <a:rPr lang="en-GB" dirty="0">
                    <a:effectLst/>
                    <a:latin typeface="+mn-lt"/>
                    <a:ea typeface="Calibri" panose="020F0502020204030204" pitchFamily="34" charset="0"/>
                    <a:cs typeface="Times New Roman" panose="02020603050405020304" pitchFamily="18" charset="0"/>
                  </a:rPr>
                  <a:t> </a:t>
                </a:r>
                <a:endParaRPr lang="en-IN" dirty="0">
                  <a:effectLst/>
                  <a:latin typeface="+mn-lt"/>
                  <a:ea typeface="Calibri" panose="020F0502020204030204" pitchFamily="34" charset="0"/>
                  <a:cs typeface="Times New Roman" panose="02020603050405020304" pitchFamily="18" charset="0"/>
                </a:endParaRPr>
              </a:p>
              <a:p>
                <a:pPr marL="0" indent="0">
                  <a:buNone/>
                </a:pPr>
                <a:r>
                  <a:rPr lang="en-GB" dirty="0">
                    <a:latin typeface="+mn-lt"/>
                    <a:ea typeface="Calibri" panose="020F0502020204030204" pitchFamily="34" charset="0"/>
                    <a:cs typeface="Times New Roman" panose="02020603050405020304" pitchFamily="18" charset="0"/>
                  </a:rPr>
                  <a:t>H</a:t>
                </a:r>
                <a:r>
                  <a:rPr lang="en-GB" dirty="0">
                    <a:effectLst/>
                    <a:latin typeface="+mn-lt"/>
                    <a:ea typeface="Calibri" panose="020F0502020204030204" pitchFamily="34" charset="0"/>
                    <a:cs typeface="Times New Roman" panose="02020603050405020304" pitchFamily="18" charset="0"/>
                  </a:rPr>
                  <a:t>ydraulic mean radius ,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𝑅</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𝐴</m:t>
                        </m:r>
                      </m:num>
                      <m:den>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𝑃</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0.135</m:t>
                        </m:r>
                      </m:num>
                      <m:den>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1.05</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=0.1286</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latin typeface="+mn-lt"/>
                </a:endParaRPr>
              </a:p>
              <a:p>
                <a:pPr marL="0" indent="0">
                  <a:lnSpc>
                    <a:spcPct val="115000"/>
                  </a:lnSpc>
                  <a:spcAft>
                    <a:spcPts val="1000"/>
                  </a:spcAft>
                  <a:buNone/>
                </a:pPr>
                <a14:m>
                  <m:oMath xmlns:m="http://schemas.openxmlformats.org/officeDocument/2006/math">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𝑣</m:t>
                    </m:r>
                    <m:r>
                      <a:rPr lang="en-GB" i="1" baseline="-25000" dirty="0" err="1" smtClean="0">
                        <a:effectLst/>
                        <a:latin typeface="Cambria Math" panose="02040503050406030204" pitchFamily="18" charset="0"/>
                        <a:ea typeface="Calibri" panose="020F0502020204030204" pitchFamily="34" charset="0"/>
                        <a:cs typeface="Times New Roman" panose="02020603050405020304" pitchFamily="18" charset="0"/>
                      </a:rPr>
                      <m:t>h</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𝑛</m:t>
                        </m:r>
                      </m:den>
                    </m:f>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𝑅</m:t>
                    </m:r>
                    <m:r>
                      <a:rPr lang="en-US" b="0"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2/3</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𝑠</m:t>
                    </m:r>
                    <m:r>
                      <a:rPr lang="en-US" b="0" i="1" baseline="30000" dirty="0" smtClean="0">
                        <a:effectLst/>
                        <a:latin typeface="Cambria Math" panose="02040503050406030204" pitchFamily="18" charset="0"/>
                        <a:ea typeface="Calibri" panose="020F0502020204030204" pitchFamily="34" charset="0"/>
                        <a:cs typeface="Times New Roman" panose="02020603050405020304" pitchFamily="18" charset="0"/>
                      </a:rPr>
                      <m:t>1/2</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b="0" i="1" baseline="20000"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0.012</m:t>
                        </m:r>
                      </m:den>
                    </m:f>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(0.1286)</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2/3</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0.001)</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1/2</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=0.671</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𝑠</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&lt;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𝑣h</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1</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𝑠</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IN" dirty="0">
                    <a:effectLst/>
                    <a:latin typeface="+mn-lt"/>
                    <a:ea typeface="Calibri" panose="020F0502020204030204" pitchFamily="34" charset="0"/>
                    <a:cs typeface="Times New Roman" panose="02020603050405020304" pitchFamily="18" charset="0"/>
                  </a:rPr>
                  <a:t>(Assumed)</a:t>
                </a:r>
              </a:p>
              <a:p>
                <a:pPr marL="0" indent="0">
                  <a:buNone/>
                </a:pPr>
                <a:r>
                  <a:rPr lang="en-GB" dirty="0">
                    <a:effectLst/>
                    <a:latin typeface="+mn-lt"/>
                    <a:ea typeface="Calibri" panose="020F0502020204030204" pitchFamily="34" charset="0"/>
                    <a:cs typeface="Times New Roman" panose="02020603050405020304" pitchFamily="18" charset="0"/>
                  </a:rPr>
                  <a:t>Again, Assuming slope of channel as 1:250 and  n = 0.015</a:t>
                </a:r>
                <a:endParaRPr lang="en-IN" dirty="0">
                  <a:effectLst/>
                  <a:latin typeface="+mn-lt"/>
                  <a:ea typeface="Calibri" panose="020F0502020204030204" pitchFamily="34" charset="0"/>
                  <a:cs typeface="Times New Roman" panose="02020603050405020304" pitchFamily="18" charset="0"/>
                </a:endParaRPr>
              </a:p>
              <a:p>
                <a:pPr marL="0" indent="0">
                  <a:buNone/>
                </a:pPr>
                <a:endParaRPr lang="en-IN" dirty="0">
                  <a:latin typeface="+mn-lt"/>
                </a:endParaRPr>
              </a:p>
            </p:txBody>
          </p:sp>
        </mc:Choice>
        <mc:Fallback xmlns="">
          <p:sp>
            <p:nvSpPr>
              <p:cNvPr id="3" name="Content Placeholder 2">
                <a:extLst>
                  <a:ext uri="{FF2B5EF4-FFF2-40B4-BE49-F238E27FC236}">
                    <a16:creationId xmlns:a16="http://schemas.microsoft.com/office/drawing/2014/main" id="{4EB3C012-752F-B69D-D510-656BFF9BE306}"/>
                  </a:ext>
                </a:extLst>
              </p:cNvPr>
              <p:cNvSpPr>
                <a:spLocks noGrp="1" noRot="1" noChangeAspect="1" noMove="1" noResize="1" noEditPoints="1" noAdjustHandles="1" noChangeArrowheads="1" noChangeShapeType="1" noTextEdit="1"/>
              </p:cNvSpPr>
              <p:nvPr>
                <p:ph idx="1"/>
              </p:nvPr>
            </p:nvSpPr>
            <p:spPr>
              <a:xfrm>
                <a:off x="710214" y="1853248"/>
                <a:ext cx="10431919" cy="4793085"/>
              </a:xfrm>
              <a:blipFill>
                <a:blip r:embed="rId2"/>
                <a:stretch>
                  <a:fillRect l="-643" t="-636"/>
                </a:stretch>
              </a:blipFill>
            </p:spPr>
            <p:txBody>
              <a:bodyPr/>
              <a:lstStyle/>
              <a:p>
                <a:r>
                  <a:rPr lang="en-IN">
                    <a:noFill/>
                  </a:rPr>
                  <a:t> </a:t>
                </a:r>
              </a:p>
            </p:txBody>
          </p:sp>
        </mc:Fallback>
      </mc:AlternateContent>
    </p:spTree>
    <p:extLst>
      <p:ext uri="{BB962C8B-B14F-4D97-AF65-F5344CB8AC3E}">
        <p14:creationId xmlns:p14="http://schemas.microsoft.com/office/powerpoint/2010/main" val="2755928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DDE98-C118-018B-B7A5-48D377D4EDD5}"/>
              </a:ext>
            </a:extLst>
          </p:cNvPr>
          <p:cNvSpPr>
            <a:spLocks noGrp="1"/>
          </p:cNvSpPr>
          <p:nvPr>
            <p:ph type="title"/>
          </p:nvPr>
        </p:nvSpPr>
        <p:spPr/>
        <p:txBody>
          <a:bodyPr/>
          <a:lstStyle/>
          <a:p>
            <a:r>
              <a:rPr lang="en-IN" dirty="0"/>
              <a:t>DESIGN OF APPROACH  CHANNEL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341B0A-940B-D219-6B5D-676E128D7C7F}"/>
                  </a:ext>
                </a:extLst>
              </p:cNvPr>
              <p:cNvSpPr>
                <a:spLocks noGrp="1"/>
              </p:cNvSpPr>
              <p:nvPr>
                <p:ph idx="1"/>
              </p:nvPr>
            </p:nvSpPr>
            <p:spPr>
              <a:xfrm>
                <a:off x="1103312" y="1660124"/>
                <a:ext cx="10004955" cy="5104660"/>
              </a:xfrm>
            </p:spPr>
            <p:txBody>
              <a:bodyPr>
                <a:noAutofit/>
              </a:bodyPr>
              <a:lstStyle/>
              <a:p>
                <a:pPr marL="0" indent="0">
                  <a:spcAft>
                    <a:spcPts val="1000"/>
                  </a:spcAft>
                  <a:buNone/>
                </a:pPr>
                <a14:m>
                  <m:oMath xmlns:m="http://schemas.openxmlformats.org/officeDocument/2006/math">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𝑣</m:t>
                    </m:r>
                    <m:r>
                      <a:rPr lang="en-GB" i="1" baseline="-25000" dirty="0" smtClean="0">
                        <a:effectLst/>
                        <a:latin typeface="Cambria Math" panose="02040503050406030204" pitchFamily="18" charset="0"/>
                        <a:ea typeface="Calibri" panose="020F0502020204030204" pitchFamily="34" charset="0"/>
                        <a:cs typeface="Times New Roman" panose="02020603050405020304" pitchFamily="18" charset="0"/>
                      </a:rPr>
                      <m:t>h</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0.015</m:t>
                        </m:r>
                      </m:den>
                    </m:f>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(0.1286)</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2/3</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1/250)</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1/2</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=1.074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𝑠</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&gt;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𝑣</m:t>
                    </m:r>
                    <m:r>
                      <a:rPr lang="en-GB" i="1" baseline="-25000" dirty="0" err="1" smtClean="0">
                        <a:effectLst/>
                        <a:latin typeface="Cambria Math" panose="02040503050406030204" pitchFamily="18" charset="0"/>
                        <a:ea typeface="Calibri" panose="020F0502020204030204" pitchFamily="34" charset="0"/>
                        <a:cs typeface="Times New Roman" panose="02020603050405020304" pitchFamily="18" charset="0"/>
                      </a:rPr>
                      <m:t>h</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𝑠</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IN" dirty="0">
                    <a:effectLst/>
                    <a:latin typeface="+mn-lt"/>
                    <a:ea typeface="Calibri" panose="020F0502020204030204" pitchFamily="34" charset="0"/>
                    <a:cs typeface="Times New Roman" panose="02020603050405020304" pitchFamily="18" charset="0"/>
                  </a:rPr>
                  <a:t>  (Assumed)             </a:t>
                </a:r>
              </a:p>
              <a:p>
                <a:pPr marL="0" indent="0">
                  <a:spcAft>
                    <a:spcPts val="1000"/>
                  </a:spcAft>
                  <a:buNone/>
                </a:pPr>
                <a:r>
                  <a:rPr lang="en-IN" dirty="0">
                    <a:latin typeface="+mn-lt"/>
                    <a:ea typeface="Calibri" panose="020F0502020204030204" pitchFamily="34" charset="0"/>
                    <a:cs typeface="Times New Roman" panose="02020603050405020304" pitchFamily="18" charset="0"/>
                  </a:rPr>
                  <a:t>                                    Hence</a:t>
                </a:r>
                <a:r>
                  <a:rPr lang="en-IN" dirty="0">
                    <a:effectLst/>
                    <a:latin typeface="+mn-lt"/>
                    <a:ea typeface="Calibri" panose="020F0502020204030204" pitchFamily="34" charset="0"/>
                    <a:cs typeface="Times New Roman" panose="02020603050405020304" pitchFamily="18" charset="0"/>
                  </a:rPr>
                  <a:t> OK </a:t>
                </a: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Check for flow at one-third depth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/3=0.3/3=0.1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Cross sectional area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=0.1∗0.45=0.045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Wetted perimeter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𝐵</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=2∗0.1+0.45=0.65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r>
                  <a:rPr lang="en-GB" dirty="0">
                    <a:effectLst/>
                    <a:latin typeface="+mn-lt"/>
                    <a:ea typeface="Calibri" panose="020F0502020204030204" pitchFamily="34" charset="0"/>
                    <a:cs typeface="Times New Roman" panose="02020603050405020304" pitchFamily="18" charset="0"/>
                  </a:rPr>
                  <a:t> </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Hydraulic mean radius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𝐴</m:t>
                        </m:r>
                      </m:num>
                      <m:den>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𝑃</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0.045</m:t>
                        </m:r>
                      </m:num>
                      <m:den>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0.65</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=0.0692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dirty="0">
                    <a:effectLst/>
                    <a:latin typeface="+mn-lt"/>
                    <a:ea typeface="Calibri" panose="020F0502020204030204" pitchFamily="34" charset="0"/>
                    <a:cs typeface="Times New Roman" panose="02020603050405020304" pitchFamily="18" charset="0"/>
                  </a:rPr>
                  <a:t>Velocity at </a:t>
                </a:r>
                <a14:m>
                  <m:oMath xmlns:m="http://schemas.openxmlformats.org/officeDocument/2006/math">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𝐷</m:t>
                        </m:r>
                      </m:num>
                      <m:den>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3</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d>
                      <m:d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m:t>
                            </m:r>
                          </m:num>
                          <m:den>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𝑛</m:t>
                            </m:r>
                          </m:den>
                        </m:f>
                      </m:e>
                    </m:d>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𝑅</m:t>
                    </m:r>
                    <m:r>
                      <a:rPr lang="en-US" b="0"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2/3</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𝑆</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1/2</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/0.015∗(</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0.0692)</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∗(1/250)</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1/2</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𝑣</m:t>
                    </m:r>
                    <m:r>
                      <a:rPr lang="en-GB" i="1" baseline="-25000" dirty="0" err="1" smtClean="0">
                        <a:effectLst/>
                        <a:latin typeface="Cambria Math" panose="02040503050406030204" pitchFamily="18" charset="0"/>
                        <a:ea typeface="Calibri" panose="020F0502020204030204" pitchFamily="34" charset="0"/>
                        <a:cs typeface="Times New Roman" panose="02020603050405020304" pitchFamily="18" charset="0"/>
                      </a:rPr>
                      <m:t>h</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baseline="-25000" dirty="0" smtClean="0">
                        <a:effectLst/>
                        <a:latin typeface="Cambria Math" panose="02040503050406030204" pitchFamily="18" charset="0"/>
                        <a:ea typeface="Calibri" panose="020F0502020204030204" pitchFamily="34" charset="0"/>
                        <a:cs typeface="Times New Roman" panose="02020603050405020304" pitchFamily="18" charset="0"/>
                      </a:rPr>
                      <m:t>𝑑</m:t>
                    </m:r>
                    <m:r>
                      <a:rPr lang="en-GB" i="1" baseline="-25000" dirty="0" smtClean="0">
                        <a:effectLst/>
                        <a:latin typeface="Cambria Math" panose="02040503050406030204" pitchFamily="18" charset="0"/>
                        <a:ea typeface="Calibri" panose="020F0502020204030204" pitchFamily="34" charset="0"/>
                        <a:cs typeface="Times New Roman" panose="02020603050405020304" pitchFamily="18" charset="0"/>
                      </a:rPr>
                      <m:t>/3=0.711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𝑠</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&gt;0.5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𝑠</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GB" dirty="0">
                    <a:effectLst/>
                    <a:latin typeface="+mn-lt"/>
                    <a:ea typeface="Calibri" panose="020F0502020204030204" pitchFamily="34" charset="0"/>
                    <a:cs typeface="Times New Roman" panose="02020603050405020304" pitchFamily="18" charset="0"/>
                  </a:rPr>
                  <a:t>(min velocity)</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endParaRPr lang="en-IN" dirty="0">
                  <a:effectLst/>
                  <a:latin typeface="+mn-lt"/>
                  <a:ea typeface="Calibri" panose="020F0502020204030204" pitchFamily="34"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40341B0A-940B-D219-6B5D-676E128D7C7F}"/>
                  </a:ext>
                </a:extLst>
              </p:cNvPr>
              <p:cNvSpPr>
                <a:spLocks noGrp="1" noRot="1" noChangeAspect="1" noMove="1" noResize="1" noEditPoints="1" noAdjustHandles="1" noChangeArrowheads="1" noChangeShapeType="1" noTextEdit="1"/>
              </p:cNvSpPr>
              <p:nvPr>
                <p:ph idx="1"/>
              </p:nvPr>
            </p:nvSpPr>
            <p:spPr>
              <a:xfrm>
                <a:off x="1103312" y="1660124"/>
                <a:ext cx="10004955" cy="5104660"/>
              </a:xfrm>
              <a:blipFill>
                <a:blip r:embed="rId2"/>
                <a:stretch>
                  <a:fillRect l="-670"/>
                </a:stretch>
              </a:blipFill>
            </p:spPr>
            <p:txBody>
              <a:bodyPr/>
              <a:lstStyle/>
              <a:p>
                <a:r>
                  <a:rPr lang="en-IN">
                    <a:noFill/>
                  </a:rPr>
                  <a:t> </a:t>
                </a:r>
              </a:p>
            </p:txBody>
          </p:sp>
        </mc:Fallback>
      </mc:AlternateContent>
    </p:spTree>
    <p:extLst>
      <p:ext uri="{BB962C8B-B14F-4D97-AF65-F5344CB8AC3E}">
        <p14:creationId xmlns:p14="http://schemas.microsoft.com/office/powerpoint/2010/main" val="2517419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E712A-5E65-CC80-6171-6BA26E9F2E8D}"/>
              </a:ext>
            </a:extLst>
          </p:cNvPr>
          <p:cNvSpPr>
            <a:spLocks noGrp="1"/>
          </p:cNvSpPr>
          <p:nvPr>
            <p:ph type="title"/>
          </p:nvPr>
        </p:nvSpPr>
        <p:spPr/>
        <p:txBody>
          <a:bodyPr/>
          <a:lstStyle/>
          <a:p>
            <a:r>
              <a:rPr lang="en-IN" dirty="0"/>
              <a:t>Design of Screen Chamber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AFB9D8-F24F-98FF-2140-A580D7A7EDEB}"/>
                  </a:ext>
                </a:extLst>
              </p:cNvPr>
              <p:cNvSpPr>
                <a:spLocks noGrp="1"/>
              </p:cNvSpPr>
              <p:nvPr>
                <p:ph idx="1"/>
              </p:nvPr>
            </p:nvSpPr>
            <p:spPr>
              <a:xfrm>
                <a:off x="541539" y="1713390"/>
                <a:ext cx="11105964" cy="4535009"/>
              </a:xfrm>
            </p:spPr>
            <p:txBody>
              <a:bodyPr>
                <a:noAutofit/>
              </a:bodyPr>
              <a:lstStyle/>
              <a:p>
                <a:pPr marL="0" indent="0">
                  <a:spcAft>
                    <a:spcPts val="1000"/>
                  </a:spcAft>
                  <a:buNone/>
                </a:pPr>
                <a14:m>
                  <m:oMathPara xmlns:m="http://schemas.openxmlformats.org/officeDocument/2006/math">
                    <m:oMathParaPr>
                      <m:jc m:val="left"/>
                    </m:oMathParaPr>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𝑄𝑚𝑎𝑥</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 = 20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𝑀𝐿𝐷</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 = 0.232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𝑠</m:t>
                      </m:r>
                    </m:oMath>
                  </m:oMathPara>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IN" dirty="0">
                    <a:effectLst/>
                    <a:latin typeface="+mn-lt"/>
                    <a:ea typeface="Calibri" panose="020F0502020204030204" pitchFamily="34" charset="0"/>
                    <a:cs typeface="Times New Roman" panose="02020603050405020304" pitchFamily="18" charset="0"/>
                  </a:rPr>
                  <a:t>Dimension of screen chamber = dimension of approach channel</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  = 2</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∗0.45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∗0.3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IN" dirty="0">
                    <a:effectLst/>
                    <a:latin typeface="+mn-lt"/>
                    <a:ea typeface="Calibri" panose="020F0502020204030204" pitchFamily="34" charset="0"/>
                    <a:cs typeface="Times New Roman" panose="02020603050405020304" pitchFamily="18" charset="0"/>
                  </a:rPr>
                  <a:t>Cross sectional area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𝐴</m:t>
                    </m:r>
                    <m:r>
                      <a:rPr lang="en-IN" i="1" baseline="-25000" dirty="0" smtClean="0">
                        <a:effectLst/>
                        <a:latin typeface="Cambria Math" panose="02040503050406030204" pitchFamily="18" charset="0"/>
                        <a:ea typeface="Calibri" panose="020F0502020204030204" pitchFamily="34" charset="0"/>
                        <a:cs typeface="Times New Roman" panose="02020603050405020304" pitchFamily="18" charset="0"/>
                      </a:rPr>
                      <m:t>𝑥</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𝐵</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𝐷</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=0.45∗0.3= 0.135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IN" dirty="0">
                    <a:effectLst/>
                    <a:latin typeface="+mn-lt"/>
                    <a:ea typeface="Calibri" panose="020F0502020204030204" pitchFamily="34" charset="0"/>
                    <a:cs typeface="Times New Roman" panose="02020603050405020304" pitchFamily="18" charset="0"/>
                  </a:rPr>
                  <a:t>Approach velocity ,</a:t>
                </a:r>
                <a14:m>
                  <m:oMath xmlns:m="http://schemas.openxmlformats.org/officeDocument/2006/math">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𝑣</m:t>
                    </m:r>
                    <m:r>
                      <a:rPr lang="en-IN" i="1" baseline="-25000" dirty="0" err="1" smtClean="0">
                        <a:effectLst/>
                        <a:latin typeface="Cambria Math" panose="02040503050406030204" pitchFamily="18" charset="0"/>
                        <a:ea typeface="Calibri" panose="020F0502020204030204" pitchFamily="34" charset="0"/>
                        <a:cs typeface="Times New Roman" panose="02020603050405020304" pitchFamily="18" charset="0"/>
                      </a:rPr>
                      <m:t>h</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=0.232/(2∗0.135</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=0.86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𝑠</m:t>
                    </m:r>
                  </m:oMath>
                </a14:m>
                <a:endParaRPr lang="en-IN" dirty="0">
                  <a:effectLst/>
                  <a:latin typeface="+mn-lt"/>
                  <a:ea typeface="Calibri" panose="020F0502020204030204" pitchFamily="34" charset="0"/>
                  <a:cs typeface="Times New Roman" panose="02020603050405020304" pitchFamily="18" charset="0"/>
                </a:endParaRPr>
              </a:p>
              <a:p>
                <a:pPr>
                  <a:spcAft>
                    <a:spcPts val="1000"/>
                  </a:spcAft>
                </a:pPr>
                <a:r>
                  <a:rPr lang="en-IN" u="sng" dirty="0">
                    <a:effectLst/>
                    <a:latin typeface="+mn-lt"/>
                    <a:ea typeface="Calibri" panose="020F0502020204030204" pitchFamily="34" charset="0"/>
                    <a:cs typeface="Times New Roman" panose="02020603050405020304" pitchFamily="18" charset="0"/>
                  </a:rPr>
                  <a:t>Number of bars</a:t>
                </a:r>
                <a:r>
                  <a:rPr lang="en-IN" dirty="0">
                    <a:effectLst/>
                    <a:latin typeface="+mn-lt"/>
                    <a:ea typeface="Calibri" panose="020F0502020204030204" pitchFamily="34" charset="0"/>
                    <a:cs typeface="Times New Roman" panose="02020603050405020304" pitchFamily="18" charset="0"/>
                  </a:rPr>
                  <a:t>:</a:t>
                </a:r>
              </a:p>
              <a:p>
                <a:pPr marL="0" indent="0">
                  <a:spcAft>
                    <a:spcPts val="1000"/>
                  </a:spcAft>
                  <a:buNone/>
                </a:pPr>
                <a:r>
                  <a:rPr lang="en-IN" dirty="0">
                    <a:effectLst/>
                    <a:latin typeface="+mn-lt"/>
                    <a:ea typeface="Calibri" panose="020F0502020204030204" pitchFamily="34" charset="0"/>
                    <a:cs typeface="Times New Roman" panose="02020603050405020304" pitchFamily="18" charset="0"/>
                  </a:rPr>
                  <a:t>Provide bars of 10 mm*50 mm with a clear opening of 25 mm. Let n be the number of bars then, Width of opening (n+1) + width of bars (n) = B (total width)</a:t>
                </a:r>
              </a:p>
              <a:p>
                <a:pPr marL="0" indent="0">
                  <a:spcAft>
                    <a:spcPts val="1000"/>
                  </a:spcAft>
                  <a:buNone/>
                </a:pP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0.025∗(</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𝑛</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+1)+0.01∗</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𝑛</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𝐵</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=0.45</m:t>
                    </m:r>
                  </m:oMath>
                </a14:m>
                <a:r>
                  <a:rPr lang="en-IN" dirty="0">
                    <a:effectLst/>
                    <a:latin typeface="+mn-lt"/>
                    <a:ea typeface="Calibri" panose="020F0502020204030204" pitchFamily="34" charset="0"/>
                    <a:cs typeface="Times New Roman" panose="02020603050405020304" pitchFamily="18" charset="0"/>
                  </a:rPr>
                  <a:t> </a:t>
                </a:r>
              </a:p>
              <a:p>
                <a:pPr marL="0" indent="0">
                  <a:spcAft>
                    <a:spcPts val="1000"/>
                  </a:spcAft>
                  <a:buNone/>
                </a:pPr>
                <a:r>
                  <a:rPr lang="en-IN" dirty="0">
                    <a:effectLst/>
                    <a:latin typeface="+mn-lt"/>
                    <a:ea typeface="Calibri" panose="020F0502020204030204" pitchFamily="34" charset="0"/>
                    <a:cs typeface="Times New Roman" panose="02020603050405020304" pitchFamily="18" charset="0"/>
                  </a:rPr>
                  <a:t>n=12</a:t>
                </a:r>
              </a:p>
            </p:txBody>
          </p:sp>
        </mc:Choice>
        <mc:Fallback xmlns="">
          <p:sp>
            <p:nvSpPr>
              <p:cNvPr id="3" name="Content Placeholder 2">
                <a:extLst>
                  <a:ext uri="{FF2B5EF4-FFF2-40B4-BE49-F238E27FC236}">
                    <a16:creationId xmlns:a16="http://schemas.microsoft.com/office/drawing/2014/main" id="{8AAFB9D8-F24F-98FF-2140-A580D7A7EDEB}"/>
                  </a:ext>
                </a:extLst>
              </p:cNvPr>
              <p:cNvSpPr>
                <a:spLocks noGrp="1" noRot="1" noChangeAspect="1" noMove="1" noResize="1" noEditPoints="1" noAdjustHandles="1" noChangeArrowheads="1" noChangeShapeType="1" noTextEdit="1"/>
              </p:cNvSpPr>
              <p:nvPr>
                <p:ph idx="1"/>
              </p:nvPr>
            </p:nvSpPr>
            <p:spPr>
              <a:xfrm>
                <a:off x="541539" y="1713390"/>
                <a:ext cx="11105964" cy="4535009"/>
              </a:xfrm>
              <a:blipFill>
                <a:blip r:embed="rId2"/>
                <a:stretch>
                  <a:fillRect l="-604" b="-4032"/>
                </a:stretch>
              </a:blipFill>
            </p:spPr>
            <p:txBody>
              <a:bodyPr/>
              <a:lstStyle/>
              <a:p>
                <a:r>
                  <a:rPr lang="en-IN">
                    <a:noFill/>
                  </a:rPr>
                  <a:t> </a:t>
                </a:r>
              </a:p>
            </p:txBody>
          </p:sp>
        </mc:Fallback>
      </mc:AlternateContent>
    </p:spTree>
    <p:extLst>
      <p:ext uri="{BB962C8B-B14F-4D97-AF65-F5344CB8AC3E}">
        <p14:creationId xmlns:p14="http://schemas.microsoft.com/office/powerpoint/2010/main" val="1301974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B6729-F9F6-06E5-9557-83E5BDDAF741}"/>
              </a:ext>
            </a:extLst>
          </p:cNvPr>
          <p:cNvSpPr>
            <a:spLocks noGrp="1"/>
          </p:cNvSpPr>
          <p:nvPr>
            <p:ph type="title"/>
          </p:nvPr>
        </p:nvSpPr>
        <p:spPr/>
        <p:txBody>
          <a:bodyPr/>
          <a:lstStyle/>
          <a:p>
            <a:r>
              <a:rPr lang="en-US" dirty="0"/>
              <a:t>Design of Screen Chamber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604161-A42E-2319-8304-CC1BDD684AB9}"/>
                  </a:ext>
                </a:extLst>
              </p:cNvPr>
              <p:cNvSpPr>
                <a:spLocks noGrp="1"/>
              </p:cNvSpPr>
              <p:nvPr>
                <p:ph idx="1"/>
              </p:nvPr>
            </p:nvSpPr>
            <p:spPr>
              <a:xfrm>
                <a:off x="790113" y="1853248"/>
                <a:ext cx="10546671" cy="4618573"/>
              </a:xfrm>
            </p:spPr>
            <p:txBody>
              <a:bodyPr>
                <a:normAutofit fontScale="92500" lnSpcReduction="10000"/>
              </a:bodyPr>
              <a:lstStyle/>
              <a:p>
                <a:pPr marL="0" indent="0">
                  <a:lnSpc>
                    <a:spcPct val="110000"/>
                  </a:lnSpc>
                  <a:spcAft>
                    <a:spcPts val="1000"/>
                  </a:spcAft>
                  <a:buNone/>
                </a:pPr>
                <a:r>
                  <a:rPr lang="en-IN" dirty="0">
                    <a:latin typeface="+mn-lt"/>
                    <a:ea typeface="Calibri" panose="020F0502020204030204" pitchFamily="34" charset="0"/>
                    <a:cs typeface="Times New Roman" panose="02020603050405020304" pitchFamily="18" charset="0"/>
                  </a:rPr>
                  <a:t>P</a:t>
                </a:r>
                <a:r>
                  <a:rPr lang="en-IN" dirty="0">
                    <a:effectLst/>
                    <a:latin typeface="+mn-lt"/>
                    <a:ea typeface="Calibri" panose="020F0502020204030204" pitchFamily="34" charset="0"/>
                    <a:cs typeface="Times New Roman" panose="02020603050405020304" pitchFamily="18" charset="0"/>
                  </a:rPr>
                  <a:t>rovide 12 bars of 10 mm * 50 mm with clear spacing </a:t>
                </a:r>
              </a:p>
              <a:p>
                <a:pPr marL="0" indent="0">
                  <a:lnSpc>
                    <a:spcPct val="110000"/>
                  </a:lnSpc>
                  <a:spcAft>
                    <a:spcPts val="1000"/>
                  </a:spcAft>
                  <a:buNone/>
                </a:pPr>
                <a:r>
                  <a:rPr lang="en-IN" dirty="0">
                    <a:effectLst/>
                    <a:latin typeface="+mn-lt"/>
                    <a:ea typeface="Calibri" panose="020F0502020204030204" pitchFamily="34" charset="0"/>
                    <a:cs typeface="Times New Roman" panose="02020603050405020304" pitchFamily="18" charset="0"/>
                  </a:rPr>
                  <a:t>Total width </a:t>
                </a:r>
                <a14:m>
                  <m:oMath xmlns:m="http://schemas.openxmlformats.org/officeDocument/2006/math">
                    <m:r>
                      <a:rPr lang="en-IN" i="1" dirty="0">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12∗0.01+13∗0.025=0.445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0000"/>
                  </a:lnSpc>
                  <a:spcAft>
                    <a:spcPts val="1000"/>
                  </a:spcAft>
                  <a:buNone/>
                </a:pPr>
                <a:r>
                  <a:rPr lang="en-IN" dirty="0">
                    <a:effectLst/>
                    <a:latin typeface="+mn-lt"/>
                    <a:ea typeface="Calibri" panose="020F0502020204030204" pitchFamily="34" charset="0"/>
                    <a:cs typeface="Times New Roman" panose="02020603050405020304" pitchFamily="18" charset="0"/>
                  </a:rPr>
                  <a:t>Effective width of channel ,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𝐵</m:t>
                    </m:r>
                    <m:r>
                      <a:rPr lang="en-IN" i="1" baseline="-25000" dirty="0" smtClean="0">
                        <a:effectLst/>
                        <a:latin typeface="Cambria Math" panose="02040503050406030204" pitchFamily="18" charset="0"/>
                        <a:ea typeface="Calibri" panose="020F0502020204030204" pitchFamily="34" charset="0"/>
                        <a:cs typeface="Times New Roman" panose="02020603050405020304" pitchFamily="18" charset="0"/>
                      </a:rPr>
                      <m:t>𝑒</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=0.45−12∗0.01=0.33</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0000"/>
                  </a:lnSpc>
                  <a:spcAft>
                    <a:spcPts val="1000"/>
                  </a:spcAft>
                  <a:buNone/>
                </a:pPr>
                <a:r>
                  <a:rPr lang="en-IN" dirty="0">
                    <a:effectLst/>
                    <a:latin typeface="+mn-lt"/>
                    <a:ea typeface="Calibri" panose="020F0502020204030204" pitchFamily="34" charset="0"/>
                    <a:cs typeface="Times New Roman" panose="02020603050405020304" pitchFamily="18" charset="0"/>
                  </a:rPr>
                  <a:t>Effective cross sectional area</a:t>
                </a:r>
                <a14:m>
                  <m:oMath xmlns:m="http://schemas.openxmlformats.org/officeDocument/2006/math">
                    <m:r>
                      <a:rPr lang="en-IN" i="1" dirty="0">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𝐵</m:t>
                    </m:r>
                    <m:r>
                      <a:rPr lang="en-IN" i="1" baseline="-25000" dirty="0" smtClean="0">
                        <a:effectLst/>
                        <a:latin typeface="Cambria Math" panose="02040503050406030204" pitchFamily="18" charset="0"/>
                        <a:ea typeface="Calibri" panose="020F0502020204030204" pitchFamily="34" charset="0"/>
                        <a:cs typeface="Times New Roman" panose="02020603050405020304" pitchFamily="18" charset="0"/>
                      </a:rPr>
                      <m:t>𝑒</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𝐷</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=0.33∗0.3=0.099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0000"/>
                  </a:lnSpc>
                  <a:spcAft>
                    <a:spcPts val="1000"/>
                  </a:spcAft>
                  <a:buNone/>
                </a:pPr>
                <a:r>
                  <a:rPr lang="en-IN" dirty="0">
                    <a:effectLst/>
                    <a:latin typeface="+mn-lt"/>
                    <a:ea typeface="Calibri" panose="020F0502020204030204" pitchFamily="34" charset="0"/>
                    <a:cs typeface="Times New Roman" panose="02020603050405020304" pitchFamily="18" charset="0"/>
                  </a:rPr>
                  <a:t>Velocity of flow through screen bars ,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𝑣</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𝑓𝑙𝑜𝑤</m:t>
                        </m:r>
                      </m:num>
                      <m:den>
                        <m:r>
                          <a:rPr lang="en-IN" i="1" dirty="0">
                            <a:latin typeface="Cambria Math" panose="02040503050406030204" pitchFamily="18" charset="0"/>
                            <a:ea typeface="Calibri" panose="020F0502020204030204" pitchFamily="34" charset="0"/>
                            <a:cs typeface="Times New Roman" panose="02020603050405020304" pitchFamily="18" charset="0"/>
                          </a:rPr>
                          <m:t>(</m:t>
                        </m:r>
                        <m:r>
                          <a:rPr lang="en-IN" i="1" dirty="0">
                            <a:latin typeface="Cambria Math" panose="02040503050406030204" pitchFamily="18" charset="0"/>
                            <a:ea typeface="Calibri" panose="020F0502020204030204" pitchFamily="34" charset="0"/>
                            <a:cs typeface="Times New Roman" panose="02020603050405020304" pitchFamily="18" charset="0"/>
                          </a:rPr>
                          <m:t>𝑒𝑓𝑓𝑒𝑐𝑡𝑖𝑣𝑒</m:t>
                        </m:r>
                        <m:r>
                          <a:rPr lang="en-IN" i="1" dirty="0">
                            <a:latin typeface="Cambria Math" panose="02040503050406030204" pitchFamily="18" charset="0"/>
                            <a:ea typeface="Calibri" panose="020F0502020204030204" pitchFamily="34" charset="0"/>
                            <a:cs typeface="Times New Roman" panose="02020603050405020304" pitchFamily="18" charset="0"/>
                          </a:rPr>
                          <m:t> </m:t>
                        </m:r>
                        <m:r>
                          <a:rPr lang="en-IN" i="1" dirty="0">
                            <a:latin typeface="Cambria Math" panose="02040503050406030204" pitchFamily="18" charset="0"/>
                            <a:ea typeface="Calibri" panose="020F0502020204030204" pitchFamily="34" charset="0"/>
                            <a:cs typeface="Times New Roman" panose="02020603050405020304" pitchFamily="18" charset="0"/>
                          </a:rPr>
                          <m:t>𝑐𝑟𝑜𝑠𝑠</m:t>
                        </m:r>
                        <m:r>
                          <a:rPr lang="en-IN" i="1" dirty="0">
                            <a:latin typeface="Cambria Math" panose="02040503050406030204" pitchFamily="18" charset="0"/>
                            <a:ea typeface="Calibri" panose="020F0502020204030204" pitchFamily="34" charset="0"/>
                            <a:cs typeface="Times New Roman" panose="02020603050405020304" pitchFamily="18" charset="0"/>
                          </a:rPr>
                          <m:t> </m:t>
                        </m:r>
                        <m:r>
                          <a:rPr lang="en-IN" i="1" dirty="0">
                            <a:latin typeface="Cambria Math" panose="02040503050406030204" pitchFamily="18" charset="0"/>
                            <a:ea typeface="Calibri" panose="020F0502020204030204" pitchFamily="34" charset="0"/>
                            <a:cs typeface="Times New Roman" panose="02020603050405020304" pitchFamily="18" charset="0"/>
                          </a:rPr>
                          <m:t>𝑠𝑒𝑐𝑡𝑖𝑜𝑛𝑎𝑙</m:t>
                        </m:r>
                        <m:r>
                          <a:rPr lang="en-IN" i="1" dirty="0">
                            <a:latin typeface="Cambria Math" panose="02040503050406030204" pitchFamily="18" charset="0"/>
                            <a:ea typeface="Calibri" panose="020F0502020204030204" pitchFamily="34" charset="0"/>
                            <a:cs typeface="Times New Roman" panose="02020603050405020304" pitchFamily="18" charset="0"/>
                          </a:rPr>
                          <m:t> </m:t>
                        </m:r>
                        <m:r>
                          <a:rPr lang="en-IN" i="1" dirty="0">
                            <a:latin typeface="Cambria Math" panose="02040503050406030204" pitchFamily="18" charset="0"/>
                            <a:ea typeface="Calibri" panose="020F0502020204030204" pitchFamily="34" charset="0"/>
                            <a:cs typeface="Times New Roman" panose="02020603050405020304" pitchFamily="18" charset="0"/>
                          </a:rPr>
                          <m:t>𝑎𝑟𝑒𝑎</m:t>
                        </m:r>
                        <m:r>
                          <a:rPr lang="en-IN" i="1" dirty="0">
                            <a:latin typeface="Cambria Math" panose="02040503050406030204" pitchFamily="18" charset="0"/>
                            <a:ea typeface="Calibri" panose="020F0502020204030204" pitchFamily="34" charset="0"/>
                            <a:cs typeface="Times New Roman" panose="02020603050405020304" pitchFamily="18" charset="0"/>
                          </a:rPr>
                          <m:t>)</m:t>
                        </m:r>
                        <m:r>
                          <m:rPr>
                            <m:nor/>
                          </m:rPr>
                          <a:rPr lang="en-IN" dirty="0">
                            <a:latin typeface="+mn-lt"/>
                            <a:ea typeface="Calibri" panose="020F0502020204030204" pitchFamily="34" charset="0"/>
                            <a:cs typeface="Times New Roman" panose="02020603050405020304" pitchFamily="18" charset="0"/>
                          </a:rPr>
                          <m:t> </m:t>
                        </m:r>
                      </m:den>
                    </m:f>
                    <m:r>
                      <a:rPr lang="en-IN" i="1" dirty="0" smtClean="0">
                        <a:effectLst/>
                        <a:latin typeface="Cambria Math" panose="02040503050406030204" pitchFamily="18"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0000"/>
                  </a:lnSpc>
                  <a:spcAft>
                    <a:spcPts val="1000"/>
                  </a:spcAft>
                  <a:buNone/>
                </a:pPr>
                <a14:m>
                  <m:oMathPara xmlns:m="http://schemas.openxmlformats.org/officeDocument/2006/math">
                    <m:oMathParaPr>
                      <m:jc m:val="left"/>
                    </m:oMathParaPr>
                    <m:oMath xmlns:m="http://schemas.openxmlformats.org/officeDocument/2006/math">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𝑣</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0.116</m:t>
                          </m:r>
                        </m:num>
                        <m:den>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0.1</m:t>
                          </m:r>
                        </m:den>
                      </m:f>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=1.16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𝑠</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 ~1.2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𝑠</m:t>
                      </m:r>
                    </m:oMath>
                  </m:oMathPara>
                </a14:m>
                <a:endParaRPr lang="en-IN" dirty="0"/>
              </a:p>
              <a:p>
                <a:pPr marL="0" indent="0">
                  <a:lnSpc>
                    <a:spcPct val="110000"/>
                  </a:lnSpc>
                  <a:spcAft>
                    <a:spcPts val="1000"/>
                  </a:spcAft>
                  <a:buNone/>
                </a:pPr>
                <a:r>
                  <a:rPr lang="en-IN" dirty="0">
                    <a:effectLst/>
                    <a:latin typeface="+mn-lt"/>
                    <a:ea typeface="Calibri" panose="020F0502020204030204" pitchFamily="34" charset="0"/>
                    <a:cs typeface="Times New Roman" panose="02020603050405020304" pitchFamily="18" charset="0"/>
                  </a:rPr>
                  <a:t>Head loss ,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h</m:t>
                    </m:r>
                    <m:r>
                      <a:rPr lang="en-IN" i="1" baseline="-25000" dirty="0" err="1">
                        <a:latin typeface="Cambria Math" panose="02040503050406030204" pitchFamily="18" charset="0"/>
                        <a:ea typeface="Calibri" panose="020F0502020204030204" pitchFamily="34" charset="0"/>
                        <a:cs typeface="Times New Roman" panose="02020603050405020304" pitchFamily="18" charset="0"/>
                      </a:rPr>
                      <m:t>𝐿</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=0.0729</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𝑣</m:t>
                    </m:r>
                    <m:r>
                      <a:rPr lang="en-IN"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𝑣</m:t>
                    </m:r>
                    <m:r>
                      <a:rPr lang="en-US" b="0" i="1" baseline="-25000" dirty="0" smtClean="0">
                        <a:effectLst/>
                        <a:latin typeface="Cambria Math" panose="02040503050406030204" pitchFamily="18" charset="0"/>
                        <a:ea typeface="Calibri" panose="020F0502020204030204" pitchFamily="34" charset="0"/>
                        <a:cs typeface="Times New Roman" panose="02020603050405020304" pitchFamily="18" charset="0"/>
                      </a:rPr>
                      <m:t>h</m:t>
                    </m:r>
                    <m:r>
                      <a:rPr lang="en-IN"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0000"/>
                  </a:lnSpc>
                  <a:spcAft>
                    <a:spcPts val="1000"/>
                  </a:spcAft>
                  <a:buNone/>
                </a:pPr>
                <a:r>
                  <a:rPr lang="en-IN" dirty="0">
                    <a:effectLst/>
                    <a:latin typeface="+mn-lt"/>
                    <a:ea typeface="Calibri" panose="020F0502020204030204" pitchFamily="34" charset="0"/>
                    <a:cs typeface="Times New Roman" panose="02020603050405020304" pitchFamily="18" charset="0"/>
                  </a:rPr>
                  <a:t>Here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h</m:t>
                    </m:r>
                    <m:r>
                      <a:rPr lang="en-IN" i="1" baseline="-25000" dirty="0" smtClean="0">
                        <a:effectLst/>
                        <a:latin typeface="Cambria Math" panose="02040503050406030204" pitchFamily="18" charset="0"/>
                        <a:ea typeface="Calibri" panose="020F0502020204030204" pitchFamily="34" charset="0"/>
                        <a:cs typeface="Times New Roman" panose="02020603050405020304" pitchFamily="18" charset="0"/>
                      </a:rPr>
                      <m:t>𝐿</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=0.0729</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d>
                      <m:dPr>
                        <m:ctrlPr>
                          <a:rPr lang="en-IN" i="1" dirty="0" smtClean="0">
                            <a:effectLst/>
                            <a:latin typeface="Cambria Math" panose="02040503050406030204" pitchFamily="18" charset="0"/>
                            <a:ea typeface="Calibri" panose="020F0502020204030204" pitchFamily="34" charset="0"/>
                            <a:cs typeface="Times New Roman" panose="02020603050405020304" pitchFamily="18" charset="0"/>
                          </a:rPr>
                        </m:ctrlPr>
                      </m:dPr>
                      <m:e>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1.2</m:t>
                        </m:r>
                        <m:r>
                          <a:rPr lang="en-IN"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−0.86</m:t>
                        </m:r>
                        <m:r>
                          <a:rPr lang="en-IN"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e>
                    </m:d>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=0.051</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r>
                  <a:rPr lang="en-IN" dirty="0">
                    <a:effectLst/>
                    <a:latin typeface="+mn-lt"/>
                    <a:ea typeface="Calibri" panose="020F0502020204030204" pitchFamily="34" charset="0"/>
                    <a:cs typeface="Times New Roman" panose="02020603050405020304" pitchFamily="18" charset="0"/>
                  </a:rPr>
                  <a:t> </a:t>
                </a:r>
              </a:p>
            </p:txBody>
          </p:sp>
        </mc:Choice>
        <mc:Fallback xmlns="">
          <p:sp>
            <p:nvSpPr>
              <p:cNvPr id="3" name="Content Placeholder 2">
                <a:extLst>
                  <a:ext uri="{FF2B5EF4-FFF2-40B4-BE49-F238E27FC236}">
                    <a16:creationId xmlns:a16="http://schemas.microsoft.com/office/drawing/2014/main" id="{E6604161-A42E-2319-8304-CC1BDD684AB9}"/>
                  </a:ext>
                </a:extLst>
              </p:cNvPr>
              <p:cNvSpPr>
                <a:spLocks noGrp="1" noRot="1" noChangeAspect="1" noMove="1" noResize="1" noEditPoints="1" noAdjustHandles="1" noChangeArrowheads="1" noChangeShapeType="1" noTextEdit="1"/>
              </p:cNvSpPr>
              <p:nvPr>
                <p:ph idx="1"/>
              </p:nvPr>
            </p:nvSpPr>
            <p:spPr>
              <a:xfrm>
                <a:off x="790113" y="1853248"/>
                <a:ext cx="10546671" cy="4618573"/>
              </a:xfrm>
              <a:blipFill>
                <a:blip r:embed="rId2"/>
                <a:stretch>
                  <a:fillRect l="-578" t="-660" b="-396"/>
                </a:stretch>
              </a:blipFill>
            </p:spPr>
            <p:txBody>
              <a:bodyPr/>
              <a:lstStyle/>
              <a:p>
                <a:r>
                  <a:rPr lang="en-IN">
                    <a:noFill/>
                  </a:rPr>
                  <a:t> </a:t>
                </a:r>
              </a:p>
            </p:txBody>
          </p:sp>
        </mc:Fallback>
      </mc:AlternateContent>
    </p:spTree>
    <p:extLst>
      <p:ext uri="{BB962C8B-B14F-4D97-AF65-F5344CB8AC3E}">
        <p14:creationId xmlns:p14="http://schemas.microsoft.com/office/powerpoint/2010/main" val="612265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EBB4-DF7D-9BEC-B831-DE44261E0965}"/>
              </a:ext>
            </a:extLst>
          </p:cNvPr>
          <p:cNvSpPr>
            <a:spLocks noGrp="1"/>
          </p:cNvSpPr>
          <p:nvPr>
            <p:ph type="title"/>
          </p:nvPr>
        </p:nvSpPr>
        <p:spPr/>
        <p:txBody>
          <a:bodyPr/>
          <a:lstStyle/>
          <a:p>
            <a:r>
              <a:rPr lang="en-US" dirty="0"/>
              <a:t>Design of Screen Chamber</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5B71D16-56FC-108B-7AA5-0090AB332AF9}"/>
                  </a:ext>
                </a:extLst>
              </p:cNvPr>
              <p:cNvSpPr>
                <a:spLocks noGrp="1"/>
              </p:cNvSpPr>
              <p:nvPr>
                <p:ph idx="1"/>
              </p:nvPr>
            </p:nvSpPr>
            <p:spPr>
              <a:xfrm>
                <a:off x="790114" y="1853248"/>
                <a:ext cx="10386872" cy="4707350"/>
              </a:xfrm>
            </p:spPr>
            <p:txBody>
              <a:bodyPr/>
              <a:lstStyle/>
              <a:p>
                <a:pPr marL="0" indent="0">
                  <a:lnSpc>
                    <a:spcPct val="115000"/>
                  </a:lnSpc>
                  <a:spcAft>
                    <a:spcPts val="1000"/>
                  </a:spcAft>
                  <a:buNone/>
                </a:pPr>
                <a:r>
                  <a:rPr lang="en-IN" dirty="0">
                    <a:effectLst/>
                    <a:latin typeface="+mn-lt"/>
                    <a:ea typeface="Calibri" panose="020F0502020204030204" pitchFamily="34" charset="0"/>
                    <a:cs typeface="Times New Roman" panose="02020603050405020304" pitchFamily="18" charset="0"/>
                  </a:rPr>
                  <a:t>Assuming screening production as 0.0012 m</a:t>
                </a:r>
                <a:r>
                  <a:rPr lang="en-IN" baseline="30000" dirty="0">
                    <a:effectLst/>
                    <a:latin typeface="+mn-lt"/>
                    <a:ea typeface="Calibri" panose="020F0502020204030204" pitchFamily="34" charset="0"/>
                    <a:cs typeface="Times New Roman" panose="02020603050405020304" pitchFamily="18" charset="0"/>
                  </a:rPr>
                  <a:t>3</a:t>
                </a:r>
                <a:r>
                  <a:rPr lang="en-IN" dirty="0">
                    <a:effectLst/>
                    <a:latin typeface="+mn-lt"/>
                    <a:ea typeface="Calibri" panose="020F0502020204030204" pitchFamily="34" charset="0"/>
                    <a:cs typeface="Times New Roman" panose="02020603050405020304" pitchFamily="18" charset="0"/>
                  </a:rPr>
                  <a:t>/ML of flow for 25 mm opening and a flow of 10 MLD for channel.</a:t>
                </a:r>
              </a:p>
              <a:p>
                <a:pPr marL="0" indent="0">
                  <a:lnSpc>
                    <a:spcPct val="115000"/>
                  </a:lnSpc>
                  <a:spcAft>
                    <a:spcPts val="1000"/>
                  </a:spcAft>
                  <a:buNone/>
                </a:pPr>
                <a:r>
                  <a:rPr lang="en-IN" dirty="0">
                    <a:effectLst/>
                    <a:latin typeface="+mn-lt"/>
                    <a:ea typeface="Calibri" panose="020F0502020204030204" pitchFamily="34" charset="0"/>
                    <a:cs typeface="Times New Roman" panose="02020603050405020304" pitchFamily="18" charset="0"/>
                  </a:rPr>
                  <a:t>Quantity of screening produced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=0.0012∗12 =0.012</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𝑑</m:t>
                    </m:r>
                  </m:oMath>
                </a14:m>
                <a:r>
                  <a:rPr lang="en-IN" dirty="0">
                    <a:effectLst/>
                    <a:latin typeface="+mn-lt"/>
                    <a:ea typeface="Calibri" panose="020F0502020204030204" pitchFamily="34" charset="0"/>
                    <a:cs typeface="Times New Roman" panose="02020603050405020304" pitchFamily="18" charset="0"/>
                  </a:rPr>
                  <a:t>(for 2 channel)</a:t>
                </a:r>
              </a:p>
              <a:p>
                <a:pPr marL="0" indent="0">
                  <a:lnSpc>
                    <a:spcPct val="115000"/>
                  </a:lnSpc>
                  <a:spcAft>
                    <a:spcPts val="1000"/>
                  </a:spcAft>
                  <a:buNone/>
                </a:pPr>
                <a:r>
                  <a:rPr lang="en-IN" dirty="0">
                    <a:effectLst/>
                    <a:latin typeface="+mn-lt"/>
                    <a:ea typeface="Calibri" panose="020F0502020204030204" pitchFamily="34" charset="0"/>
                    <a:cs typeface="Times New Roman" panose="02020603050405020304" pitchFamily="18" charset="0"/>
                  </a:rPr>
                  <a:t>Cleaning can be done manually every 3 to 4 day from two channels.</a:t>
                </a:r>
              </a:p>
              <a:p>
                <a:pPr>
                  <a:lnSpc>
                    <a:spcPct val="115000"/>
                  </a:lnSpc>
                  <a:spcAft>
                    <a:spcPts val="1000"/>
                  </a:spcAft>
                </a:pPr>
                <a:r>
                  <a:rPr lang="en-IN" u="sng" dirty="0">
                    <a:effectLst/>
                    <a:latin typeface="+mn-lt"/>
                    <a:ea typeface="Calibri" panose="020F0502020204030204" pitchFamily="34" charset="0"/>
                    <a:cs typeface="Times New Roman" panose="02020603050405020304" pitchFamily="18" charset="0"/>
                  </a:rPr>
                  <a:t>Design of perforated plate</a:t>
                </a:r>
                <a:r>
                  <a:rPr lang="en-IN" dirty="0">
                    <a:effectLst/>
                    <a:latin typeface="+mn-lt"/>
                    <a:ea typeface="Calibri" panose="020F0502020204030204" pitchFamily="34" charset="0"/>
                    <a:cs typeface="Times New Roman" panose="02020603050405020304" pitchFamily="18" charset="0"/>
                  </a:rPr>
                  <a:t>:</a:t>
                </a:r>
              </a:p>
              <a:p>
                <a:pPr marL="0" indent="0">
                  <a:lnSpc>
                    <a:spcPct val="115000"/>
                  </a:lnSpc>
                  <a:spcAft>
                    <a:spcPts val="1000"/>
                  </a:spcAft>
                  <a:buNone/>
                </a:pPr>
                <a:r>
                  <a:rPr lang="en-IN" dirty="0">
                    <a:effectLst/>
                    <a:latin typeface="+mn-lt"/>
                    <a:ea typeface="Calibri" panose="020F0502020204030204" pitchFamily="34" charset="0"/>
                    <a:cs typeface="Times New Roman" panose="02020603050405020304" pitchFamily="18" charset="0"/>
                  </a:rPr>
                  <a:t>Provide length of the plate equal to the total width of the chamber with position wall of 0.2 m thick , which is 1.1 m(</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0.45∗2+0.2</m:t>
                    </m:r>
                  </m:oMath>
                </a14:m>
                <a:r>
                  <a:rPr lang="en-IN" dirty="0">
                    <a:effectLst/>
                    <a:latin typeface="+mn-lt"/>
                    <a:ea typeface="Calibri" panose="020F0502020204030204" pitchFamily="34" charset="0"/>
                    <a:cs typeface="Times New Roman" panose="02020603050405020304" pitchFamily="18" charset="0"/>
                  </a:rPr>
                  <a:t>).</a:t>
                </a:r>
              </a:p>
              <a:p>
                <a:pPr marL="0" indent="0">
                  <a:lnSpc>
                    <a:spcPct val="115000"/>
                  </a:lnSpc>
                  <a:spcAft>
                    <a:spcPts val="1000"/>
                  </a:spcAft>
                  <a:buNone/>
                </a:pPr>
                <a:r>
                  <a:rPr lang="en-IN" dirty="0">
                    <a:effectLst/>
                    <a:latin typeface="+mn-lt"/>
                    <a:ea typeface="Calibri" panose="020F0502020204030204" pitchFamily="34" charset="0"/>
                    <a:cs typeface="Times New Roman" panose="02020603050405020304" pitchFamily="18" charset="0"/>
                  </a:rPr>
                  <a:t>Assuming width of the plate equal to 0.3 m and depth of pocket equal to 0.2 m for collecting screenings.</a:t>
                </a:r>
              </a:p>
            </p:txBody>
          </p:sp>
        </mc:Choice>
        <mc:Fallback>
          <p:sp>
            <p:nvSpPr>
              <p:cNvPr id="3" name="Content Placeholder 2">
                <a:extLst>
                  <a:ext uri="{FF2B5EF4-FFF2-40B4-BE49-F238E27FC236}">
                    <a16:creationId xmlns:a16="http://schemas.microsoft.com/office/drawing/2014/main" id="{75B71D16-56FC-108B-7AA5-0090AB332AF9}"/>
                  </a:ext>
                </a:extLst>
              </p:cNvPr>
              <p:cNvSpPr>
                <a:spLocks noGrp="1" noRot="1" noChangeAspect="1" noMove="1" noResize="1" noEditPoints="1" noAdjustHandles="1" noChangeArrowheads="1" noChangeShapeType="1" noTextEdit="1"/>
              </p:cNvSpPr>
              <p:nvPr>
                <p:ph idx="1"/>
              </p:nvPr>
            </p:nvSpPr>
            <p:spPr>
              <a:xfrm>
                <a:off x="790114" y="1853248"/>
                <a:ext cx="10386872" cy="4707350"/>
              </a:xfrm>
              <a:blipFill>
                <a:blip r:embed="rId2"/>
                <a:stretch>
                  <a:fillRect l="-646" t="-389" r="-763"/>
                </a:stretch>
              </a:blipFill>
            </p:spPr>
            <p:txBody>
              <a:bodyPr/>
              <a:lstStyle/>
              <a:p>
                <a:r>
                  <a:rPr lang="en-IN">
                    <a:noFill/>
                  </a:rPr>
                  <a:t> </a:t>
                </a:r>
              </a:p>
            </p:txBody>
          </p:sp>
        </mc:Fallback>
      </mc:AlternateContent>
    </p:spTree>
    <p:extLst>
      <p:ext uri="{BB962C8B-B14F-4D97-AF65-F5344CB8AC3E}">
        <p14:creationId xmlns:p14="http://schemas.microsoft.com/office/powerpoint/2010/main" val="3571601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C77EC-8E4E-76EB-1946-E4513936BB52}"/>
              </a:ext>
            </a:extLst>
          </p:cNvPr>
          <p:cNvSpPr>
            <a:spLocks noGrp="1"/>
          </p:cNvSpPr>
          <p:nvPr>
            <p:ph type="title"/>
          </p:nvPr>
        </p:nvSpPr>
        <p:spPr/>
        <p:txBody>
          <a:bodyPr/>
          <a:lstStyle/>
          <a:p>
            <a:r>
              <a:rPr lang="en-US" dirty="0"/>
              <a:t>Design of Screen Chamber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CEEAB4-1A16-BC06-CA97-6685D689C7EB}"/>
                  </a:ext>
                </a:extLst>
              </p:cNvPr>
              <p:cNvSpPr>
                <a:spLocks noGrp="1"/>
              </p:cNvSpPr>
              <p:nvPr>
                <p:ph idx="1"/>
              </p:nvPr>
            </p:nvSpPr>
            <p:spPr>
              <a:xfrm>
                <a:off x="754602" y="1562471"/>
                <a:ext cx="10422384" cy="5113538"/>
              </a:xfrm>
            </p:spPr>
            <p:txBody>
              <a:bodyPr>
                <a:noAutofit/>
              </a:bodyPr>
              <a:lstStyle/>
              <a:p>
                <a:pPr marL="0" indent="0">
                  <a:spcAft>
                    <a:spcPts val="1000"/>
                  </a:spcAft>
                  <a:buNone/>
                </a:pPr>
                <a:r>
                  <a:rPr lang="en-IN" dirty="0">
                    <a:effectLst/>
                    <a:latin typeface="+mn-lt"/>
                    <a:ea typeface="Calibri" panose="020F0502020204030204" pitchFamily="34" charset="0"/>
                    <a:cs typeface="Times New Roman" panose="02020603050405020304" pitchFamily="18" charset="0"/>
                  </a:rPr>
                  <a:t>Capacity of the screening pocket ,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𝐶</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=1.1 ∗0.3 ∗ 0.2=0.066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IN" dirty="0">
                    <a:effectLst/>
                    <a:latin typeface="+mn-lt"/>
                    <a:ea typeface="Calibri" panose="020F0502020204030204" pitchFamily="34" charset="0"/>
                    <a:cs typeface="Times New Roman" panose="02020603050405020304" pitchFamily="18" charset="0"/>
                  </a:rPr>
                  <a:t>Which is approximately equal to 3 days cleaning </a:t>
                </a:r>
              </a:p>
              <a:p>
                <a:pPr marL="0" indent="0">
                  <a:spcAft>
                    <a:spcPts val="1000"/>
                  </a:spcAft>
                  <a:buNone/>
                </a:pPr>
                <a:r>
                  <a:rPr lang="en-IN" dirty="0">
                    <a:effectLst/>
                    <a:latin typeface="+mn-lt"/>
                    <a:ea typeface="Calibri" panose="020F0502020204030204" pitchFamily="34" charset="0"/>
                    <a:cs typeface="Times New Roman" panose="02020603050405020304" pitchFamily="18" charset="0"/>
                  </a:rPr>
                  <a:t>Inclined length of bars, </a:t>
                </a:r>
                <a14:m>
                  <m:oMath xmlns:m="http://schemas.openxmlformats.org/officeDocument/2006/math">
                    <m:f>
                      <m:fPr>
                        <m:ctrlP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𝐷</m:t>
                        </m:r>
                      </m:num>
                      <m:den>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𝑠</m:t>
                        </m:r>
                        <m:r>
                          <a:rPr lang="en-IN" i="1" dirty="0">
                            <a:latin typeface="Cambria Math" panose="02040503050406030204" pitchFamily="18" charset="0"/>
                            <a:ea typeface="Calibri" panose="020F0502020204030204" pitchFamily="34" charset="0"/>
                            <a:cs typeface="Times New Roman" panose="02020603050405020304" pitchFamily="18" charset="0"/>
                          </a:rPr>
                          <m:t>𝑖𝑛</m:t>
                        </m:r>
                        <m:r>
                          <a:rPr lang="en-IN" i="1" dirty="0">
                            <a:latin typeface="Cambria Math" panose="02040503050406030204" pitchFamily="18" charset="0"/>
                            <a:ea typeface="Calibri" panose="020F0502020204030204" pitchFamily="34" charset="0"/>
                            <a:cs typeface="Times New Roman" panose="02020603050405020304" pitchFamily="18" charset="0"/>
                          </a:rPr>
                          <m:t>45°</m:t>
                        </m:r>
                      </m:den>
                    </m:f>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b="0" i="1" dirty="0" smtClean="0">
                            <a:effectLst/>
                            <a:latin typeface="Cambria Math" panose="02040503050406030204" pitchFamily="18" charset="0"/>
                            <a:cs typeface="Times New Roman" panose="02020603050405020304" pitchFamily="18" charset="0"/>
                          </a:rPr>
                        </m:ctrlPr>
                      </m:fPr>
                      <m:num>
                        <m:r>
                          <a:rPr lang="en-US" b="0" i="1" dirty="0" smtClean="0">
                            <a:effectLst/>
                            <a:latin typeface="Cambria Math" panose="02040503050406030204" pitchFamily="18" charset="0"/>
                            <a:cs typeface="Times New Roman" panose="02020603050405020304" pitchFamily="18" charset="0"/>
                          </a:rPr>
                          <m:t>0.3+0.3(</m:t>
                        </m:r>
                        <m:r>
                          <a:rPr lang="en-US" b="0" i="1" dirty="0" smtClean="0">
                            <a:effectLst/>
                            <a:latin typeface="Cambria Math" panose="02040503050406030204" pitchFamily="18" charset="0"/>
                            <a:cs typeface="Times New Roman" panose="02020603050405020304" pitchFamily="18" charset="0"/>
                          </a:rPr>
                          <m:t>𝐹𝐵</m:t>
                        </m:r>
                        <m:r>
                          <a:rPr lang="en-US" b="0" i="1" dirty="0" smtClean="0">
                            <a:effectLst/>
                            <a:latin typeface="Cambria Math" panose="02040503050406030204" pitchFamily="18" charset="0"/>
                            <a:cs typeface="Times New Roman" panose="02020603050405020304" pitchFamily="18" charset="0"/>
                          </a:rPr>
                          <m:t>)</m:t>
                        </m:r>
                      </m:num>
                      <m:den>
                        <m:r>
                          <a:rPr lang="en-US" i="1" dirty="0">
                            <a:latin typeface="Cambria Math" panose="02040503050406030204" pitchFamily="18" charset="0"/>
                            <a:ea typeface="Calibri" panose="020F0502020204030204" pitchFamily="34" charset="0"/>
                            <a:cs typeface="Times New Roman" panose="02020603050405020304" pitchFamily="18" charset="0"/>
                          </a:rPr>
                          <m:t>𝑠𝑖𝑛</m:t>
                        </m:r>
                        <m:r>
                          <a:rPr lang="en-US" i="1" dirty="0">
                            <a:latin typeface="Cambria Math" panose="02040503050406030204" pitchFamily="18" charset="0"/>
                            <a:ea typeface="Calibri" panose="020F0502020204030204" pitchFamily="34" charset="0"/>
                            <a:cs typeface="Times New Roman" panose="02020603050405020304" pitchFamily="18" charset="0"/>
                          </a:rPr>
                          <m:t>45°</m:t>
                        </m:r>
                      </m:den>
                    </m:f>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=0.85</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IN" dirty="0">
                    <a:effectLst/>
                    <a:latin typeface="+mn-lt"/>
                    <a:ea typeface="Calibri" panose="020F0502020204030204" pitchFamily="34" charset="0"/>
                    <a:cs typeface="Times New Roman" panose="02020603050405020304" pitchFamily="18" charset="0"/>
                  </a:rPr>
                  <a:t>Horizontal projected length of bars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=0.85</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𝑐𝑜𝑠</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45°=0.6 </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IN" dirty="0">
                    <a:effectLst/>
                    <a:latin typeface="+mn-lt"/>
                    <a:ea typeface="Calibri" panose="020F0502020204030204" pitchFamily="34" charset="0"/>
                    <a:cs typeface="Times New Roman" panose="02020603050405020304" pitchFamily="18" charset="0"/>
                  </a:rPr>
                  <a:t>Let the length of the outlet zone be the width of the perforated plate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+ 0.2</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=0.3</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+0.2 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=0.5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IN" dirty="0">
                    <a:effectLst/>
                    <a:latin typeface="+mn-lt"/>
                    <a:ea typeface="Calibri" panose="020F0502020204030204" pitchFamily="34" charset="0"/>
                    <a:cs typeface="Times New Roman" panose="02020603050405020304" pitchFamily="18" charset="0"/>
                  </a:rPr>
                  <a:t>Assuming length of the inlet zone as 0.9 m, the total length of the screen channel is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0.9+0.6+0.5=2</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14:m>
                  <m:oMath xmlns:m="http://schemas.openxmlformats.org/officeDocument/2006/math">
                    <m:r>
                      <a:rPr lang="en-IN" i="1"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IN" dirty="0">
                    <a:effectLst/>
                    <a:latin typeface="+mn-lt"/>
                    <a:ea typeface="Calibri" panose="020F0502020204030204" pitchFamily="34" charset="0"/>
                    <a:cs typeface="Times New Roman" panose="02020603050405020304" pitchFamily="18" charset="0"/>
                  </a:rPr>
                  <a:t>Size of perforated plate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=0.45</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∗0.3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14:m>
                  <m:oMath xmlns:m="http://schemas.openxmlformats.org/officeDocument/2006/math">
                    <m:r>
                      <a:rPr lang="en-IN" i="1"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IN" dirty="0">
                    <a:effectLst/>
                    <a:latin typeface="+mn-lt"/>
                    <a:ea typeface="Calibri" panose="020F0502020204030204" pitchFamily="34" charset="0"/>
                    <a:cs typeface="Times New Roman" panose="02020603050405020304" pitchFamily="18" charset="0"/>
                  </a:rPr>
                  <a:t>Screening collection pocket </a:t>
                </a:r>
                <a14:m>
                  <m:oMath xmlns:m="http://schemas.openxmlformats.org/officeDocument/2006/math">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=0.45</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∗0.3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∗0.2 </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1CEEAB4-1A16-BC06-CA97-6685D689C7EB}"/>
                  </a:ext>
                </a:extLst>
              </p:cNvPr>
              <p:cNvSpPr>
                <a:spLocks noGrp="1" noRot="1" noChangeAspect="1" noMove="1" noResize="1" noEditPoints="1" noAdjustHandles="1" noChangeArrowheads="1" noChangeShapeType="1" noTextEdit="1"/>
              </p:cNvSpPr>
              <p:nvPr>
                <p:ph idx="1"/>
              </p:nvPr>
            </p:nvSpPr>
            <p:spPr>
              <a:xfrm>
                <a:off x="754602" y="1562471"/>
                <a:ext cx="10422384" cy="5113538"/>
              </a:xfrm>
              <a:blipFill>
                <a:blip r:embed="rId2"/>
                <a:stretch>
                  <a:fillRect l="-644" t="-596" r="-410" b="-1073"/>
                </a:stretch>
              </a:blipFill>
            </p:spPr>
            <p:txBody>
              <a:bodyPr/>
              <a:lstStyle/>
              <a:p>
                <a:r>
                  <a:rPr lang="en-IN">
                    <a:noFill/>
                  </a:rPr>
                  <a:t> </a:t>
                </a:r>
              </a:p>
            </p:txBody>
          </p:sp>
        </mc:Fallback>
      </mc:AlternateContent>
    </p:spTree>
    <p:extLst>
      <p:ext uri="{BB962C8B-B14F-4D97-AF65-F5344CB8AC3E}">
        <p14:creationId xmlns:p14="http://schemas.microsoft.com/office/powerpoint/2010/main" val="4265685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B349-E41F-B643-15C0-84E8880DD276}"/>
              </a:ext>
            </a:extLst>
          </p:cNvPr>
          <p:cNvSpPr>
            <a:spLocks noGrp="1"/>
          </p:cNvSpPr>
          <p:nvPr>
            <p:ph type="title"/>
          </p:nvPr>
        </p:nvSpPr>
        <p:spPr/>
        <p:txBody>
          <a:bodyPr/>
          <a:lstStyle/>
          <a:p>
            <a:r>
              <a:rPr lang="en-US" dirty="0"/>
              <a:t>Design of Grit Chamber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7F24C5-78A0-64DE-BD7A-75EC72366AEA}"/>
                  </a:ext>
                </a:extLst>
              </p:cNvPr>
              <p:cNvSpPr>
                <a:spLocks noGrp="1"/>
              </p:cNvSpPr>
              <p:nvPr>
                <p:ph idx="1"/>
              </p:nvPr>
            </p:nvSpPr>
            <p:spPr>
              <a:xfrm>
                <a:off x="914400" y="1757780"/>
                <a:ext cx="10457895" cy="4740674"/>
              </a:xfrm>
            </p:spPr>
            <p:txBody>
              <a:bodyPr>
                <a:normAutofit lnSpcReduction="10000"/>
              </a:bodyPr>
              <a:lstStyle/>
              <a:p>
                <a:pPr marL="0" indent="0">
                  <a:buNone/>
                </a:pPr>
                <a:r>
                  <a:rPr lang="en-US" dirty="0"/>
                  <a:t>Assume no. of channels in one unit = 2</a:t>
                </a:r>
              </a:p>
              <a:p>
                <a:pPr marL="0" indent="0">
                  <a:buNone/>
                </a:pPr>
                <a:r>
                  <a:rPr lang="en-US" dirty="0"/>
                  <a:t>Detention time = 30 s</a:t>
                </a:r>
              </a:p>
              <a:p>
                <a:pPr marL="0" indent="0">
                  <a:buNone/>
                </a:pPr>
                <a14:m>
                  <m:oMathPara xmlns:m="http://schemas.openxmlformats.org/officeDocument/2006/math">
                    <m:oMathParaPr>
                      <m:jc m:val="left"/>
                    </m:oMathParaPr>
                    <m:oMath xmlns:m="http://schemas.openxmlformats.org/officeDocument/2006/math">
                      <m:r>
                        <a:rPr lang="en-US" i="1" dirty="0" smtClean="0">
                          <a:latin typeface="Cambria Math" panose="02040503050406030204" pitchFamily="18" charset="0"/>
                        </a:rPr>
                        <m:t>𝑄𝑚𝑎𝑥</m:t>
                      </m:r>
                      <m:r>
                        <a:rPr lang="en-US" i="1" dirty="0">
                          <a:latin typeface="Cambria Math" panose="02040503050406030204" pitchFamily="18" charset="0"/>
                        </a:rPr>
                        <m:t> </m:t>
                      </m:r>
                      <m:r>
                        <a:rPr lang="en-US" i="1" dirty="0" smtClean="0">
                          <a:latin typeface="Cambria Math" panose="02040503050406030204" pitchFamily="18" charset="0"/>
                        </a:rPr>
                        <m:t>=</m:t>
                      </m:r>
                      <m:r>
                        <a:rPr lang="en-US" b="0" i="1" dirty="0" smtClean="0">
                          <a:latin typeface="Cambria Math" panose="02040503050406030204" pitchFamily="18" charset="0"/>
                        </a:rPr>
                        <m:t>20,000 </m:t>
                      </m:r>
                      <m:r>
                        <a:rPr lang="en-US" i="1" dirty="0" smtClean="0">
                          <a:latin typeface="Cambria Math" panose="02040503050406030204" pitchFamily="18" charset="0"/>
                        </a:rPr>
                        <m:t>𝑚</m:t>
                      </m:r>
                      <m:r>
                        <a:rPr lang="en-US" i="1" baseline="30000" dirty="0" smtClean="0">
                          <a:latin typeface="Cambria Math" panose="02040503050406030204" pitchFamily="18" charset="0"/>
                        </a:rPr>
                        <m:t>3</m:t>
                      </m:r>
                      <m:r>
                        <a:rPr lang="en-US" i="1" dirty="0" smtClean="0">
                          <a:latin typeface="Cambria Math" panose="02040503050406030204" pitchFamily="18" charset="0"/>
                        </a:rPr>
                        <m:t>/</m:t>
                      </m:r>
                      <m:r>
                        <a:rPr lang="en-US" b="0" i="1" dirty="0" smtClean="0">
                          <a:latin typeface="Cambria Math" panose="02040503050406030204" pitchFamily="18" charset="0"/>
                        </a:rPr>
                        <m:t>𝑑</m:t>
                      </m:r>
                    </m:oMath>
                  </m:oMathPara>
                </a14:m>
                <a:endParaRPr lang="en-US" dirty="0"/>
              </a:p>
              <a:p>
                <a:pPr marL="0" indent="0">
                  <a:buNone/>
                </a:pPr>
                <a:r>
                  <a:rPr lang="en-US" dirty="0"/>
                  <a:t>Max. flow per channel </a:t>
                </a:r>
                <a14:m>
                  <m:oMath xmlns:m="http://schemas.openxmlformats.org/officeDocument/2006/math">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20000</m:t>
                        </m:r>
                      </m:num>
                      <m:den>
                        <m:r>
                          <a:rPr lang="en-US" b="0" i="1" dirty="0" smtClean="0">
                            <a:latin typeface="Cambria Math" panose="02040503050406030204" pitchFamily="18" charset="0"/>
                          </a:rPr>
                          <m:t>2</m:t>
                        </m:r>
                      </m:den>
                    </m:f>
                    <m:r>
                      <a:rPr lang="en-US" i="1" dirty="0" smtClean="0">
                        <a:latin typeface="Cambria Math" panose="02040503050406030204" pitchFamily="18" charset="0"/>
                      </a:rPr>
                      <m:t>=</m:t>
                    </m:r>
                    <m:r>
                      <a:rPr lang="en-US" b="0" i="1" dirty="0" smtClean="0">
                        <a:latin typeface="Cambria Math" panose="02040503050406030204" pitchFamily="18" charset="0"/>
                      </a:rPr>
                      <m:t>10000</m:t>
                    </m:r>
                    <m:r>
                      <a:rPr lang="en-US" i="1" dirty="0" smtClean="0">
                        <a:latin typeface="Cambria Math" panose="02040503050406030204" pitchFamily="18" charset="0"/>
                      </a:rPr>
                      <m:t> </m:t>
                    </m:r>
                    <m:r>
                      <a:rPr lang="en-US" i="1" dirty="0" smtClean="0">
                        <a:latin typeface="Cambria Math" panose="02040503050406030204" pitchFamily="18" charset="0"/>
                      </a:rPr>
                      <m:t>𝑚</m:t>
                    </m:r>
                    <m:r>
                      <a:rPr lang="en-US" i="1" baseline="30000" dirty="0" smtClean="0">
                        <a:latin typeface="Cambria Math" panose="02040503050406030204" pitchFamily="18" charset="0"/>
                      </a:rPr>
                      <m:t>3</m:t>
                    </m:r>
                    <m:r>
                      <a:rPr lang="en-US" i="1" dirty="0" smtClean="0">
                        <a:latin typeface="Cambria Math" panose="02040503050406030204" pitchFamily="18" charset="0"/>
                      </a:rPr>
                      <m:t>/</m:t>
                    </m:r>
                    <m:r>
                      <a:rPr lang="en-US" b="0" i="1" dirty="0" smtClean="0">
                        <a:latin typeface="Cambria Math" panose="02040503050406030204" pitchFamily="18" charset="0"/>
                      </a:rPr>
                      <m:t>𝑑</m:t>
                    </m:r>
                  </m:oMath>
                </a14:m>
                <a:endParaRPr lang="en-US" dirty="0"/>
              </a:p>
              <a:p>
                <a:pPr marL="0" indent="0">
                  <a:buNone/>
                </a:pPr>
                <a:r>
                  <a:rPr lang="en-US" dirty="0"/>
                  <a:t>Vol. of each channel, </a:t>
                </a:r>
                <a14:m>
                  <m:oMath xmlns:m="http://schemas.openxmlformats.org/officeDocument/2006/math">
                    <m:r>
                      <a:rPr lang="en-US" i="1" dirty="0" smtClean="0">
                        <a:latin typeface="Cambria Math" panose="02040503050406030204" pitchFamily="18" charset="0"/>
                      </a:rPr>
                      <m:t>𝑉</m:t>
                    </m:r>
                    <m:r>
                      <a:rPr lang="en-US" i="1" dirty="0" smtClean="0">
                        <a:latin typeface="Cambria Math" panose="02040503050406030204" pitchFamily="18" charset="0"/>
                      </a:rPr>
                      <m:t>=10000 </m:t>
                    </m:r>
                    <m:r>
                      <a:rPr lang="en-US" b="0" i="1" dirty="0" smtClean="0">
                        <a:latin typeface="Cambria Math" panose="02040503050406030204" pitchFamily="18" charset="0"/>
                      </a:rPr>
                      <m:t>𝑚</m:t>
                    </m:r>
                    <m:r>
                      <a:rPr lang="en-US" b="0" i="1" baseline="30000" dirty="0" smtClean="0">
                        <a:latin typeface="Cambria Math" panose="02040503050406030204" pitchFamily="18" charset="0"/>
                      </a:rPr>
                      <m:t>3</m:t>
                    </m:r>
                    <m:r>
                      <a:rPr lang="en-US" b="0" i="1" dirty="0" smtClean="0">
                        <a:latin typeface="Cambria Math" panose="02040503050406030204" pitchFamily="18" charset="0"/>
                      </a:rPr>
                      <m:t>/</m:t>
                    </m:r>
                    <m:r>
                      <a:rPr lang="en-US" b="0" i="1" dirty="0" smtClean="0">
                        <a:latin typeface="Cambria Math" panose="02040503050406030204" pitchFamily="18" charset="0"/>
                      </a:rPr>
                      <m:t>𝑑</m:t>
                    </m:r>
                    <m:r>
                      <a:rPr lang="en-US"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3</m:t>
                        </m:r>
                        <m:r>
                          <a:rPr lang="en-US" i="1" dirty="0" smtClean="0">
                            <a:latin typeface="Cambria Math" panose="02040503050406030204" pitchFamily="18" charset="0"/>
                          </a:rPr>
                          <m:t>0 </m:t>
                        </m:r>
                        <m:r>
                          <a:rPr lang="en-US" i="1" dirty="0" smtClean="0">
                            <a:latin typeface="Cambria Math" panose="02040503050406030204" pitchFamily="18" charset="0"/>
                          </a:rPr>
                          <m:t>𝑠</m:t>
                        </m:r>
                      </m:num>
                      <m:den>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24</m:t>
                            </m:r>
                            <m:r>
                              <a:rPr lang="en-US" b="0" i="1" dirty="0" smtClean="0">
                                <a:latin typeface="Cambria Math" panose="02040503050406030204" pitchFamily="18" charset="0"/>
                              </a:rPr>
                              <m:t>h𝑟</m:t>
                            </m:r>
                          </m:num>
                          <m:den>
                            <m:r>
                              <a:rPr lang="en-US" b="0" i="1" dirty="0" smtClean="0">
                                <a:latin typeface="Cambria Math" panose="02040503050406030204" pitchFamily="18" charset="0"/>
                              </a:rPr>
                              <m:t>𝑑</m:t>
                            </m:r>
                          </m:den>
                        </m:f>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60</m:t>
                            </m:r>
                            <m:r>
                              <a:rPr lang="en-US" b="0" i="1" dirty="0" smtClean="0">
                                <a:latin typeface="Cambria Math" panose="02040503050406030204" pitchFamily="18" charset="0"/>
                              </a:rPr>
                              <m:t>𝑚𝑖𝑛</m:t>
                            </m:r>
                          </m:num>
                          <m:den>
                            <m:r>
                              <a:rPr lang="en-US" b="0" i="1" dirty="0" smtClean="0">
                                <a:latin typeface="Cambria Math" panose="02040503050406030204" pitchFamily="18" charset="0"/>
                              </a:rPr>
                              <m:t>h𝑟</m:t>
                            </m:r>
                          </m:den>
                        </m:f>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60</m:t>
                            </m:r>
                            <m:r>
                              <a:rPr lang="en-US" b="0" i="1" dirty="0" smtClean="0">
                                <a:latin typeface="Cambria Math" panose="02040503050406030204" pitchFamily="18" charset="0"/>
                              </a:rPr>
                              <m:t>𝑠</m:t>
                            </m:r>
                          </m:num>
                          <m:den>
                            <m:r>
                              <a:rPr lang="en-US" b="0" i="1" dirty="0" smtClean="0">
                                <a:latin typeface="Cambria Math" panose="02040503050406030204" pitchFamily="18" charset="0"/>
                              </a:rPr>
                              <m:t>𝑚𝑖𝑛</m:t>
                            </m:r>
                          </m:den>
                        </m:f>
                      </m:den>
                    </m:f>
                    <m:r>
                      <a:rPr lang="en-US" i="1" dirty="0" smtClean="0">
                        <a:latin typeface="Cambria Math" panose="02040503050406030204" pitchFamily="18" charset="0"/>
                      </a:rPr>
                      <m:t>=</m:t>
                    </m:r>
                    <m:r>
                      <a:rPr lang="en-US" b="0" i="1" dirty="0" smtClean="0">
                        <a:latin typeface="Cambria Math" panose="02040503050406030204" pitchFamily="18" charset="0"/>
                      </a:rPr>
                      <m:t>3.5 </m:t>
                    </m:r>
                    <m:r>
                      <a:rPr lang="en-US" i="1" dirty="0" smtClean="0">
                        <a:latin typeface="Cambria Math" panose="02040503050406030204" pitchFamily="18" charset="0"/>
                      </a:rPr>
                      <m:t>𝑚</m:t>
                    </m:r>
                    <m:r>
                      <a:rPr lang="en-US" i="1" baseline="30000" dirty="0" smtClean="0">
                        <a:latin typeface="Cambria Math" panose="02040503050406030204" pitchFamily="18" charset="0"/>
                      </a:rPr>
                      <m:t>3</m:t>
                    </m:r>
                  </m:oMath>
                </a14:m>
                <a:endParaRPr lang="en-IN" baseline="30000" dirty="0"/>
              </a:p>
              <a:p>
                <a:pPr marL="0" indent="0">
                  <a:buNone/>
                </a:pPr>
                <a:r>
                  <a:rPr lang="en-IN" dirty="0"/>
                  <a:t>Assuming flow through velocity, </a:t>
                </a:r>
                <a14:m>
                  <m:oMath xmlns:m="http://schemas.openxmlformats.org/officeDocument/2006/math">
                    <m:r>
                      <a:rPr lang="en-US" b="0" i="1" smtClean="0">
                        <a:latin typeface="Cambria Math" panose="02040503050406030204" pitchFamily="18" charset="0"/>
                      </a:rPr>
                      <m:t>𝑣</m:t>
                    </m:r>
                    <m:r>
                      <a:rPr lang="en-US" b="0" i="1" baseline="-25000" smtClean="0">
                        <a:latin typeface="Cambria Math" panose="02040503050406030204" pitchFamily="18" charset="0"/>
                      </a:rPr>
                      <m:t>h</m:t>
                    </m:r>
                    <m:r>
                      <a:rPr lang="en-US" b="0" i="1" smtClean="0">
                        <a:latin typeface="Cambria Math" panose="02040503050406030204" pitchFamily="18" charset="0"/>
                      </a:rPr>
                      <m:t>=0.2 </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𝑠</m:t>
                    </m:r>
                  </m:oMath>
                </a14:m>
                <a:endParaRPr lang="en-IN" dirty="0"/>
              </a:p>
              <a:p>
                <a:pPr marL="0" indent="0">
                  <a:buNone/>
                </a:pPr>
                <a:r>
                  <a:rPr lang="en-IN" dirty="0"/>
                  <a:t>Length of each channel </a:t>
                </a:r>
                <a14:m>
                  <m:oMath xmlns:m="http://schemas.openxmlformats.org/officeDocument/2006/math">
                    <m:r>
                      <a:rPr lang="en-IN" i="1" dirty="0" smtClean="0">
                        <a:latin typeface="Cambria Math" panose="02040503050406030204" pitchFamily="18" charset="0"/>
                      </a:rPr>
                      <m:t>=0.2∗</m:t>
                    </m:r>
                    <m:r>
                      <a:rPr lang="en-US" b="0" i="1" dirty="0" smtClean="0">
                        <a:latin typeface="Cambria Math" panose="02040503050406030204" pitchFamily="18" charset="0"/>
                      </a:rPr>
                      <m:t>3</m:t>
                    </m:r>
                    <m:r>
                      <a:rPr lang="en-IN" i="1" dirty="0" smtClean="0">
                        <a:latin typeface="Cambria Math" panose="02040503050406030204" pitchFamily="18" charset="0"/>
                      </a:rPr>
                      <m:t>0=</m:t>
                    </m:r>
                    <m:r>
                      <a:rPr lang="en-US" b="0" i="1" dirty="0" smtClean="0">
                        <a:latin typeface="Cambria Math" panose="02040503050406030204" pitchFamily="18" charset="0"/>
                      </a:rPr>
                      <m:t>6 </m:t>
                    </m:r>
                    <m:r>
                      <a:rPr lang="en-IN" i="1" dirty="0" smtClean="0">
                        <a:latin typeface="Cambria Math" panose="02040503050406030204" pitchFamily="18" charset="0"/>
                      </a:rPr>
                      <m:t>𝑚</m:t>
                    </m:r>
                  </m:oMath>
                </a14:m>
                <a:endParaRPr lang="en-IN" dirty="0"/>
              </a:p>
              <a:p>
                <a:pPr marL="0" indent="0">
                  <a:buNone/>
                </a:pPr>
                <a:r>
                  <a:rPr lang="en-IN" dirty="0"/>
                  <a:t>Cross sectional area of channel, </a:t>
                </a:r>
                <a14:m>
                  <m:oMath xmlns:m="http://schemas.openxmlformats.org/officeDocument/2006/math">
                    <m:r>
                      <a:rPr lang="en-US" b="0" i="1" smtClean="0">
                        <a:latin typeface="Cambria Math" panose="02040503050406030204" pitchFamily="18" charset="0"/>
                      </a:rPr>
                      <m:t>𝐴</m:t>
                    </m:r>
                    <m:r>
                      <a:rPr lang="en-US" b="0" i="1" baseline="-25000" smtClean="0">
                        <a:latin typeface="Cambria Math" panose="02040503050406030204" pitchFamily="18" charset="0"/>
                      </a:rPr>
                      <m:t>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r>
                          <a:rPr lang="en-US" b="0" i="1" smtClean="0">
                            <a:latin typeface="Cambria Math" panose="02040503050406030204" pitchFamily="18" charset="0"/>
                          </a:rPr>
                          <m:t>𝐿</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3.5</m:t>
                        </m:r>
                      </m:num>
                      <m:den>
                        <m:r>
                          <a:rPr lang="en-US" b="0" i="1" smtClean="0">
                            <a:latin typeface="Cambria Math" panose="02040503050406030204" pitchFamily="18" charset="0"/>
                          </a:rPr>
                          <m:t>6</m:t>
                        </m:r>
                      </m:den>
                    </m:f>
                    <m:r>
                      <a:rPr lang="en-US" b="0" i="1" smtClean="0">
                        <a:latin typeface="Cambria Math" panose="02040503050406030204" pitchFamily="18" charset="0"/>
                      </a:rPr>
                      <m:t>=0.6 </m:t>
                    </m:r>
                    <m:r>
                      <a:rPr lang="en-US" b="0" i="1" smtClean="0">
                        <a:latin typeface="Cambria Math" panose="02040503050406030204" pitchFamily="18" charset="0"/>
                      </a:rPr>
                      <m:t>𝑚</m:t>
                    </m:r>
                    <m:r>
                      <a:rPr lang="en-US" b="0" i="1" baseline="30000" smtClean="0">
                        <a:latin typeface="Cambria Math" panose="02040503050406030204" pitchFamily="18" charset="0"/>
                      </a:rPr>
                      <m:t>2</m:t>
                    </m:r>
                  </m:oMath>
                </a14:m>
                <a:endParaRPr lang="en-IN" baseline="30000" dirty="0"/>
              </a:p>
              <a:p>
                <a:pPr marL="0" indent="0">
                  <a:buNone/>
                </a:pPr>
                <a:r>
                  <a:rPr lang="en-IN" dirty="0"/>
                  <a:t>Assuming width of channel, B = 1 m, liquid depth in channel,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𝐴</m:t>
                        </m:r>
                        <m:r>
                          <a:rPr lang="en-US" b="0" i="1" baseline="-25000" smtClean="0">
                            <a:latin typeface="Cambria Math" panose="02040503050406030204" pitchFamily="18" charset="0"/>
                          </a:rPr>
                          <m:t>𝑥</m:t>
                        </m:r>
                      </m:num>
                      <m:den>
                        <m:r>
                          <a:rPr lang="en-US" b="0" i="1" smtClean="0">
                            <a:latin typeface="Cambria Math" panose="02040503050406030204" pitchFamily="18" charset="0"/>
                          </a:rPr>
                          <m:t>𝐵</m:t>
                        </m:r>
                      </m:den>
                    </m:f>
                    <m:r>
                      <a:rPr lang="en-US" b="0" i="1" smtClean="0">
                        <a:latin typeface="Cambria Math" panose="02040503050406030204" pitchFamily="18" charset="0"/>
                      </a:rPr>
                      <m:t>=0.6 </m:t>
                    </m:r>
                    <m:r>
                      <a:rPr lang="en-US" b="0" i="1" smtClean="0">
                        <a:latin typeface="Cambria Math" panose="02040503050406030204" pitchFamily="18" charset="0"/>
                      </a:rPr>
                      <m:t>𝑚</m:t>
                    </m:r>
                  </m:oMath>
                </a14:m>
                <a:r>
                  <a:rPr lang="en-IN" dirty="0"/>
                  <a:t> </a:t>
                </a:r>
              </a:p>
              <a:p>
                <a:pPr marL="0" indent="0">
                  <a:buNone/>
                </a:pPr>
                <a:r>
                  <a:rPr lang="en-IN" dirty="0"/>
                  <a:t>Therefore, net dimensions </a:t>
                </a:r>
                <a14:m>
                  <m:oMath xmlns:m="http://schemas.openxmlformats.org/officeDocument/2006/math">
                    <m:r>
                      <a:rPr lang="en-IN" i="1" dirty="0" smtClean="0">
                        <a:latin typeface="Cambria Math" panose="02040503050406030204" pitchFamily="18" charset="0"/>
                      </a:rPr>
                      <m:t>𝐿</m:t>
                    </m:r>
                    <m:r>
                      <a:rPr lang="en-IN" i="1" dirty="0" smtClean="0">
                        <a:latin typeface="Cambria Math" panose="02040503050406030204" pitchFamily="18" charset="0"/>
                      </a:rPr>
                      <m:t>=6 </m:t>
                    </m:r>
                    <m:r>
                      <a:rPr lang="en-IN" i="1" dirty="0" smtClean="0">
                        <a:latin typeface="Cambria Math" panose="02040503050406030204" pitchFamily="18" charset="0"/>
                      </a:rPr>
                      <m:t>𝑚</m:t>
                    </m:r>
                    <m:r>
                      <a:rPr lang="en-IN" i="1" dirty="0" smtClean="0">
                        <a:latin typeface="Cambria Math" panose="02040503050406030204" pitchFamily="18" charset="0"/>
                      </a:rPr>
                      <m:t>, </m:t>
                    </m:r>
                    <m:r>
                      <a:rPr lang="en-IN" i="1" dirty="0" smtClean="0">
                        <a:latin typeface="Cambria Math" panose="02040503050406030204" pitchFamily="18" charset="0"/>
                      </a:rPr>
                      <m:t>𝐵</m:t>
                    </m:r>
                    <m:r>
                      <a:rPr lang="en-IN" i="1" dirty="0" smtClean="0">
                        <a:latin typeface="Cambria Math" panose="02040503050406030204" pitchFamily="18" charset="0"/>
                      </a:rPr>
                      <m:t>=1 </m:t>
                    </m:r>
                    <m:r>
                      <a:rPr lang="en-IN" i="1" dirty="0" smtClean="0">
                        <a:latin typeface="Cambria Math" panose="02040503050406030204" pitchFamily="18" charset="0"/>
                      </a:rPr>
                      <m:t>𝑚</m:t>
                    </m:r>
                    <m:r>
                      <a:rPr lang="en-IN" i="1" dirty="0" smtClean="0">
                        <a:latin typeface="Cambria Math" panose="02040503050406030204" pitchFamily="18" charset="0"/>
                      </a:rPr>
                      <m:t>, </m:t>
                    </m:r>
                    <m:r>
                      <a:rPr lang="en-IN" i="1" dirty="0" smtClean="0">
                        <a:latin typeface="Cambria Math" panose="02040503050406030204" pitchFamily="18" charset="0"/>
                      </a:rPr>
                      <m:t>𝐷</m:t>
                    </m:r>
                    <m:r>
                      <a:rPr lang="en-IN" i="1" dirty="0" smtClean="0">
                        <a:latin typeface="Cambria Math" panose="02040503050406030204" pitchFamily="18" charset="0"/>
                      </a:rPr>
                      <m:t>=0.6 </m:t>
                    </m:r>
                    <m:r>
                      <a:rPr lang="en-IN" i="1" dirty="0" smtClean="0">
                        <a:latin typeface="Cambria Math" panose="02040503050406030204" pitchFamily="18" charset="0"/>
                      </a:rPr>
                      <m:t>𝑚</m:t>
                    </m:r>
                  </m:oMath>
                </a14:m>
                <a:endParaRPr lang="en-IN" dirty="0"/>
              </a:p>
            </p:txBody>
          </p:sp>
        </mc:Choice>
        <mc:Fallback xmlns="">
          <p:sp>
            <p:nvSpPr>
              <p:cNvPr id="3" name="Content Placeholder 2">
                <a:extLst>
                  <a:ext uri="{FF2B5EF4-FFF2-40B4-BE49-F238E27FC236}">
                    <a16:creationId xmlns:a16="http://schemas.microsoft.com/office/drawing/2014/main" id="{437F24C5-78A0-64DE-BD7A-75EC72366AEA}"/>
                  </a:ext>
                </a:extLst>
              </p:cNvPr>
              <p:cNvSpPr>
                <a:spLocks noGrp="1" noRot="1" noChangeAspect="1" noMove="1" noResize="1" noEditPoints="1" noAdjustHandles="1" noChangeArrowheads="1" noChangeShapeType="1" noTextEdit="1"/>
              </p:cNvSpPr>
              <p:nvPr>
                <p:ph idx="1"/>
              </p:nvPr>
            </p:nvSpPr>
            <p:spPr>
              <a:xfrm>
                <a:off x="914400" y="1757780"/>
                <a:ext cx="10457895" cy="4740674"/>
              </a:xfrm>
              <a:blipFill>
                <a:blip r:embed="rId2"/>
                <a:stretch>
                  <a:fillRect l="-583" t="-1285"/>
                </a:stretch>
              </a:blipFill>
            </p:spPr>
            <p:txBody>
              <a:bodyPr/>
              <a:lstStyle/>
              <a:p>
                <a:r>
                  <a:rPr lang="en-IN">
                    <a:noFill/>
                  </a:rPr>
                  <a:t> </a:t>
                </a:r>
              </a:p>
            </p:txBody>
          </p:sp>
        </mc:Fallback>
      </mc:AlternateContent>
    </p:spTree>
    <p:extLst>
      <p:ext uri="{BB962C8B-B14F-4D97-AF65-F5344CB8AC3E}">
        <p14:creationId xmlns:p14="http://schemas.microsoft.com/office/powerpoint/2010/main" val="22133056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B8F7E-0558-168E-73E1-DBECF6C28B12}"/>
              </a:ext>
            </a:extLst>
          </p:cNvPr>
          <p:cNvSpPr>
            <a:spLocks noGrp="1"/>
          </p:cNvSpPr>
          <p:nvPr>
            <p:ph type="title"/>
          </p:nvPr>
        </p:nvSpPr>
        <p:spPr>
          <a:xfrm>
            <a:off x="646111" y="443840"/>
            <a:ext cx="9404723" cy="1400530"/>
          </a:xfrm>
        </p:spPr>
        <p:txBody>
          <a:bodyPr/>
          <a:lstStyle/>
          <a:p>
            <a:r>
              <a:rPr lang="en-US" dirty="0"/>
              <a:t>Design of Grit Chamber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58C589-B546-F9CD-40C1-9A2EA395B8E9}"/>
                  </a:ext>
                </a:extLst>
              </p:cNvPr>
              <p:cNvSpPr>
                <a:spLocks noGrp="1"/>
              </p:cNvSpPr>
              <p:nvPr>
                <p:ph idx="1"/>
              </p:nvPr>
            </p:nvSpPr>
            <p:spPr>
              <a:xfrm>
                <a:off x="645131" y="1553592"/>
                <a:ext cx="10611753" cy="4944862"/>
              </a:xfrm>
            </p:spPr>
            <p:txBody>
              <a:bodyPr/>
              <a:lstStyle/>
              <a:p>
                <a:pPr marL="0" indent="0">
                  <a:buNone/>
                </a:pPr>
                <a:r>
                  <a:rPr lang="en-US" dirty="0"/>
                  <a:t>Check for surface loading rate: Surface area of channel, </a:t>
                </a:r>
                <a14:m>
                  <m:oMath xmlns:m="http://schemas.openxmlformats.org/officeDocument/2006/math">
                    <m:r>
                      <a:rPr lang="en-US" i="1" dirty="0" smtClean="0">
                        <a:latin typeface="Cambria Math" panose="02040503050406030204" pitchFamily="18" charset="0"/>
                      </a:rPr>
                      <m:t>𝐴</m:t>
                    </m:r>
                    <m:r>
                      <a:rPr lang="en-US" i="1" baseline="-25000" dirty="0" smtClean="0">
                        <a:latin typeface="Cambria Math" panose="02040503050406030204" pitchFamily="18" charset="0"/>
                      </a:rPr>
                      <m:t>𝑠</m:t>
                    </m:r>
                    <m:r>
                      <a:rPr lang="en-US" i="1" dirty="0" smtClean="0">
                        <a:latin typeface="Cambria Math" panose="02040503050406030204" pitchFamily="18" charset="0"/>
                      </a:rPr>
                      <m:t>=</m:t>
                    </m:r>
                    <m:r>
                      <a:rPr lang="en-US" b="0" i="1" dirty="0" smtClean="0">
                        <a:latin typeface="Cambria Math" panose="02040503050406030204" pitchFamily="18" charset="0"/>
                      </a:rPr>
                      <m:t>6</m:t>
                    </m:r>
                    <m:r>
                      <a:rPr lang="en-US" i="1" dirty="0" smtClean="0">
                        <a:latin typeface="Cambria Math" panose="02040503050406030204" pitchFamily="18" charset="0"/>
                      </a:rPr>
                      <m:t>∗1=</m:t>
                    </m:r>
                    <m:r>
                      <a:rPr lang="en-US" b="0" i="1" dirty="0" smtClean="0">
                        <a:latin typeface="Cambria Math" panose="02040503050406030204" pitchFamily="18" charset="0"/>
                      </a:rPr>
                      <m:t>6</m:t>
                    </m:r>
                    <m:r>
                      <a:rPr lang="en-US" i="1" dirty="0" smtClean="0">
                        <a:latin typeface="Cambria Math" panose="02040503050406030204" pitchFamily="18" charset="0"/>
                      </a:rPr>
                      <m:t> </m:t>
                    </m:r>
                    <m:r>
                      <a:rPr lang="en-US" i="1" dirty="0" smtClean="0">
                        <a:latin typeface="Cambria Math" panose="02040503050406030204" pitchFamily="18" charset="0"/>
                      </a:rPr>
                      <m:t>𝑚</m:t>
                    </m:r>
                    <m:r>
                      <a:rPr lang="en-US" i="1" baseline="30000" dirty="0" smtClean="0">
                        <a:latin typeface="Cambria Math" panose="02040503050406030204" pitchFamily="18" charset="0"/>
                      </a:rPr>
                      <m:t>2</m:t>
                    </m:r>
                  </m:oMath>
                </a14:m>
                <a:endParaRPr lang="en-IN" baseline="30000" dirty="0"/>
              </a:p>
              <a:p>
                <a:pPr marL="0" indent="0">
                  <a:buNone/>
                </a:pPr>
                <a:r>
                  <a:rPr lang="en-IN" dirty="0"/>
                  <a:t>At Q</a:t>
                </a:r>
                <a:r>
                  <a:rPr lang="en-IN" baseline="-25000" dirty="0"/>
                  <a:t>peak</a:t>
                </a:r>
                <a:r>
                  <a:rPr lang="en-IN" dirty="0"/>
                  <a:t>, </a:t>
                </a:r>
                <a14:m>
                  <m:oMath xmlns:m="http://schemas.openxmlformats.org/officeDocument/2006/math">
                    <m:r>
                      <a:rPr lang="en-IN" i="1" dirty="0" smtClean="0">
                        <a:latin typeface="Cambria Math" panose="02040503050406030204" pitchFamily="18" charset="0"/>
                      </a:rPr>
                      <m:t>𝑆𝐿𝑅</m:t>
                    </m:r>
                    <m:r>
                      <a:rPr lang="en-IN"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IN" i="1" dirty="0" smtClean="0">
                            <a:latin typeface="Cambria Math" panose="02040503050406030204" pitchFamily="18" charset="0"/>
                          </a:rPr>
                          <m:t>10,000</m:t>
                        </m:r>
                      </m:num>
                      <m:den>
                        <m:r>
                          <a:rPr lang="en-US" b="0" i="1" dirty="0" smtClean="0">
                            <a:latin typeface="Cambria Math" panose="02040503050406030204" pitchFamily="18" charset="0"/>
                          </a:rPr>
                          <m:t>6</m:t>
                        </m:r>
                      </m:den>
                    </m:f>
                    <m:r>
                      <a:rPr lang="en-US" b="0" i="1" dirty="0" smtClean="0">
                        <a:latin typeface="Cambria Math" panose="02040503050406030204" pitchFamily="18" charset="0"/>
                      </a:rPr>
                      <m:t>=1666.67 </m:t>
                    </m:r>
                    <m:r>
                      <a:rPr lang="en-US" b="0" i="1" dirty="0" smtClean="0">
                        <a:latin typeface="Cambria Math" panose="02040503050406030204" pitchFamily="18" charset="0"/>
                      </a:rPr>
                      <m:t>𝑚</m:t>
                    </m:r>
                    <m:r>
                      <a:rPr lang="en-US" b="0" i="1" dirty="0" smtClean="0">
                        <a:latin typeface="Cambria Math" panose="02040503050406030204" pitchFamily="18" charset="0"/>
                      </a:rPr>
                      <m:t>/</m:t>
                    </m:r>
                    <m:r>
                      <a:rPr lang="en-US" b="0" i="1" dirty="0" smtClean="0">
                        <a:latin typeface="Cambria Math" panose="02040503050406030204" pitchFamily="18" charset="0"/>
                      </a:rPr>
                      <m:t>𝑑</m:t>
                    </m:r>
                  </m:oMath>
                </a14:m>
                <a:r>
                  <a:rPr lang="en-IN" dirty="0"/>
                  <a:t>                                   (within acceptable limits)</a:t>
                </a:r>
                <a:endParaRPr lang="en-IN" baseline="-25000" dirty="0"/>
              </a:p>
              <a:p>
                <a:pPr marL="0" indent="0">
                  <a:buNone/>
                </a:pPr>
                <a:r>
                  <a:rPr lang="en-IN" dirty="0"/>
                  <a:t>At Q</a:t>
                </a:r>
                <a:r>
                  <a:rPr lang="en-IN" baseline="-25000" dirty="0"/>
                  <a:t>avg </a:t>
                </a:r>
                <a:r>
                  <a:rPr lang="en-IN" dirty="0"/>
                  <a:t>, </a:t>
                </a:r>
                <a14:m>
                  <m:oMath xmlns:m="http://schemas.openxmlformats.org/officeDocument/2006/math">
                    <m:r>
                      <a:rPr lang="en-IN" i="1" dirty="0" smtClean="0">
                        <a:latin typeface="Cambria Math" panose="02040503050406030204" pitchFamily="18" charset="0"/>
                      </a:rPr>
                      <m:t>𝑆𝐿𝑅</m:t>
                    </m:r>
                    <m:r>
                      <a:rPr lang="en-IN"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IN" i="1" dirty="0" smtClean="0">
                            <a:latin typeface="Cambria Math" panose="02040503050406030204" pitchFamily="18" charset="0"/>
                          </a:rPr>
                          <m:t>5000</m:t>
                        </m:r>
                      </m:num>
                      <m:den>
                        <m:r>
                          <a:rPr lang="en-US" b="0" i="1" dirty="0" smtClean="0">
                            <a:latin typeface="Cambria Math" panose="02040503050406030204" pitchFamily="18" charset="0"/>
                          </a:rPr>
                          <m:t>6</m:t>
                        </m:r>
                      </m:den>
                    </m:f>
                    <m:r>
                      <a:rPr lang="en-US" b="0" i="1" dirty="0" smtClean="0">
                        <a:latin typeface="Cambria Math" panose="02040503050406030204" pitchFamily="18" charset="0"/>
                      </a:rPr>
                      <m:t>=833.33 </m:t>
                    </m:r>
                    <m:r>
                      <a:rPr lang="en-US" b="0" i="1" dirty="0" smtClean="0">
                        <a:latin typeface="Cambria Math" panose="02040503050406030204" pitchFamily="18" charset="0"/>
                      </a:rPr>
                      <m:t>𝑚</m:t>
                    </m:r>
                    <m:r>
                      <a:rPr lang="en-US" b="0" i="1" dirty="0" smtClean="0">
                        <a:latin typeface="Cambria Math" panose="02040503050406030204" pitchFamily="18" charset="0"/>
                      </a:rPr>
                      <m:t>/</m:t>
                    </m:r>
                    <m:r>
                      <a:rPr lang="en-US" b="0" i="1" dirty="0" smtClean="0">
                        <a:latin typeface="Cambria Math" panose="02040503050406030204" pitchFamily="18" charset="0"/>
                      </a:rPr>
                      <m:t>𝑑</m:t>
                    </m:r>
                  </m:oMath>
                </a14:m>
                <a:endParaRPr lang="en-IN" baseline="-25000" dirty="0"/>
              </a:p>
              <a:p>
                <a:pPr marL="0" indent="0">
                  <a:buNone/>
                </a:pPr>
                <a:r>
                  <a:rPr lang="en-IN" dirty="0"/>
                  <a:t>Therefore, the length and width are acceptable.</a:t>
                </a:r>
              </a:p>
              <a:p>
                <a:pPr marL="0" indent="0">
                  <a:buNone/>
                </a:pPr>
                <a:r>
                  <a:rPr lang="en-IN" dirty="0"/>
                  <a:t>Adding 10% for each inlet and outlet zone </a:t>
                </a:r>
                <a14:m>
                  <m:oMath xmlns:m="http://schemas.openxmlformats.org/officeDocument/2006/math">
                    <m:r>
                      <a:rPr lang="en-IN" i="1" dirty="0" smtClean="0">
                        <a:latin typeface="Cambria Math" panose="02040503050406030204" pitchFamily="18" charset="0"/>
                      </a:rPr>
                      <m:t>=</m:t>
                    </m:r>
                    <m:r>
                      <a:rPr lang="en-US" b="0" i="1" dirty="0" smtClean="0">
                        <a:latin typeface="Cambria Math" panose="02040503050406030204" pitchFamily="18" charset="0"/>
                      </a:rPr>
                      <m:t>6</m:t>
                    </m:r>
                    <m:r>
                      <a:rPr lang="en-IN" i="1" dirty="0" smtClean="0">
                        <a:latin typeface="Cambria Math" panose="02040503050406030204" pitchFamily="18" charset="0"/>
                      </a:rPr>
                      <m:t>∗0.1∗2+</m:t>
                    </m:r>
                    <m:r>
                      <a:rPr lang="en-US" b="0" i="1" dirty="0" smtClean="0">
                        <a:latin typeface="Cambria Math" panose="02040503050406030204" pitchFamily="18" charset="0"/>
                      </a:rPr>
                      <m:t>6=7.2 </m:t>
                    </m:r>
                    <m:r>
                      <a:rPr lang="en-US" b="0" i="1" dirty="0" smtClean="0">
                        <a:latin typeface="Cambria Math" panose="02040503050406030204" pitchFamily="18" charset="0"/>
                      </a:rPr>
                      <m:t>𝑚</m:t>
                    </m:r>
                    <m:r>
                      <a:rPr lang="en-US" b="0" i="1" dirty="0" smtClean="0">
                        <a:latin typeface="Cambria Math" panose="02040503050406030204" pitchFamily="18" charset="0"/>
                      </a:rPr>
                      <m:t> ~ 7.5 </m:t>
                    </m:r>
                    <m:r>
                      <a:rPr lang="en-US" b="0" i="1" dirty="0" smtClean="0">
                        <a:latin typeface="Cambria Math" panose="02040503050406030204" pitchFamily="18" charset="0"/>
                        <a:ea typeface="Cambria Math" panose="02040503050406030204" pitchFamily="18" charset="0"/>
                      </a:rPr>
                      <m:t>𝑚</m:t>
                    </m:r>
                  </m:oMath>
                </a14:m>
                <a:endParaRPr lang="en-IN" dirty="0"/>
              </a:p>
              <a:p>
                <a:pPr marL="0" indent="0">
                  <a:buNone/>
                </a:pPr>
                <a:r>
                  <a:rPr lang="en-IN" dirty="0"/>
                  <a:t>And total width of the chamber with 2 channels including 0.2 m thick one partition wall and two side walls </a:t>
                </a:r>
                <a14:m>
                  <m:oMath xmlns:m="http://schemas.openxmlformats.org/officeDocument/2006/math">
                    <m:r>
                      <a:rPr lang="en-IN" i="1" dirty="0" smtClean="0">
                        <a:latin typeface="Cambria Math" panose="02040503050406030204" pitchFamily="18" charset="0"/>
                      </a:rPr>
                      <m:t>=1+1+0.2+0.2+0.2=</m:t>
                    </m:r>
                    <m:r>
                      <a:rPr lang="en-US" b="0" i="1" dirty="0" smtClean="0">
                        <a:latin typeface="Cambria Math" panose="02040503050406030204" pitchFamily="18" charset="0"/>
                      </a:rPr>
                      <m:t>2.6 </m:t>
                    </m:r>
                    <m:r>
                      <a:rPr lang="en-US" b="0" i="1" dirty="0" smtClean="0">
                        <a:latin typeface="Cambria Math" panose="02040503050406030204" pitchFamily="18" charset="0"/>
                      </a:rPr>
                      <m:t>𝑚</m:t>
                    </m:r>
                  </m:oMath>
                </a14:m>
                <a:endParaRPr lang="en-IN" dirty="0"/>
              </a:p>
              <a:p>
                <a:pPr marL="0" indent="0">
                  <a:buNone/>
                </a:pPr>
                <a:r>
                  <a:rPr lang="en-IN" dirty="0"/>
                  <a:t>Additional Depth is required to be provided for accumulation of grit in the chamber. Assuming grit accumulated to be 0.03 m</a:t>
                </a:r>
                <a:r>
                  <a:rPr lang="en-IN" baseline="30000" dirty="0"/>
                  <a:t>3</a:t>
                </a:r>
                <a:r>
                  <a:rPr lang="en-IN" dirty="0"/>
                  <a:t>/1000 m</a:t>
                </a:r>
                <a:r>
                  <a:rPr lang="en-IN" baseline="30000" dirty="0"/>
                  <a:t>3</a:t>
                </a:r>
                <a:r>
                  <a:rPr lang="en-IN" dirty="0"/>
                  <a:t>/d of flow and removal of grit is done at interval of 3 days, volume </a:t>
                </a: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0.03∗10000∗3</m:t>
                        </m:r>
                      </m:num>
                      <m:den>
                        <m:r>
                          <a:rPr lang="en-US" b="0" i="1" smtClean="0">
                            <a:latin typeface="Cambria Math" panose="02040503050406030204" pitchFamily="18" charset="0"/>
                          </a:rPr>
                          <m:t>1000</m:t>
                        </m:r>
                      </m:den>
                    </m:f>
                    <m:r>
                      <a:rPr lang="en-US" b="0" i="1" smtClean="0">
                        <a:latin typeface="Cambria Math" panose="02040503050406030204" pitchFamily="18" charset="0"/>
                      </a:rPr>
                      <m:t>=0.9 </m:t>
                    </m:r>
                    <m:r>
                      <a:rPr lang="en-US" b="0" i="1" smtClean="0">
                        <a:latin typeface="Cambria Math" panose="02040503050406030204" pitchFamily="18" charset="0"/>
                      </a:rPr>
                      <m:t>𝑚</m:t>
                    </m:r>
                    <m:r>
                      <a:rPr lang="en-US" b="0" i="1" baseline="30000" smtClean="0">
                        <a:latin typeface="Cambria Math" panose="02040503050406030204" pitchFamily="18" charset="0"/>
                      </a:rPr>
                      <m:t>3</m:t>
                    </m:r>
                  </m:oMath>
                </a14:m>
                <a:r>
                  <a:rPr lang="en-IN" dirty="0"/>
                  <a:t> </a:t>
                </a:r>
              </a:p>
              <a:p>
                <a:pPr marL="0" indent="0">
                  <a:buNone/>
                </a:pPr>
                <a:r>
                  <a:rPr lang="en-IN" dirty="0"/>
                  <a:t>Therefore, the net depth of grit storage </a:t>
                </a: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0.9</m:t>
                        </m:r>
                      </m:num>
                      <m:den>
                        <m:r>
                          <a:rPr lang="en-US" b="0" i="1" smtClean="0">
                            <a:latin typeface="Cambria Math" panose="02040503050406030204" pitchFamily="18" charset="0"/>
                          </a:rPr>
                          <m:t>6</m:t>
                        </m:r>
                      </m:den>
                    </m:f>
                    <m:r>
                      <a:rPr lang="en-US" b="0" i="1" smtClean="0">
                        <a:latin typeface="Cambria Math" panose="02040503050406030204" pitchFamily="18" charset="0"/>
                      </a:rPr>
                      <m:t>=0.15 </m:t>
                    </m:r>
                    <m:r>
                      <a:rPr lang="en-US" b="0" i="1" smtClean="0">
                        <a:latin typeface="Cambria Math" panose="02040503050406030204" pitchFamily="18" charset="0"/>
                      </a:rPr>
                      <m:t>𝑚</m:t>
                    </m:r>
                  </m:oMath>
                </a14:m>
                <a:endParaRPr lang="en-IN" dirty="0"/>
              </a:p>
            </p:txBody>
          </p:sp>
        </mc:Choice>
        <mc:Fallback xmlns="">
          <p:sp>
            <p:nvSpPr>
              <p:cNvPr id="3" name="Content Placeholder 2">
                <a:extLst>
                  <a:ext uri="{FF2B5EF4-FFF2-40B4-BE49-F238E27FC236}">
                    <a16:creationId xmlns:a16="http://schemas.microsoft.com/office/drawing/2014/main" id="{3158C589-B546-F9CD-40C1-9A2EA395B8E9}"/>
                  </a:ext>
                </a:extLst>
              </p:cNvPr>
              <p:cNvSpPr>
                <a:spLocks noGrp="1" noRot="1" noChangeAspect="1" noMove="1" noResize="1" noEditPoints="1" noAdjustHandles="1" noChangeArrowheads="1" noChangeShapeType="1" noTextEdit="1"/>
              </p:cNvSpPr>
              <p:nvPr>
                <p:ph idx="1"/>
              </p:nvPr>
            </p:nvSpPr>
            <p:spPr>
              <a:xfrm>
                <a:off x="645131" y="1553592"/>
                <a:ext cx="10611753" cy="4944862"/>
              </a:xfrm>
              <a:blipFill>
                <a:blip r:embed="rId2"/>
                <a:stretch>
                  <a:fillRect l="-632" t="-740" r="-517"/>
                </a:stretch>
              </a:blipFill>
            </p:spPr>
            <p:txBody>
              <a:bodyPr/>
              <a:lstStyle/>
              <a:p>
                <a:r>
                  <a:rPr lang="en-IN">
                    <a:noFill/>
                  </a:rPr>
                  <a:t> </a:t>
                </a:r>
              </a:p>
            </p:txBody>
          </p:sp>
        </mc:Fallback>
      </mc:AlternateContent>
    </p:spTree>
    <p:extLst>
      <p:ext uri="{BB962C8B-B14F-4D97-AF65-F5344CB8AC3E}">
        <p14:creationId xmlns:p14="http://schemas.microsoft.com/office/powerpoint/2010/main" val="1540884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EB50D-33C9-ED99-9F14-330D2B46BC49}"/>
              </a:ext>
            </a:extLst>
          </p:cNvPr>
          <p:cNvSpPr>
            <a:spLocks noGrp="1"/>
          </p:cNvSpPr>
          <p:nvPr>
            <p:ph type="title"/>
          </p:nvPr>
        </p:nvSpPr>
        <p:spPr/>
        <p:txBody>
          <a:bodyPr/>
          <a:lstStyle/>
          <a:p>
            <a:r>
              <a:rPr lang="en-US" dirty="0"/>
              <a:t>Design of Grit Chamber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791679-692F-61B4-6540-0B2375D45752}"/>
                  </a:ext>
                </a:extLst>
              </p:cNvPr>
              <p:cNvSpPr>
                <a:spLocks noGrp="1"/>
              </p:cNvSpPr>
              <p:nvPr>
                <p:ph idx="1"/>
              </p:nvPr>
            </p:nvSpPr>
            <p:spPr>
              <a:xfrm>
                <a:off x="1020931" y="1853248"/>
                <a:ext cx="10404629" cy="4876026"/>
              </a:xfrm>
            </p:spPr>
            <p:txBody>
              <a:bodyPr>
                <a:noAutofit/>
              </a:bodyPr>
              <a:lstStyle/>
              <a:p>
                <a:pPr marL="0" indent="0">
                  <a:lnSpc>
                    <a:spcPct val="150000"/>
                  </a:lnSpc>
                  <a:buNone/>
                </a:pPr>
                <a:r>
                  <a:rPr lang="en-US" dirty="0"/>
                  <a:t>However provide the depth of 0.2 m for grit storage below the actual crest of weir.</a:t>
                </a:r>
              </a:p>
              <a:p>
                <a:pPr marL="0" indent="0">
                  <a:lnSpc>
                    <a:spcPct val="150000"/>
                  </a:lnSpc>
                  <a:buNone/>
                </a:pPr>
                <a:r>
                  <a:rPr lang="en-US" dirty="0"/>
                  <a:t>Total Depth, </a:t>
                </a:r>
                <a14:m>
                  <m:oMath xmlns:m="http://schemas.openxmlformats.org/officeDocument/2006/math">
                    <m:r>
                      <a:rPr lang="en-US" i="1" dirty="0" smtClean="0">
                        <a:latin typeface="Cambria Math" panose="02040503050406030204" pitchFamily="18" charset="0"/>
                      </a:rPr>
                      <m:t>𝐷</m:t>
                    </m:r>
                    <m:r>
                      <a:rPr lang="en-US" i="1" baseline="-25000" dirty="0" smtClean="0">
                        <a:latin typeface="Cambria Math" panose="02040503050406030204" pitchFamily="18" charset="0"/>
                      </a:rPr>
                      <m:t>𝑡𝑜𝑡𝑎𝑙</m:t>
                    </m:r>
                    <m:r>
                      <a:rPr lang="en-US" i="1" dirty="0" smtClean="0">
                        <a:latin typeface="Cambria Math" panose="02040503050406030204" pitchFamily="18" charset="0"/>
                      </a:rPr>
                      <m:t>=</m:t>
                    </m:r>
                    <m:r>
                      <a:rPr lang="en-US" b="0" i="1" dirty="0" smtClean="0">
                        <a:latin typeface="Cambria Math" panose="02040503050406030204" pitchFamily="18" charset="0"/>
                      </a:rPr>
                      <m:t>𝑛𝑒𝑡</m:t>
                    </m:r>
                    <m:r>
                      <a:rPr lang="en-US" b="0" i="1" dirty="0" smtClean="0">
                        <a:latin typeface="Cambria Math" panose="02040503050406030204" pitchFamily="18" charset="0"/>
                      </a:rPr>
                      <m:t> </m:t>
                    </m:r>
                    <m:r>
                      <a:rPr lang="en-US" b="0" i="1" dirty="0" smtClean="0">
                        <a:latin typeface="Cambria Math" panose="02040503050406030204" pitchFamily="18" charset="0"/>
                      </a:rPr>
                      <m:t>𝑑𝑒𝑝𝑡h</m:t>
                    </m:r>
                    <m:r>
                      <a:rPr lang="en-US" b="0" i="1" dirty="0" smtClean="0">
                        <a:latin typeface="Cambria Math" panose="02040503050406030204" pitchFamily="18" charset="0"/>
                      </a:rPr>
                      <m:t>+</m:t>
                    </m:r>
                    <m:r>
                      <a:rPr lang="en-US" b="0" i="1" dirty="0" smtClean="0">
                        <a:latin typeface="Cambria Math" panose="02040503050406030204" pitchFamily="18" charset="0"/>
                      </a:rPr>
                      <m:t>𝑔𝑟𝑖𝑡</m:t>
                    </m:r>
                    <m:r>
                      <a:rPr lang="en-US" b="0" i="1" dirty="0" smtClean="0">
                        <a:latin typeface="Cambria Math" panose="02040503050406030204" pitchFamily="18" charset="0"/>
                      </a:rPr>
                      <m:t> </m:t>
                    </m:r>
                    <m:r>
                      <a:rPr lang="en-US" b="0" i="1" dirty="0" smtClean="0">
                        <a:latin typeface="Cambria Math" panose="02040503050406030204" pitchFamily="18" charset="0"/>
                      </a:rPr>
                      <m:t>𝑠𝑡𝑜𝑟𝑎𝑔𝑒</m:t>
                    </m:r>
                    <m:r>
                      <a:rPr lang="en-US" b="0" i="1" dirty="0" smtClean="0">
                        <a:latin typeface="Cambria Math" panose="02040503050406030204" pitchFamily="18" charset="0"/>
                      </a:rPr>
                      <m:t> </m:t>
                    </m:r>
                    <m:r>
                      <a:rPr lang="en-US" b="0" i="1" dirty="0" smtClean="0">
                        <a:latin typeface="Cambria Math" panose="02040503050406030204" pitchFamily="18" charset="0"/>
                      </a:rPr>
                      <m:t>𝑑𝑒𝑝𝑡h</m:t>
                    </m:r>
                    <m:r>
                      <a:rPr lang="en-US" b="0" i="1" dirty="0" smtClean="0">
                        <a:latin typeface="Cambria Math" panose="02040503050406030204" pitchFamily="18" charset="0"/>
                      </a:rPr>
                      <m:t>+</m:t>
                    </m:r>
                    <m:r>
                      <a:rPr lang="en-US" b="0" i="1" dirty="0" smtClean="0">
                        <a:latin typeface="Cambria Math" panose="02040503050406030204" pitchFamily="18" charset="0"/>
                      </a:rPr>
                      <m:t>𝑓𝑟𝑒𝑒𝑏𝑜𝑎𝑟𝑑</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𝐹𝐵</m:t>
                        </m:r>
                      </m:e>
                    </m:d>
                    <m:r>
                      <a:rPr lang="en-US" b="0" i="0" dirty="0" smtClean="0">
                        <a:latin typeface="Cambria Math" panose="02040503050406030204" pitchFamily="18" charset="0"/>
                      </a:rPr>
                      <m:t>=0.6+0.2+0.3</m:t>
                    </m:r>
                  </m:oMath>
                </a14:m>
                <a:endParaRPr lang="en-US" b="0" dirty="0"/>
              </a:p>
              <a:p>
                <a:pPr marL="0" indent="0">
                  <a:lnSpc>
                    <a:spcPct val="150000"/>
                  </a:lnSpc>
                  <a:buNone/>
                </a:pPr>
                <a14:m>
                  <m:oMathPara xmlns:m="http://schemas.openxmlformats.org/officeDocument/2006/math">
                    <m:oMathParaPr>
                      <m:jc m:val="left"/>
                    </m:oMathParaPr>
                    <m:oMath xmlns:m="http://schemas.openxmlformats.org/officeDocument/2006/math">
                      <m:r>
                        <a:rPr lang="en-US" i="1" dirty="0" smtClean="0">
                          <a:latin typeface="Cambria Math" panose="02040503050406030204" pitchFamily="18" charset="0"/>
                        </a:rPr>
                        <m:t>𝐷</m:t>
                      </m:r>
                      <m:r>
                        <a:rPr lang="en-US" i="1" baseline="-25000" dirty="0" smtClean="0">
                          <a:latin typeface="Cambria Math" panose="02040503050406030204" pitchFamily="18" charset="0"/>
                        </a:rPr>
                        <m:t>𝑡𝑜𝑡𝑎𝑙</m:t>
                      </m:r>
                      <m:r>
                        <a:rPr lang="en-US" i="1" dirty="0" smtClean="0">
                          <a:latin typeface="Cambria Math" panose="02040503050406030204" pitchFamily="18" charset="0"/>
                        </a:rPr>
                        <m:t>=1.1</m:t>
                      </m:r>
                      <m:r>
                        <a:rPr lang="en-US" i="1" dirty="0">
                          <a:latin typeface="Cambria Math" panose="02040503050406030204" pitchFamily="18" charset="0"/>
                        </a:rPr>
                        <m:t> </m:t>
                      </m:r>
                      <m:r>
                        <a:rPr lang="en-US" i="1" dirty="0">
                          <a:latin typeface="Cambria Math" panose="02040503050406030204" pitchFamily="18" charset="0"/>
                        </a:rPr>
                        <m:t>𝑚</m:t>
                      </m:r>
                    </m:oMath>
                  </m:oMathPara>
                </a14:m>
                <a:endParaRPr lang="en-US" b="0" dirty="0"/>
              </a:p>
              <a:p>
                <a:pPr marL="0" indent="0">
                  <a:lnSpc>
                    <a:spcPct val="150000"/>
                  </a:lnSpc>
                  <a:buNone/>
                </a:pPr>
                <a:r>
                  <a:rPr lang="en-US" dirty="0"/>
                  <a:t>And total liquid depth, </a:t>
                </a:r>
                <a14:m>
                  <m:oMath xmlns:m="http://schemas.openxmlformats.org/officeDocument/2006/math">
                    <m:r>
                      <a:rPr lang="en-US" i="1" dirty="0" smtClean="0">
                        <a:latin typeface="Cambria Math" panose="02040503050406030204" pitchFamily="18" charset="0"/>
                      </a:rPr>
                      <m:t>𝑑</m:t>
                    </m:r>
                    <m:r>
                      <a:rPr lang="en-US" i="1" dirty="0" smtClean="0">
                        <a:latin typeface="Cambria Math" panose="02040503050406030204" pitchFamily="18" charset="0"/>
                      </a:rPr>
                      <m:t>=0.8 </m:t>
                    </m:r>
                    <m:r>
                      <a:rPr lang="en-US" i="1" dirty="0" smtClean="0">
                        <a:latin typeface="Cambria Math" panose="02040503050406030204" pitchFamily="18" charset="0"/>
                      </a:rPr>
                      <m:t>𝑚</m:t>
                    </m:r>
                  </m:oMath>
                </a14:m>
                <a:endParaRPr lang="en-US" b="0" dirty="0"/>
              </a:p>
              <a:p>
                <a:pPr marL="0" indent="0">
                  <a:lnSpc>
                    <a:spcPct val="150000"/>
                  </a:lnSpc>
                  <a:buNone/>
                </a:pPr>
                <a:r>
                  <a:rPr lang="en-US" b="0" dirty="0"/>
                  <a:t>Providing 2 channels, the overall dimensions of the grit chamber will be:</a:t>
                </a:r>
              </a:p>
              <a:p>
                <a:pPr marL="0" indent="0">
                  <a:lnSpc>
                    <a:spcPct val="150000"/>
                  </a:lnSpc>
                  <a:buNone/>
                </a:pPr>
                <a14:m>
                  <m:oMathPara xmlns:m="http://schemas.openxmlformats.org/officeDocument/2006/math">
                    <m:oMathParaPr>
                      <m:jc m:val="left"/>
                    </m:oMathParaPr>
                    <m:oMath xmlns:m="http://schemas.openxmlformats.org/officeDocument/2006/math">
                      <m:r>
                        <a:rPr lang="en-US" i="1" dirty="0" smtClean="0">
                          <a:latin typeface="Cambria Math" panose="02040503050406030204" pitchFamily="18" charset="0"/>
                        </a:rPr>
                        <m:t>𝐿</m:t>
                      </m:r>
                      <m:r>
                        <a:rPr lang="en-US" i="1" baseline="-25000" dirty="0" smtClean="0">
                          <a:latin typeface="Cambria Math" panose="02040503050406030204" pitchFamily="18" charset="0"/>
                        </a:rPr>
                        <m:t>𝑡𝑜𝑡𝑎𝑙</m:t>
                      </m:r>
                      <m:r>
                        <a:rPr lang="en-US" b="0" i="1" dirty="0" smtClean="0">
                          <a:latin typeface="Cambria Math" panose="02040503050406030204" pitchFamily="18" charset="0"/>
                        </a:rPr>
                        <m:t>=</m:t>
                      </m:r>
                      <m:r>
                        <a:rPr lang="en-US" b="0" i="0" dirty="0" smtClean="0">
                          <a:latin typeface="Cambria Math" panose="02040503050406030204" pitchFamily="18" charset="0"/>
                        </a:rPr>
                        <m:t>7.5 </m:t>
                      </m:r>
                      <m:r>
                        <m:rPr>
                          <m:sty m:val="p"/>
                        </m:rPr>
                        <a:rPr lang="en-US" b="0" i="0" dirty="0" smtClean="0">
                          <a:latin typeface="Cambria Math" panose="02040503050406030204" pitchFamily="18" charset="0"/>
                        </a:rPr>
                        <m:t>m</m:t>
                      </m:r>
                    </m:oMath>
                  </m:oMathPara>
                </a14:m>
                <a:endParaRPr lang="en-US" dirty="0"/>
              </a:p>
              <a:p>
                <a:pPr marL="0" indent="0">
                  <a:lnSpc>
                    <a:spcPct val="150000"/>
                  </a:lnSpc>
                  <a:buNone/>
                </a:pPr>
                <a14:m>
                  <m:oMathPara xmlns:m="http://schemas.openxmlformats.org/officeDocument/2006/math">
                    <m:oMathParaPr>
                      <m:jc m:val="left"/>
                    </m:oMathParaPr>
                    <m:oMath xmlns:m="http://schemas.openxmlformats.org/officeDocument/2006/math">
                      <m:r>
                        <a:rPr lang="en-US" b="0" i="1" dirty="0" smtClean="0">
                          <a:latin typeface="Cambria Math" panose="02040503050406030204" pitchFamily="18" charset="0"/>
                        </a:rPr>
                        <m:t>𝐵</m:t>
                      </m:r>
                      <m:r>
                        <a:rPr lang="en-US" b="0" i="1" baseline="-25000" dirty="0" smtClean="0">
                          <a:latin typeface="Cambria Math" panose="02040503050406030204" pitchFamily="18" charset="0"/>
                        </a:rPr>
                        <m:t>𝑡𝑜𝑡𝑎𝑙</m:t>
                      </m:r>
                      <m:r>
                        <a:rPr lang="en-US" b="0" i="1" dirty="0" smtClean="0">
                          <a:latin typeface="Cambria Math" panose="02040503050406030204" pitchFamily="18" charset="0"/>
                        </a:rPr>
                        <m:t>=2.6 </m:t>
                      </m:r>
                      <m:r>
                        <a:rPr lang="en-US" b="0" i="1" dirty="0" smtClean="0">
                          <a:latin typeface="Cambria Math" panose="02040503050406030204" pitchFamily="18" charset="0"/>
                        </a:rPr>
                        <m:t>𝑚</m:t>
                      </m:r>
                    </m:oMath>
                  </m:oMathPara>
                </a14:m>
                <a:endParaRPr lang="en-US" b="0" dirty="0"/>
              </a:p>
              <a:p>
                <a:pPr marL="0" indent="0">
                  <a:lnSpc>
                    <a:spcPct val="150000"/>
                  </a:lnSpc>
                  <a:buNone/>
                </a:pPr>
                <a14:m>
                  <m:oMathPara xmlns:m="http://schemas.openxmlformats.org/officeDocument/2006/math">
                    <m:oMathParaPr>
                      <m:jc m:val="left"/>
                    </m:oMathParaPr>
                    <m:oMath xmlns:m="http://schemas.openxmlformats.org/officeDocument/2006/math">
                      <m:r>
                        <a:rPr lang="en-US" i="1" dirty="0" smtClean="0">
                          <a:latin typeface="Cambria Math" panose="02040503050406030204" pitchFamily="18" charset="0"/>
                        </a:rPr>
                        <m:t>𝐷</m:t>
                      </m:r>
                      <m:r>
                        <a:rPr lang="en-US" i="1" baseline="-25000" dirty="0" smtClean="0">
                          <a:latin typeface="Cambria Math" panose="02040503050406030204" pitchFamily="18" charset="0"/>
                        </a:rPr>
                        <m:t>𝑡𝑜𝑡𝑎𝑙</m:t>
                      </m:r>
                      <m:r>
                        <a:rPr lang="en-US" b="0" i="1" dirty="0" smtClean="0">
                          <a:latin typeface="Cambria Math" panose="02040503050406030204" pitchFamily="18" charset="0"/>
                        </a:rPr>
                        <m:t>=1.1</m:t>
                      </m:r>
                      <m:r>
                        <a:rPr lang="en-US" b="0" i="1" dirty="0" smtClean="0">
                          <a:latin typeface="Cambria Math" panose="02040503050406030204" pitchFamily="18" charset="0"/>
                        </a:rPr>
                        <m:t>𝑚</m:t>
                      </m:r>
                      <m:r>
                        <a:rPr lang="en-US" b="0" i="1" dirty="0" smtClean="0">
                          <a:latin typeface="Cambria Math" panose="02040503050406030204" pitchFamily="18" charset="0"/>
                        </a:rPr>
                        <m:t> (</m:t>
                      </m:r>
                      <m:r>
                        <a:rPr lang="en-US" b="0" i="1" dirty="0" smtClean="0">
                          <a:latin typeface="Cambria Math" panose="02040503050406030204" pitchFamily="18" charset="0"/>
                        </a:rPr>
                        <m:t>𝑤𝑖𝑡h</m:t>
                      </m:r>
                      <m:r>
                        <a:rPr lang="en-US" b="0" i="1" dirty="0" smtClean="0">
                          <a:latin typeface="Cambria Math" panose="02040503050406030204" pitchFamily="18" charset="0"/>
                        </a:rPr>
                        <m:t> 0.3 </m:t>
                      </m:r>
                      <m:r>
                        <a:rPr lang="en-US" b="0" i="1" dirty="0" smtClean="0">
                          <a:latin typeface="Cambria Math" panose="02040503050406030204" pitchFamily="18" charset="0"/>
                        </a:rPr>
                        <m:t>𝐹𝐵</m:t>
                      </m:r>
                      <m:r>
                        <a:rPr lang="en-US" b="0" i="1" dirty="0" smtClean="0">
                          <a:latin typeface="Cambria Math" panose="02040503050406030204" pitchFamily="18" charset="0"/>
                        </a:rPr>
                        <m:t>)</m:t>
                      </m:r>
                    </m:oMath>
                  </m:oMathPara>
                </a14:m>
                <a:endParaRPr lang="en-US" dirty="0"/>
              </a:p>
              <a:p>
                <a:pPr marL="0" indent="0">
                  <a:lnSpc>
                    <a:spcPct val="150000"/>
                  </a:lnSpc>
                  <a:buNone/>
                </a:pPr>
                <a14:m>
                  <m:oMathPara xmlns:m="http://schemas.openxmlformats.org/officeDocument/2006/math">
                    <m:oMathParaPr>
                      <m:jc m:val="left"/>
                    </m:oMathParaPr>
                    <m:oMath xmlns:m="http://schemas.openxmlformats.org/officeDocument/2006/math">
                      <m:r>
                        <a:rPr lang="en-US" b="0" i="1" dirty="0" smtClean="0">
                          <a:latin typeface="Cambria Math" panose="02040503050406030204" pitchFamily="18" charset="0"/>
                        </a:rPr>
                        <m:t>𝑡</m:t>
                      </m:r>
                      <m:r>
                        <a:rPr lang="en-US" i="1" dirty="0" smtClean="0">
                          <a:latin typeface="Cambria Math" panose="02040503050406030204" pitchFamily="18" charset="0"/>
                        </a:rPr>
                        <m:t>=</m:t>
                      </m:r>
                      <m:r>
                        <a:rPr lang="en-US" b="0" i="1" dirty="0" smtClean="0">
                          <a:latin typeface="Cambria Math" panose="02040503050406030204" pitchFamily="18" charset="0"/>
                        </a:rPr>
                        <m:t>30 </m:t>
                      </m:r>
                      <m:r>
                        <a:rPr lang="en-US" b="0" i="1" dirty="0" smtClean="0">
                          <a:latin typeface="Cambria Math" panose="02040503050406030204" pitchFamily="18" charset="0"/>
                        </a:rPr>
                        <m:t>𝑠</m:t>
                      </m:r>
                    </m:oMath>
                  </m:oMathPara>
                </a14:m>
                <a:endParaRPr lang="en-US" b="0" dirty="0"/>
              </a:p>
              <a:p>
                <a:pPr marL="0" indent="0">
                  <a:lnSpc>
                    <a:spcPct val="150000"/>
                  </a:lnSpc>
                  <a:buNone/>
                </a:pPr>
                <a:endParaRPr lang="en-IN" dirty="0"/>
              </a:p>
            </p:txBody>
          </p:sp>
        </mc:Choice>
        <mc:Fallback xmlns="">
          <p:sp>
            <p:nvSpPr>
              <p:cNvPr id="3" name="Content Placeholder 2">
                <a:extLst>
                  <a:ext uri="{FF2B5EF4-FFF2-40B4-BE49-F238E27FC236}">
                    <a16:creationId xmlns:a16="http://schemas.microsoft.com/office/drawing/2014/main" id="{90791679-692F-61B4-6540-0B2375D45752}"/>
                  </a:ext>
                </a:extLst>
              </p:cNvPr>
              <p:cNvSpPr>
                <a:spLocks noGrp="1" noRot="1" noChangeAspect="1" noMove="1" noResize="1" noEditPoints="1" noAdjustHandles="1" noChangeArrowheads="1" noChangeShapeType="1" noTextEdit="1"/>
              </p:cNvSpPr>
              <p:nvPr>
                <p:ph idx="1"/>
              </p:nvPr>
            </p:nvSpPr>
            <p:spPr>
              <a:xfrm>
                <a:off x="1020931" y="1853248"/>
                <a:ext cx="10404629" cy="4876026"/>
              </a:xfrm>
              <a:blipFill>
                <a:blip r:embed="rId2"/>
                <a:stretch>
                  <a:fillRect l="-586"/>
                </a:stretch>
              </a:blipFill>
            </p:spPr>
            <p:txBody>
              <a:bodyPr/>
              <a:lstStyle/>
              <a:p>
                <a:r>
                  <a:rPr lang="en-IN">
                    <a:noFill/>
                  </a:rPr>
                  <a:t> </a:t>
                </a:r>
              </a:p>
            </p:txBody>
          </p:sp>
        </mc:Fallback>
      </mc:AlternateContent>
    </p:spTree>
    <p:extLst>
      <p:ext uri="{BB962C8B-B14F-4D97-AF65-F5344CB8AC3E}">
        <p14:creationId xmlns:p14="http://schemas.microsoft.com/office/powerpoint/2010/main" val="304864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11377-617C-709C-A616-E5A212D1A34A}"/>
              </a:ext>
            </a:extLst>
          </p:cNvPr>
          <p:cNvSpPr>
            <a:spLocks noGrp="1"/>
          </p:cNvSpPr>
          <p:nvPr>
            <p:ph type="title"/>
          </p:nvPr>
        </p:nvSpPr>
        <p:spPr/>
        <p:txBody>
          <a:bodyPr/>
          <a:lstStyle/>
          <a:p>
            <a:r>
              <a:rPr lang="en-US" dirty="0"/>
              <a:t>Design of UASB Reactor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09AC3B-0A88-C01E-5D22-1B3E32813B09}"/>
                  </a:ext>
                </a:extLst>
              </p:cNvPr>
              <p:cNvSpPr>
                <a:spLocks noGrp="1"/>
              </p:cNvSpPr>
              <p:nvPr>
                <p:ph idx="1"/>
              </p:nvPr>
            </p:nvSpPr>
            <p:spPr>
              <a:xfrm>
                <a:off x="1103312" y="2052918"/>
                <a:ext cx="9904999" cy="4195481"/>
              </a:xfrm>
            </p:spPr>
            <p:txBody>
              <a:bodyPr>
                <a:noAutofit/>
              </a:bodyPr>
              <a:lstStyle/>
              <a:p>
                <a:pPr marL="0" indent="0">
                  <a:lnSpc>
                    <a:spcPct val="115000"/>
                  </a:lnSpc>
                  <a:spcAft>
                    <a:spcPts val="1000"/>
                  </a:spcAft>
                  <a:buNone/>
                </a:pPr>
                <a:r>
                  <a:rPr lang="en-GB" dirty="0">
                    <a:effectLst/>
                    <a:latin typeface="+mn-lt"/>
                    <a:ea typeface="Calibri" panose="020F0502020204030204" pitchFamily="34" charset="0"/>
                    <a:cs typeface="Times New Roman" panose="02020603050405020304" pitchFamily="18" charset="0"/>
                  </a:rPr>
                  <a:t>Assumed temperature range = </a:t>
                </a:r>
                <a14:m>
                  <m:oMath xmlns:m="http://schemas.openxmlformats.org/officeDocument/2006/math">
                    <m:r>
                      <a:rPr lang="en-US" b="0" i="0" smtClean="0">
                        <a:effectLst/>
                        <a:latin typeface="Cambria Math" panose="02040503050406030204" pitchFamily="18" charset="0"/>
                        <a:ea typeface="Cambria Math" panose="02040503050406030204" pitchFamily="18" charset="0"/>
                        <a:cs typeface="Times New Roman" panose="02020603050405020304" pitchFamily="18" charset="0"/>
                      </a:rPr>
                      <m:t>22</m:t>
                    </m:r>
                    <m:r>
                      <a:rPr lang="en-US" b="0" i="1" smtClean="0">
                        <a:effectLst/>
                        <a:latin typeface="Cambria Math" panose="02040503050406030204" pitchFamily="18" charset="0"/>
                        <a:ea typeface="Cambria Math" panose="02040503050406030204" pitchFamily="18" charset="0"/>
                        <a:cs typeface="Times New Roman" panose="02020603050405020304" pitchFamily="18" charset="0"/>
                      </a:rPr>
                      <m:t>° </m:t>
                    </m:r>
                    <m:r>
                      <a:rPr lang="en-US" b="0" i="1" smtClean="0">
                        <a:effectLst/>
                        <a:latin typeface="Cambria Math" panose="02040503050406030204" pitchFamily="18" charset="0"/>
                        <a:ea typeface="Cambria Math" panose="02040503050406030204" pitchFamily="18" charset="0"/>
                        <a:cs typeface="Times New Roman" panose="02020603050405020304" pitchFamily="18" charset="0"/>
                      </a:rPr>
                      <m:t>𝑡𝑜</m:t>
                    </m:r>
                    <m:r>
                      <a:rPr lang="en-US" b="0" i="1" smtClean="0">
                        <a:effectLst/>
                        <a:latin typeface="Cambria Math" panose="02040503050406030204" pitchFamily="18" charset="0"/>
                        <a:ea typeface="Cambria Math" panose="02040503050406030204" pitchFamily="18" charset="0"/>
                        <a:cs typeface="Times New Roman" panose="02020603050405020304" pitchFamily="18" charset="0"/>
                      </a:rPr>
                      <m:t> 28℃</m:t>
                    </m:r>
                  </m:oMath>
                </a14:m>
                <a:r>
                  <a:rPr lang="en-GB" dirty="0">
                    <a:effectLst/>
                    <a:latin typeface="+mn-lt"/>
                    <a:ea typeface="Calibri" panose="020F0502020204030204" pitchFamily="34" charset="0"/>
                    <a:cs typeface="Times New Roman" panose="02020603050405020304" pitchFamily="18" charset="0"/>
                  </a:rPr>
                  <a:t> </a:t>
                </a:r>
                <a:r>
                  <a:rPr lang="en-GB" dirty="0">
                    <a:latin typeface="+mn-lt"/>
                    <a:ea typeface="Calibri" panose="020F0502020204030204" pitchFamily="34" charset="0"/>
                    <a:cs typeface="Times New Roman" panose="02020603050405020304" pitchFamily="18" charset="0"/>
                  </a:rPr>
                  <a:t>and</a:t>
                </a:r>
                <a:r>
                  <a:rPr lang="en-GB" dirty="0">
                    <a:effectLst/>
                    <a:latin typeface="+mn-lt"/>
                    <a:ea typeface="Calibri" panose="020F0502020204030204" pitchFamily="34" charset="0"/>
                    <a:cs typeface="Times New Roman" panose="02020603050405020304" pitchFamily="18" charset="0"/>
                  </a:rPr>
                  <a:t> the wastewater characteristics are of follows :</a:t>
                </a:r>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14:m>
                  <m:oMathPara xmlns:m="http://schemas.openxmlformats.org/officeDocument/2006/math">
                    <m:oMathParaPr>
                      <m:jc m:val="centerGroup"/>
                    </m:oMathParaPr>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𝑝𝐻</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=7.3−7.7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𝐵𝑂𝐷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=350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oMath>
                  </m:oMathPara>
                </a14:m>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14:m>
                  <m:oMathPara xmlns:m="http://schemas.openxmlformats.org/officeDocument/2006/math">
                    <m:oMathParaPr>
                      <m:jc m:val="centerGroup"/>
                    </m:oMathParaPr>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𝐶𝑂𝐷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=820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𝑠𝑢𝑙𝑝h𝑎𝑡𝑒</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oMath>
                  </m:oMathPara>
                </a14:m>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14:m>
                  <m:oMathPara xmlns:m="http://schemas.openxmlformats.org/officeDocument/2006/math">
                    <m:oMathParaPr>
                      <m:jc m:val="centerGroup"/>
                    </m:oMathParaPr>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𝑇𝑆𝑆</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=395</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𝑉𝑆𝑆</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270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oMath>
                  </m:oMathPara>
                </a14:m>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dirty="0">
                    <a:latin typeface="+mn-lt"/>
                    <a:ea typeface="Calibri" panose="020F0502020204030204" pitchFamily="34" charset="0"/>
                    <a:cs typeface="Times New Roman" panose="02020603050405020304" pitchFamily="18" charset="0"/>
                  </a:rPr>
                  <a:t>R</a:t>
                </a:r>
                <a:r>
                  <a:rPr lang="en-GB" dirty="0">
                    <a:effectLst/>
                    <a:latin typeface="+mn-lt"/>
                    <a:ea typeface="Calibri" panose="020F0502020204030204" pitchFamily="34" charset="0"/>
                    <a:cs typeface="Times New Roman" panose="02020603050405020304" pitchFamily="18" charset="0"/>
                  </a:rPr>
                  <a:t>aw sewage will be pumped to the inlet chamber at the top of the UASB</a:t>
                </a:r>
                <a:r>
                  <a:rPr lang="en-IN" dirty="0">
                    <a:latin typeface="+mn-lt"/>
                    <a:ea typeface="Calibri" panose="020F0502020204030204" pitchFamily="34" charset="0"/>
                    <a:cs typeface="Times New Roman" panose="02020603050405020304" pitchFamily="18" charset="0"/>
                  </a:rPr>
                  <a:t> </a:t>
                </a:r>
                <a:r>
                  <a:rPr lang="en-GB" dirty="0">
                    <a:effectLst/>
                    <a:latin typeface="+mn-lt"/>
                    <a:ea typeface="Calibri" panose="020F0502020204030204" pitchFamily="34" charset="0"/>
                    <a:cs typeface="Times New Roman" panose="02020603050405020304" pitchFamily="18" charset="0"/>
                  </a:rPr>
                  <a:t>floor of UASB kept at 3m below the GL.</a:t>
                </a:r>
              </a:p>
              <a:p>
                <a:pPr marL="0" indent="0">
                  <a:lnSpc>
                    <a:spcPct val="115000"/>
                  </a:lnSpc>
                  <a:spcAft>
                    <a:spcPts val="1000"/>
                  </a:spcAft>
                  <a:buNone/>
                </a:pPr>
                <a:r>
                  <a:rPr lang="en-GB" dirty="0">
                    <a:effectLst/>
                    <a:latin typeface="+mn-lt"/>
                    <a:ea typeface="Calibri" panose="020F0502020204030204" pitchFamily="34" charset="0"/>
                    <a:cs typeface="Times New Roman" panose="02020603050405020304" pitchFamily="18" charset="0"/>
                  </a:rPr>
                  <a:t>Average flow </a:t>
                </a:r>
                <a14:m>
                  <m:oMath xmlns:m="http://schemas.openxmlformats.org/officeDocument/2006/math">
                    <m:r>
                      <a:rPr lang="en-US" b="0" i="0"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10000 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=0.116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𝑠</m:t>
                    </m:r>
                  </m:oMath>
                </a14:m>
                <a:endParaRPr lang="en-IN" dirty="0">
                  <a:effectLst/>
                  <a:latin typeface="+mn-lt"/>
                  <a:ea typeface="Calibri" panose="020F0502020204030204" pitchFamily="34"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709AC3B-0A88-C01E-5D22-1B3E32813B09}"/>
                  </a:ext>
                </a:extLst>
              </p:cNvPr>
              <p:cNvSpPr>
                <a:spLocks noGrp="1" noRot="1" noChangeAspect="1" noMove="1" noResize="1" noEditPoints="1" noAdjustHandles="1" noChangeArrowheads="1" noChangeShapeType="1" noTextEdit="1"/>
              </p:cNvSpPr>
              <p:nvPr>
                <p:ph idx="1"/>
              </p:nvPr>
            </p:nvSpPr>
            <p:spPr>
              <a:xfrm>
                <a:off x="1103312" y="2052918"/>
                <a:ext cx="9904999" cy="4195481"/>
              </a:xfrm>
              <a:blipFill>
                <a:blip r:embed="rId2"/>
                <a:stretch>
                  <a:fillRect l="-677" t="-581"/>
                </a:stretch>
              </a:blipFill>
            </p:spPr>
            <p:txBody>
              <a:bodyPr/>
              <a:lstStyle/>
              <a:p>
                <a:r>
                  <a:rPr lang="en-IN">
                    <a:noFill/>
                  </a:rPr>
                  <a:t> </a:t>
                </a:r>
              </a:p>
            </p:txBody>
          </p:sp>
        </mc:Fallback>
      </mc:AlternateContent>
    </p:spTree>
    <p:extLst>
      <p:ext uri="{BB962C8B-B14F-4D97-AF65-F5344CB8AC3E}">
        <p14:creationId xmlns:p14="http://schemas.microsoft.com/office/powerpoint/2010/main" val="3393250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DC96C-8F75-D26F-8A62-BAA6F7D2B2F4}"/>
              </a:ext>
            </a:extLst>
          </p:cNvPr>
          <p:cNvSpPr>
            <a:spLocks noGrp="1"/>
          </p:cNvSpPr>
          <p:nvPr>
            <p:ph type="title"/>
          </p:nvPr>
        </p:nvSpPr>
        <p:spPr/>
        <p:txBody>
          <a:bodyPr/>
          <a:lstStyle/>
          <a:p>
            <a:r>
              <a:rPr lang="en-US" dirty="0"/>
              <a:t>Design of UASB Reactor</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1883CC6-56C4-FB1F-1E05-27F70DB847AF}"/>
                  </a:ext>
                </a:extLst>
              </p:cNvPr>
              <p:cNvSpPr>
                <a:spLocks noGrp="1"/>
              </p:cNvSpPr>
              <p:nvPr>
                <p:ph idx="1"/>
              </p:nvPr>
            </p:nvSpPr>
            <p:spPr>
              <a:xfrm>
                <a:off x="1103312" y="2052918"/>
                <a:ext cx="9150397" cy="4195481"/>
              </a:xfrm>
            </p:spPr>
            <p:txBody>
              <a:bodyPr>
                <a:normAutofit/>
              </a:bodyPr>
              <a:lstStyle/>
              <a:p>
                <a:pPr>
                  <a:lnSpc>
                    <a:spcPct val="115000"/>
                  </a:lnSpc>
                  <a:spcAft>
                    <a:spcPts val="1000"/>
                  </a:spcAft>
                </a:pPr>
                <a:r>
                  <a:rPr lang="en-GB" u="sng" dirty="0">
                    <a:effectLst/>
                    <a:latin typeface="+mn-lt"/>
                    <a:ea typeface="Calibri" panose="020F0502020204030204" pitchFamily="34" charset="0"/>
                    <a:cs typeface="Times New Roman" panose="02020603050405020304" pitchFamily="18" charset="0"/>
                  </a:rPr>
                  <a:t>Sludge Production</a:t>
                </a:r>
                <a:r>
                  <a:rPr lang="en-GB" dirty="0">
                    <a:effectLst/>
                    <a:latin typeface="+mn-lt"/>
                    <a:ea typeface="Calibri" panose="020F0502020204030204" pitchFamily="34" charset="0"/>
                    <a:cs typeface="Times New Roman" panose="02020603050405020304" pitchFamily="18" charset="0"/>
                  </a:rPr>
                  <a:t>:</a:t>
                </a:r>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dirty="0">
                    <a:effectLst/>
                    <a:latin typeface="+mn-lt"/>
                    <a:ea typeface="Calibri" panose="020F0502020204030204" pitchFamily="34" charset="0"/>
                    <a:cs typeface="Times New Roman" panose="02020603050405020304" pitchFamily="18" charset="0"/>
                  </a:rPr>
                  <a:t>Assume BOD removal efficiency =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80 % </m:t>
                    </m:r>
                  </m:oMath>
                </a14:m>
                <a:r>
                  <a:rPr lang="en-GB" dirty="0">
                    <a:effectLst/>
                    <a:latin typeface="+mn-lt"/>
                    <a:ea typeface="Calibri" panose="020F0502020204030204" pitchFamily="34" charset="0"/>
                    <a:cs typeface="Times New Roman" panose="02020603050405020304" pitchFamily="18" charset="0"/>
                  </a:rPr>
                  <a:t>(UASB  effluent BOD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=70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oMath>
                </a14:m>
                <a:r>
                  <a:rPr lang="en-GB" dirty="0">
                    <a:effectLst/>
                    <a:latin typeface="+mn-lt"/>
                    <a:ea typeface="Calibri" panose="020F0502020204030204" pitchFamily="34" charset="0"/>
                    <a:cs typeface="Times New Roman" panose="02020603050405020304" pitchFamily="18" charset="0"/>
                  </a:rPr>
                  <a:t>)</a:t>
                </a:r>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dirty="0">
                    <a:effectLst/>
                    <a:latin typeface="+mn-lt"/>
                    <a:ea typeface="Calibri" panose="020F0502020204030204" pitchFamily="34" charset="0"/>
                    <a:cs typeface="Times New Roman" panose="02020603050405020304" pitchFamily="18" charset="0"/>
                  </a:rPr>
                  <a:t>VSS produced in BOD removal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=0.1∗350</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∗0.8</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28 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dirty="0">
                    <a:effectLst/>
                    <a:latin typeface="+mn-lt"/>
                    <a:ea typeface="Calibri" panose="020F0502020204030204" pitchFamily="34" charset="0"/>
                    <a:cs typeface="Times New Roman" panose="02020603050405020304" pitchFamily="18" charset="0"/>
                  </a:rPr>
                  <a:t>Non – degradable residue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𝑉𝑆𝑆</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∗(1−0.4)=270∗0.6=162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dirty="0">
                    <a:effectLst/>
                    <a:latin typeface="+mn-lt"/>
                    <a:ea typeface="Calibri" panose="020F0502020204030204" pitchFamily="34" charset="0"/>
                    <a:cs typeface="Times New Roman" panose="02020603050405020304" pitchFamily="18" charset="0"/>
                  </a:rPr>
                  <a:t>Ash received in inflow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𝑇𝑆𝑆</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𝑉𝑆𝑆</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=395−270=125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dirty="0">
                    <a:effectLst/>
                    <a:latin typeface="+mn-lt"/>
                    <a:ea typeface="Calibri" panose="020F0502020204030204" pitchFamily="34" charset="0"/>
                    <a:cs typeface="Times New Roman" panose="02020603050405020304" pitchFamily="18" charset="0"/>
                  </a:rPr>
                  <a:t>Total sludge produced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28</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+162+125=3</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15</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01883CC6-56C4-FB1F-1E05-27F70DB847AF}"/>
                  </a:ext>
                </a:extLst>
              </p:cNvPr>
              <p:cNvSpPr>
                <a:spLocks noGrp="1" noRot="1" noChangeAspect="1" noMove="1" noResize="1" noEditPoints="1" noAdjustHandles="1" noChangeArrowheads="1" noChangeShapeType="1" noTextEdit="1"/>
              </p:cNvSpPr>
              <p:nvPr>
                <p:ph idx="1"/>
              </p:nvPr>
            </p:nvSpPr>
            <p:spPr>
              <a:xfrm>
                <a:off x="1103312" y="2052918"/>
                <a:ext cx="9150397" cy="4195481"/>
              </a:xfrm>
              <a:blipFill>
                <a:blip r:embed="rId2"/>
                <a:stretch>
                  <a:fillRect l="-733" t="-581"/>
                </a:stretch>
              </a:blipFill>
            </p:spPr>
            <p:txBody>
              <a:bodyPr/>
              <a:lstStyle/>
              <a:p>
                <a:r>
                  <a:rPr lang="en-IN">
                    <a:noFill/>
                  </a:rPr>
                  <a:t> </a:t>
                </a:r>
              </a:p>
            </p:txBody>
          </p:sp>
        </mc:Fallback>
      </mc:AlternateContent>
    </p:spTree>
    <p:extLst>
      <p:ext uri="{BB962C8B-B14F-4D97-AF65-F5344CB8AC3E}">
        <p14:creationId xmlns:p14="http://schemas.microsoft.com/office/powerpoint/2010/main" val="1970992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0F377-E7B1-581A-B99B-8F3E0F86DC4F}"/>
              </a:ext>
            </a:extLst>
          </p:cNvPr>
          <p:cNvSpPr>
            <a:spLocks noGrp="1"/>
          </p:cNvSpPr>
          <p:nvPr>
            <p:ph type="title"/>
          </p:nvPr>
        </p:nvSpPr>
        <p:spPr/>
        <p:txBody>
          <a:bodyPr/>
          <a:lstStyle/>
          <a:p>
            <a:r>
              <a:rPr lang="en-US" dirty="0"/>
              <a:t>Design of UASB Reactor</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FBAE512-7AF6-B843-9738-D39FC409B057}"/>
                  </a:ext>
                </a:extLst>
              </p:cNvPr>
              <p:cNvSpPr>
                <a:spLocks noGrp="1"/>
              </p:cNvSpPr>
              <p:nvPr>
                <p:ph idx="1"/>
              </p:nvPr>
            </p:nvSpPr>
            <p:spPr>
              <a:xfrm>
                <a:off x="646112" y="1677880"/>
                <a:ext cx="10761694" cy="4856085"/>
              </a:xfrm>
            </p:spPr>
            <p:txBody>
              <a:bodyPr>
                <a:noAutofit/>
              </a:bodyPr>
              <a:lstStyle/>
              <a:p>
                <a:pPr>
                  <a:spcAft>
                    <a:spcPts val="1000"/>
                  </a:spcAft>
                </a:pPr>
                <a:r>
                  <a:rPr lang="en-GB" u="sng" dirty="0">
                    <a:effectLst/>
                    <a:latin typeface="+mn-lt"/>
                    <a:ea typeface="Calibri" panose="020F0502020204030204" pitchFamily="34" charset="0"/>
                    <a:cs typeface="Times New Roman" panose="02020603050405020304" pitchFamily="18" charset="0"/>
                  </a:rPr>
                  <a:t>SRT and HRT values</a:t>
                </a:r>
                <a:r>
                  <a:rPr lang="en-GB" dirty="0">
                    <a:effectLst/>
                    <a:latin typeface="+mn-lt"/>
                    <a:ea typeface="Calibri" panose="020F0502020204030204" pitchFamily="34" charset="0"/>
                    <a:cs typeface="Times New Roman" panose="02020603050405020304" pitchFamily="18" charset="0"/>
                  </a:rPr>
                  <a:t>:</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14:m>
                  <m:oMathPara xmlns:m="http://schemas.openxmlformats.org/officeDocument/2006/math">
                    <m:oMathParaPr>
                      <m:jc m:val="centerGroup"/>
                    </m:oMathParaPr>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𝑆𝑅𝑇</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𝑡𝑜𝑡𝑎𝑙</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𝑠𝑙𝑢𝑑𝑔𝑒</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𝑖𝑛</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𝑟𝑒𝑎𝑐𝑡𝑜𝑟</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num>
                        <m:den>
                          <m:r>
                            <a:rPr lang="en-GB" i="1" dirty="0">
                              <a:latin typeface="Cambria Math" panose="02040503050406030204" pitchFamily="18" charset="0"/>
                              <a:ea typeface="Calibri" panose="020F0502020204030204" pitchFamily="34" charset="0"/>
                              <a:cs typeface="Times New Roman" panose="02020603050405020304" pitchFamily="18" charset="0"/>
                            </a:rPr>
                            <m:t>𝑠𝑙𝑢𝑑</m:t>
                          </m:r>
                          <m:r>
                            <a:rPr lang="en-US" i="1" dirty="0">
                              <a:latin typeface="Cambria Math" panose="02040503050406030204" pitchFamily="18" charset="0"/>
                              <a:ea typeface="Calibri" panose="020F0502020204030204" pitchFamily="34" charset="0"/>
                              <a:cs typeface="Times New Roman" panose="02020603050405020304" pitchFamily="18" charset="0"/>
                            </a:rPr>
                            <m:t>𝑔</m:t>
                          </m:r>
                          <m:r>
                            <a:rPr lang="en-US" b="0" i="1" dirty="0" smtClean="0">
                              <a:latin typeface="Cambria Math" panose="02040503050406030204" pitchFamily="18" charset="0"/>
                              <a:ea typeface="Calibri" panose="020F0502020204030204" pitchFamily="34" charset="0"/>
                              <a:cs typeface="Times New Roman" panose="02020603050405020304" pitchFamily="18" charset="0"/>
                            </a:rPr>
                            <m:t>𝑒</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𝑤𝑖𝑡h𝑑𝑟𝑎𝑤𝑛</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𝑝𝑒𝑟</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𝑑𝑎𝑦</m:t>
                          </m:r>
                        </m:den>
                      </m:f>
                    </m:oMath>
                  </m:oMathPara>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Depth of sludge blanket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=2.2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r>
                  <a:rPr lang="en-GB" dirty="0">
                    <a:effectLst/>
                    <a:latin typeface="+mn-lt"/>
                    <a:ea typeface="Calibri" panose="020F0502020204030204" pitchFamily="34" charset="0"/>
                    <a:cs typeface="Times New Roman" panose="02020603050405020304" pitchFamily="18" charset="0"/>
                  </a:rPr>
                  <a:t>, Effectiveness coefficient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=0.85 </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Average conc. of sludge in blanket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=70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latin typeface="+mn-lt"/>
                    <a:ea typeface="Calibri" panose="020F0502020204030204" pitchFamily="34" charset="0"/>
                    <a:cs typeface="Times New Roman" panose="02020603050405020304" pitchFamily="18" charset="0"/>
                  </a:rPr>
                  <a:t>Let f</a:t>
                </a:r>
                <a:r>
                  <a:rPr lang="en-GB" dirty="0">
                    <a:effectLst/>
                    <a:latin typeface="+mn-lt"/>
                    <a:ea typeface="Calibri" panose="020F0502020204030204" pitchFamily="34" charset="0"/>
                    <a:cs typeface="Times New Roman" panose="02020603050405020304" pitchFamily="18" charset="0"/>
                  </a:rPr>
                  <a:t>ull depth of reactor (including settler)</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=5</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US" i="1" dirty="0">
                  <a:effectLst/>
                  <a:latin typeface="Cambria Math" panose="02040503050406030204" pitchFamily="18" charset="0"/>
                  <a:ea typeface="Calibri" panose="020F0502020204030204" pitchFamily="34" charset="0"/>
                  <a:cs typeface="Times New Roman" panose="02020603050405020304" pitchFamily="18" charset="0"/>
                </a:endParaRPr>
              </a:p>
              <a:p>
                <a:pPr marL="0" indent="0">
                  <a:spcAft>
                    <a:spcPts val="1000"/>
                  </a:spcAft>
                  <a:buNone/>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ea typeface="Calibri" panose="020F0502020204030204" pitchFamily="34" charset="0"/>
                          <a:cs typeface="Times New Roman" panose="02020603050405020304" pitchFamily="18" charset="0"/>
                        </a:rPr>
                        <m:t>𝑆𝑅𝑇</m:t>
                      </m:r>
                      <m:r>
                        <a:rPr lang="en-US" b="0" i="1" dirty="0" smtClean="0">
                          <a:latin typeface="Cambria Math" panose="02040503050406030204" pitchFamily="18" charset="0"/>
                          <a:ea typeface="Calibri" panose="020F0502020204030204" pitchFamily="34" charset="0"/>
                          <a:cs typeface="Times New Roman" panose="02020603050405020304" pitchFamily="18" charset="0"/>
                        </a:rPr>
                        <m:t>=</m:t>
                      </m:r>
                      <m:r>
                        <a:rPr lang="en-US" i="1" dirty="0">
                          <a:latin typeface="Cambria Math" panose="02040503050406030204" pitchFamily="18" charset="0"/>
                          <a:ea typeface="Calibri" panose="020F0502020204030204" pitchFamily="34" charset="0"/>
                          <a:cs typeface="Times New Roman" panose="02020603050405020304" pitchFamily="18" charset="0"/>
                        </a:rPr>
                        <m:t>30 </m:t>
                      </m:r>
                      <m:r>
                        <a:rPr lang="en-US" i="1" dirty="0">
                          <a:latin typeface="Cambria Math" panose="02040503050406030204" pitchFamily="18" charset="0"/>
                          <a:ea typeface="Calibri" panose="020F0502020204030204" pitchFamily="34" charset="0"/>
                          <a:cs typeface="Times New Roman" panose="02020603050405020304" pitchFamily="18" charset="0"/>
                        </a:rPr>
                        <m:t>𝑑𝑎𝑦𝑠</m:t>
                      </m:r>
                      <m:r>
                        <a:rPr lang="en-GB" i="1" dirty="0">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a:latin typeface="Cambria Math" panose="02040503050406030204" pitchFamily="18" charset="0"/>
                              <a:cs typeface="Times New Roman" panose="02020603050405020304" pitchFamily="18" charset="0"/>
                            </a:rPr>
                          </m:ctrlPr>
                        </m:fPr>
                        <m:num>
                          <m:d>
                            <m:dPr>
                              <m:ctrlPr>
                                <a:rPr lang="en-GB" i="1" dirty="0">
                                  <a:latin typeface="Cambria Math" panose="02040503050406030204" pitchFamily="18" charset="0"/>
                                  <a:ea typeface="Calibri" panose="020F0502020204030204" pitchFamily="34" charset="0"/>
                                  <a:cs typeface="Times New Roman" panose="02020603050405020304" pitchFamily="18" charset="0"/>
                                </a:rPr>
                              </m:ctrlPr>
                            </m:dPr>
                            <m:e>
                              <m:r>
                                <a:rPr lang="en-GB" i="1" dirty="0">
                                  <a:latin typeface="Cambria Math" panose="02040503050406030204" pitchFamily="18" charset="0"/>
                                  <a:ea typeface="Calibri" panose="020F0502020204030204" pitchFamily="34" charset="0"/>
                                  <a:cs typeface="Times New Roman" panose="02020603050405020304" pitchFamily="18" charset="0"/>
                                </a:rPr>
                                <m:t>70</m:t>
                              </m:r>
                              <m:f>
                                <m:fPr>
                                  <m:ctrlPr>
                                    <a:rPr lang="en-GB" i="1" dirty="0">
                                      <a:latin typeface="Cambria Math" panose="02040503050406030204" pitchFamily="18" charset="0"/>
                                      <a:ea typeface="Calibri" panose="020F0502020204030204" pitchFamily="34" charset="0"/>
                                      <a:cs typeface="Times New Roman" panose="02020603050405020304" pitchFamily="18" charset="0"/>
                                    </a:rPr>
                                  </m:ctrlPr>
                                </m:fPr>
                                <m:num>
                                  <m:r>
                                    <a:rPr lang="en-GB" i="1" dirty="0">
                                      <a:latin typeface="Cambria Math" panose="02040503050406030204" pitchFamily="18" charset="0"/>
                                      <a:ea typeface="Calibri" panose="020F0502020204030204" pitchFamily="34" charset="0"/>
                                      <a:cs typeface="Times New Roman" panose="02020603050405020304" pitchFamily="18" charset="0"/>
                                    </a:rPr>
                                    <m:t>𝑘𝑔</m:t>
                                  </m:r>
                                </m:num>
                                <m:den>
                                  <m:r>
                                    <a:rPr lang="en-GB" i="1" dirty="0">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a:latin typeface="Cambria Math" panose="02040503050406030204" pitchFamily="18" charset="0"/>
                                      <a:ea typeface="Calibri" panose="020F0502020204030204" pitchFamily="34" charset="0"/>
                                      <a:cs typeface="Times New Roman" panose="02020603050405020304" pitchFamily="18" charset="0"/>
                                    </a:rPr>
                                    <m:t>3</m:t>
                                  </m:r>
                                </m:den>
                              </m:f>
                            </m:e>
                          </m:d>
                          <m:d>
                            <m:dPr>
                              <m:ctrlPr>
                                <a:rPr lang="en-GB" i="1" dirty="0">
                                  <a:latin typeface="Cambria Math" panose="02040503050406030204" pitchFamily="18" charset="0"/>
                                  <a:ea typeface="Calibri" panose="020F0502020204030204" pitchFamily="34" charset="0"/>
                                  <a:cs typeface="Times New Roman" panose="02020603050405020304" pitchFamily="18" charset="0"/>
                                </a:rPr>
                              </m:ctrlPr>
                            </m:dPr>
                            <m:e>
                              <m:f>
                                <m:fPr>
                                  <m:ctrlPr>
                                    <a:rPr lang="en-GB" i="1" dirty="0">
                                      <a:latin typeface="Cambria Math" panose="02040503050406030204" pitchFamily="18" charset="0"/>
                                      <a:ea typeface="Calibri" panose="020F0502020204030204" pitchFamily="34" charset="0"/>
                                      <a:cs typeface="Times New Roman" panose="02020603050405020304" pitchFamily="18" charset="0"/>
                                    </a:rPr>
                                  </m:ctrlPr>
                                </m:fPr>
                                <m:num>
                                  <m:r>
                                    <a:rPr lang="en-GB" i="1" dirty="0">
                                      <a:latin typeface="Cambria Math" panose="02040503050406030204" pitchFamily="18" charset="0"/>
                                      <a:ea typeface="Calibri" panose="020F0502020204030204" pitchFamily="34" charset="0"/>
                                      <a:cs typeface="Times New Roman" panose="02020603050405020304" pitchFamily="18" charset="0"/>
                                    </a:rPr>
                                    <m:t>2.2</m:t>
                                  </m:r>
                                </m:num>
                                <m:den>
                                  <m:r>
                                    <a:rPr lang="en-GB" i="1" dirty="0">
                                      <a:latin typeface="Cambria Math" panose="02040503050406030204" pitchFamily="18" charset="0"/>
                                      <a:ea typeface="Calibri" panose="020F0502020204030204" pitchFamily="34" charset="0"/>
                                      <a:cs typeface="Times New Roman" panose="02020603050405020304" pitchFamily="18" charset="0"/>
                                    </a:rPr>
                                    <m:t>5.0</m:t>
                                  </m:r>
                                </m:den>
                              </m:f>
                            </m:e>
                          </m:d>
                          <m:d>
                            <m:dPr>
                              <m:ctrlPr>
                                <a:rPr lang="en-GB" i="1" dirty="0">
                                  <a:latin typeface="Cambria Math" panose="02040503050406030204" pitchFamily="18" charset="0"/>
                                  <a:ea typeface="Calibri" panose="020F0502020204030204" pitchFamily="34" charset="0"/>
                                  <a:cs typeface="Times New Roman" panose="02020603050405020304" pitchFamily="18" charset="0"/>
                                </a:rPr>
                              </m:ctrlPr>
                            </m:dPr>
                            <m:e>
                              <m:r>
                                <a:rPr lang="en-GB" i="1" dirty="0">
                                  <a:latin typeface="Cambria Math" panose="02040503050406030204" pitchFamily="18" charset="0"/>
                                  <a:ea typeface="Calibri" panose="020F0502020204030204" pitchFamily="34" charset="0"/>
                                  <a:cs typeface="Times New Roman" panose="02020603050405020304" pitchFamily="18" charset="0"/>
                                </a:rPr>
                                <m:t>0.85</m:t>
                              </m:r>
                            </m:e>
                          </m:d>
                          <m:d>
                            <m:dPr>
                              <m:ctrlPr>
                                <a:rPr lang="en-GB" i="1" dirty="0">
                                  <a:latin typeface="Cambria Math" panose="02040503050406030204" pitchFamily="18" charset="0"/>
                                  <a:ea typeface="Calibri" panose="020F0502020204030204" pitchFamily="34" charset="0"/>
                                  <a:cs typeface="Times New Roman" panose="02020603050405020304" pitchFamily="18" charset="0"/>
                                </a:rPr>
                              </m:ctrlPr>
                            </m:dPr>
                            <m:e>
                              <m:r>
                                <a:rPr lang="en-GB" i="1" dirty="0">
                                  <a:latin typeface="Cambria Math" panose="02040503050406030204" pitchFamily="18" charset="0"/>
                                  <a:ea typeface="Calibri" panose="020F0502020204030204" pitchFamily="34" charset="0"/>
                                  <a:cs typeface="Times New Roman" panose="02020603050405020304" pitchFamily="18" charset="0"/>
                                </a:rPr>
                                <m:t>𝑓𝑙𝑜𝑤</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𝑟𝑎𝑡𝑒</m:t>
                              </m:r>
                              <m:r>
                                <a:rPr lang="en-US"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a:latin typeface="Cambria Math" panose="02040503050406030204" pitchFamily="18" charset="0"/>
                                  <a:ea typeface="Calibri" panose="020F0502020204030204" pitchFamily="34" charset="0"/>
                                  <a:cs typeface="Times New Roman" panose="02020603050405020304" pitchFamily="18" charset="0"/>
                                </a:rPr>
                                <m:t>3</m:t>
                              </m:r>
                              <m:r>
                                <a:rPr lang="en-US" i="1" dirty="0">
                                  <a:latin typeface="Cambria Math" panose="02040503050406030204" pitchFamily="18" charset="0"/>
                                  <a:ea typeface="Calibri" panose="020F0502020204030204" pitchFamily="34" charset="0"/>
                                  <a:cs typeface="Times New Roman" panose="02020603050405020304" pitchFamily="18" charset="0"/>
                                </a:rPr>
                                <m:t>/</m:t>
                              </m:r>
                              <m:r>
                                <a:rPr lang="en-US" i="1" dirty="0">
                                  <a:latin typeface="Cambria Math" panose="02040503050406030204" pitchFamily="18" charset="0"/>
                                  <a:ea typeface="Calibri" panose="020F0502020204030204" pitchFamily="34" charset="0"/>
                                  <a:cs typeface="Times New Roman" panose="02020603050405020304" pitchFamily="18" charset="0"/>
                                </a:rPr>
                                <m:t>𝑑</m:t>
                              </m:r>
                            </m:e>
                          </m:d>
                          <m:d>
                            <m:dPr>
                              <m:ctrlPr>
                                <a:rPr lang="en-GB" i="1" dirty="0">
                                  <a:latin typeface="Cambria Math" panose="02040503050406030204" pitchFamily="18" charset="0"/>
                                  <a:ea typeface="Calibri" panose="020F0502020204030204" pitchFamily="34" charset="0"/>
                                  <a:cs typeface="Times New Roman" panose="02020603050405020304" pitchFamily="18" charset="0"/>
                                </a:rPr>
                              </m:ctrlPr>
                            </m:dPr>
                            <m:e>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𝐻𝑅𝑇</m:t>
                              </m:r>
                              <m:f>
                                <m:fPr>
                                  <m:ctrlPr>
                                    <a:rPr lang="en-GB" i="1" dirty="0">
                                      <a:latin typeface="Cambria Math" panose="02040503050406030204" pitchFamily="18" charset="0"/>
                                      <a:ea typeface="Calibri" panose="020F0502020204030204" pitchFamily="34" charset="0"/>
                                      <a:cs typeface="Times New Roman" panose="02020603050405020304" pitchFamily="18" charset="0"/>
                                    </a:rPr>
                                  </m:ctrlPr>
                                </m:fPr>
                                <m:num>
                                  <m:r>
                                    <a:rPr lang="en-GB" i="1" dirty="0">
                                      <a:latin typeface="Cambria Math" panose="02040503050406030204" pitchFamily="18" charset="0"/>
                                      <a:ea typeface="Calibri" panose="020F0502020204030204" pitchFamily="34" charset="0"/>
                                      <a:cs typeface="Times New Roman" panose="02020603050405020304" pitchFamily="18" charset="0"/>
                                    </a:rPr>
                                    <m:t>h𝑟</m:t>
                                  </m:r>
                                </m:num>
                                <m:den>
                                  <m:r>
                                    <a:rPr lang="en-GB" i="1" dirty="0">
                                      <a:latin typeface="Cambria Math" panose="02040503050406030204" pitchFamily="18" charset="0"/>
                                      <a:ea typeface="Calibri" panose="020F0502020204030204" pitchFamily="34" charset="0"/>
                                      <a:cs typeface="Times New Roman" panose="02020603050405020304" pitchFamily="18" charset="0"/>
                                    </a:rPr>
                                    <m:t>24</m:t>
                                  </m:r>
                                </m:den>
                              </m:f>
                            </m:e>
                          </m:d>
                        </m:num>
                        <m:den>
                          <m:r>
                            <a:rPr lang="en-GB" i="1" dirty="0">
                              <a:latin typeface="Cambria Math" panose="02040503050406030204" pitchFamily="18" charset="0"/>
                              <a:ea typeface="Calibri" panose="020F0502020204030204" pitchFamily="34" charset="0"/>
                              <a:cs typeface="Times New Roman" panose="02020603050405020304" pitchFamily="18" charset="0"/>
                            </a:rPr>
                            <m:t>(322 </m:t>
                          </m:r>
                          <m:r>
                            <a:rPr lang="en-GB" i="1" dirty="0">
                              <a:latin typeface="Cambria Math" panose="02040503050406030204" pitchFamily="18" charset="0"/>
                              <a:ea typeface="Calibri" panose="020F0502020204030204" pitchFamily="34" charset="0"/>
                              <a:cs typeface="Times New Roman" panose="02020603050405020304" pitchFamily="18" charset="0"/>
                            </a:rPr>
                            <m:t>𝑘𝑔</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a:latin typeface="Cambria Math" panose="02040503050406030204" pitchFamily="18" charset="0"/>
                              <a:ea typeface="Calibri" panose="020F0502020204030204" pitchFamily="34" charset="0"/>
                              <a:cs typeface="Times New Roman" panose="02020603050405020304" pitchFamily="18" charset="0"/>
                            </a:rPr>
                            <m:t>3</m:t>
                          </m:r>
                          <m:r>
                            <a:rPr lang="en-GB" i="1" dirty="0">
                              <a:latin typeface="Cambria Math" panose="02040503050406030204" pitchFamily="18" charset="0"/>
                              <a:ea typeface="Calibri" panose="020F0502020204030204" pitchFamily="34" charset="0"/>
                              <a:cs typeface="Times New Roman" panose="02020603050405020304" pitchFamily="18" charset="0"/>
                            </a:rPr>
                            <m:t>)(</m:t>
                          </m:r>
                          <m:r>
                            <a:rPr lang="en-GB" i="1" dirty="0">
                              <a:latin typeface="Cambria Math" panose="02040503050406030204" pitchFamily="18" charset="0"/>
                              <a:ea typeface="Calibri" panose="020F0502020204030204" pitchFamily="34" charset="0"/>
                              <a:cs typeface="Times New Roman" panose="02020603050405020304" pitchFamily="18" charset="0"/>
                            </a:rPr>
                            <m:t>𝑓𝑙𝑜𝑤</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𝑟𝑎𝑡𝑒</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a:latin typeface="Cambria Math" panose="02040503050406030204" pitchFamily="18" charset="0"/>
                              <a:ea typeface="Calibri" panose="020F0502020204030204" pitchFamily="34" charset="0"/>
                              <a:cs typeface="Times New Roman" panose="02020603050405020304" pitchFamily="18" charset="0"/>
                            </a:rPr>
                            <m:t>3</m:t>
                          </m:r>
                          <m:r>
                            <a:rPr lang="en-GB" i="1" dirty="0">
                              <a:latin typeface="Cambria Math" panose="02040503050406030204" pitchFamily="18" charset="0"/>
                              <a:ea typeface="Calibri" panose="020F0502020204030204" pitchFamily="34" charset="0"/>
                              <a:cs typeface="Times New Roman" panose="02020603050405020304" pitchFamily="18" charset="0"/>
                            </a:rPr>
                            <m:t>/</m:t>
                          </m:r>
                          <m:r>
                            <a:rPr lang="en-GB" i="1" dirty="0">
                              <a:latin typeface="Cambria Math" panose="02040503050406030204" pitchFamily="18" charset="0"/>
                              <a:ea typeface="Calibri" panose="020F0502020204030204" pitchFamily="34" charset="0"/>
                              <a:cs typeface="Times New Roman" panose="02020603050405020304" pitchFamily="18" charset="0"/>
                            </a:rPr>
                            <m:t>𝑑</m:t>
                          </m:r>
                          <m:r>
                            <a:rPr lang="en-GB" i="1" dirty="0">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US" i="1" dirty="0">
                  <a:latin typeface="Cambria Math" panose="02040503050406030204" pitchFamily="18" charset="0"/>
                  <a:ea typeface="Calibri" panose="020F0502020204030204" pitchFamily="34" charset="0"/>
                  <a:cs typeface="Times New Roman" panose="02020603050405020304" pitchFamily="18" charset="0"/>
                </a:endParaRPr>
              </a:p>
              <a:p>
                <a:pPr marL="0" indent="0">
                  <a:spcAft>
                    <a:spcPts val="1000"/>
                  </a:spcAft>
                  <a:buNone/>
                </a:pPr>
                <a14:m>
                  <m:oMathPara xmlns:m="http://schemas.openxmlformats.org/officeDocument/2006/math">
                    <m:oMathParaPr>
                      <m:jc m:val="centerGroup"/>
                    </m:oMathParaPr>
                    <m:oMath xmlns:m="http://schemas.openxmlformats.org/officeDocument/2006/math">
                      <m:r>
                        <a:rPr lang="en-GB" i="1" dirty="0">
                          <a:latin typeface="Cambria Math" panose="02040503050406030204" pitchFamily="18" charset="0"/>
                          <a:ea typeface="Calibri" panose="020F0502020204030204" pitchFamily="34" charset="0"/>
                          <a:cs typeface="Times New Roman" panose="02020603050405020304" pitchFamily="18" charset="0"/>
                        </a:rPr>
                        <m:t>𝐻𝑅𝑇</m:t>
                      </m:r>
                      <m:r>
                        <a:rPr lang="en-GB" i="1" dirty="0">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a:latin typeface="Cambria Math" panose="02040503050406030204" pitchFamily="18" charset="0"/>
                              <a:ea typeface="Calibri" panose="020F0502020204030204" pitchFamily="34" charset="0"/>
                              <a:cs typeface="Times New Roman" panose="02020603050405020304" pitchFamily="18" charset="0"/>
                            </a:rPr>
                          </m:ctrlPr>
                        </m:fPr>
                        <m:num>
                          <m:r>
                            <a:rPr lang="en-GB" i="1" dirty="0">
                              <a:latin typeface="Cambria Math" panose="02040503050406030204" pitchFamily="18" charset="0"/>
                              <a:ea typeface="Calibri" panose="020F0502020204030204" pitchFamily="34" charset="0"/>
                              <a:cs typeface="Times New Roman" panose="02020603050405020304" pitchFamily="18" charset="0"/>
                            </a:rPr>
                            <m:t>30∗</m:t>
                          </m:r>
                          <m:r>
                            <a:rPr lang="en-US" b="0" i="1" dirty="0" smtClean="0">
                              <a:latin typeface="Cambria Math" panose="02040503050406030204" pitchFamily="18" charset="0"/>
                              <a:ea typeface="Calibri" panose="020F0502020204030204" pitchFamily="34" charset="0"/>
                              <a:cs typeface="Times New Roman" panose="02020603050405020304" pitchFamily="18" charset="0"/>
                            </a:rPr>
                            <m:t>315</m:t>
                          </m:r>
                        </m:num>
                        <m:den>
                          <m:r>
                            <a:rPr lang="en-GB" i="1" dirty="0">
                              <a:latin typeface="Cambria Math" panose="02040503050406030204" pitchFamily="18" charset="0"/>
                              <a:ea typeface="Calibri" panose="020F0502020204030204" pitchFamily="34" charset="0"/>
                              <a:cs typeface="Times New Roman" panose="02020603050405020304" pitchFamily="18" charset="0"/>
                            </a:rPr>
                            <m:t>(70</m:t>
                          </m:r>
                          <m:r>
                            <a:rPr lang="en-US" b="0" i="1" dirty="0" smtClean="0">
                              <a:latin typeface="Cambria Math" panose="02040503050406030204" pitchFamily="18" charset="0"/>
                              <a:ea typeface="Calibri" panose="020F0502020204030204" pitchFamily="34" charset="0"/>
                              <a:cs typeface="Times New Roman" panose="02020603050405020304" pitchFamily="18" charset="0"/>
                            </a:rPr>
                            <m:t>)</m:t>
                          </m:r>
                          <m:r>
                            <a:rPr lang="en-GB" i="1" dirty="0">
                              <a:latin typeface="Cambria Math" panose="02040503050406030204" pitchFamily="18" charset="0"/>
                              <a:ea typeface="Calibri" panose="020F0502020204030204" pitchFamily="34" charset="0"/>
                              <a:cs typeface="Times New Roman" panose="02020603050405020304" pitchFamily="18" charset="0"/>
                            </a:rPr>
                            <m:t>(2.2/5)(0.85)(</m:t>
                          </m:r>
                          <m:f>
                            <m:fPr>
                              <m:ctrlPr>
                                <a:rPr lang="en-GB" i="1" dirty="0">
                                  <a:latin typeface="Cambria Math" panose="02040503050406030204" pitchFamily="18" charset="0"/>
                                  <a:ea typeface="Calibri" panose="020F0502020204030204" pitchFamily="34" charset="0"/>
                                  <a:cs typeface="Times New Roman" panose="02020603050405020304" pitchFamily="18" charset="0"/>
                                </a:rPr>
                              </m:ctrlPr>
                            </m:fPr>
                            <m:num>
                              <m:r>
                                <a:rPr lang="en-GB" i="1" dirty="0">
                                  <a:latin typeface="Cambria Math" panose="02040503050406030204" pitchFamily="18" charset="0"/>
                                  <a:ea typeface="Calibri" panose="020F0502020204030204" pitchFamily="34" charset="0"/>
                                  <a:cs typeface="Times New Roman" panose="02020603050405020304" pitchFamily="18" charset="0"/>
                                </a:rPr>
                                <m:t>1000</m:t>
                              </m:r>
                            </m:num>
                            <m:den>
                              <m:r>
                                <a:rPr lang="en-GB" i="1" dirty="0">
                                  <a:latin typeface="Cambria Math" panose="02040503050406030204" pitchFamily="18" charset="0"/>
                                  <a:ea typeface="Calibri" panose="020F0502020204030204" pitchFamily="34" charset="0"/>
                                  <a:cs typeface="Times New Roman" panose="02020603050405020304" pitchFamily="18" charset="0"/>
                                </a:rPr>
                                <m:t>24</m:t>
                              </m:r>
                            </m:den>
                          </m:f>
                          <m:r>
                            <a:rPr lang="en-US" i="1" dirty="0">
                              <a:latin typeface="Cambria Math" panose="02040503050406030204" pitchFamily="18" charset="0"/>
                              <a:ea typeface="Calibri" panose="020F0502020204030204" pitchFamily="34" charset="0"/>
                              <a:cs typeface="Times New Roman" panose="02020603050405020304" pitchFamily="18" charset="0"/>
                            </a:rPr>
                            <m:t>)</m:t>
                          </m:r>
                        </m:den>
                      </m:f>
                      <m:r>
                        <a:rPr lang="en-GB" i="1" dirty="0">
                          <a:latin typeface="Cambria Math" panose="02040503050406030204" pitchFamily="18" charset="0"/>
                          <a:ea typeface="Calibri" panose="020F0502020204030204" pitchFamily="34" charset="0"/>
                          <a:cs typeface="Times New Roman" panose="02020603050405020304" pitchFamily="18" charset="0"/>
                        </a:rPr>
                        <m:t>=8.</m:t>
                      </m:r>
                      <m:r>
                        <a:rPr lang="en-US" b="0" i="1" dirty="0" smtClean="0">
                          <a:latin typeface="Cambria Math" panose="02040503050406030204" pitchFamily="18" charset="0"/>
                          <a:ea typeface="Calibri" panose="020F0502020204030204" pitchFamily="34" charset="0"/>
                          <a:cs typeface="Times New Roman" panose="02020603050405020304" pitchFamily="18" charset="0"/>
                        </a:rPr>
                        <m:t>66</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h𝑟𝑠</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𝑎𝑡</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𝑎𝑣𝑒𝑟𝑎𝑔𝑒</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𝑓𝑙𝑜𝑤</m:t>
                      </m:r>
                      <m:r>
                        <a:rPr lang="en-GB" i="1" dirty="0">
                          <a:latin typeface="Cambria Math" panose="02040503050406030204" pitchFamily="18" charset="0"/>
                          <a:ea typeface="Calibri" panose="020F0502020204030204" pitchFamily="34" charset="0"/>
                          <a:cs typeface="Times New Roman" panose="02020603050405020304" pitchFamily="18" charset="0"/>
                        </a:rPr>
                        <m:t>= 4.33 </m:t>
                      </m:r>
                      <m:r>
                        <a:rPr lang="en-GB" i="1" dirty="0">
                          <a:latin typeface="Cambria Math" panose="02040503050406030204" pitchFamily="18" charset="0"/>
                          <a:ea typeface="Calibri" panose="020F0502020204030204" pitchFamily="34" charset="0"/>
                          <a:cs typeface="Times New Roman" panose="02020603050405020304" pitchFamily="18" charset="0"/>
                        </a:rPr>
                        <m:t>h𝑟𝑠</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𝑎𝑡</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𝑝𝑒𝑎𝑘</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𝑓𝑙𝑜𝑤</m:t>
                      </m:r>
                      <m:r>
                        <a:rPr lang="en-GB" i="1" dirty="0">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IN" dirty="0">
                  <a:latin typeface="+mn-lt"/>
                </a:endParaRPr>
              </a:p>
              <a:p>
                <a:pPr marL="0" indent="0">
                  <a:spcAft>
                    <a:spcPts val="1000"/>
                  </a:spcAft>
                  <a:buNone/>
                </a:pPr>
                <a:endParaRPr lang="en-IN" dirty="0">
                  <a:effectLst/>
                  <a:latin typeface="+mn-lt"/>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9FBAE512-7AF6-B843-9738-D39FC409B057}"/>
                  </a:ext>
                </a:extLst>
              </p:cNvPr>
              <p:cNvSpPr>
                <a:spLocks noGrp="1" noRot="1" noChangeAspect="1" noMove="1" noResize="1" noEditPoints="1" noAdjustHandles="1" noChangeArrowheads="1" noChangeShapeType="1" noTextEdit="1"/>
              </p:cNvSpPr>
              <p:nvPr>
                <p:ph idx="1"/>
              </p:nvPr>
            </p:nvSpPr>
            <p:spPr>
              <a:xfrm>
                <a:off x="646112" y="1677880"/>
                <a:ext cx="10761694" cy="4856085"/>
              </a:xfrm>
              <a:blipFill>
                <a:blip r:embed="rId2"/>
                <a:stretch>
                  <a:fillRect l="-623" t="-627"/>
                </a:stretch>
              </a:blipFill>
            </p:spPr>
            <p:txBody>
              <a:bodyPr/>
              <a:lstStyle/>
              <a:p>
                <a:r>
                  <a:rPr lang="en-IN">
                    <a:noFill/>
                  </a:rPr>
                  <a:t> </a:t>
                </a:r>
              </a:p>
            </p:txBody>
          </p:sp>
        </mc:Fallback>
      </mc:AlternateContent>
    </p:spTree>
    <p:extLst>
      <p:ext uri="{BB962C8B-B14F-4D97-AF65-F5344CB8AC3E}">
        <p14:creationId xmlns:p14="http://schemas.microsoft.com/office/powerpoint/2010/main" val="3421061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76E49-D388-526B-3617-4675E408A1C7}"/>
              </a:ext>
            </a:extLst>
          </p:cNvPr>
          <p:cNvSpPr>
            <a:spLocks noGrp="1"/>
          </p:cNvSpPr>
          <p:nvPr>
            <p:ph type="title"/>
          </p:nvPr>
        </p:nvSpPr>
        <p:spPr/>
        <p:txBody>
          <a:bodyPr/>
          <a:lstStyle/>
          <a:p>
            <a:r>
              <a:rPr lang="en-US" dirty="0"/>
              <a:t>Design of UASB Reactor</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FD6BBE8-9F77-F847-43D5-95590520AF09}"/>
                  </a:ext>
                </a:extLst>
              </p:cNvPr>
              <p:cNvSpPr>
                <a:spLocks noGrp="1"/>
              </p:cNvSpPr>
              <p:nvPr>
                <p:ph idx="1"/>
              </p:nvPr>
            </p:nvSpPr>
            <p:spPr>
              <a:xfrm>
                <a:off x="710214" y="1853248"/>
                <a:ext cx="9694416" cy="4662962"/>
              </a:xfrm>
            </p:spPr>
            <p:txBody>
              <a:bodyPr>
                <a:noAutofit/>
              </a:bodyPr>
              <a:lstStyle/>
              <a:p>
                <a:pPr>
                  <a:spcAft>
                    <a:spcPts val="1000"/>
                  </a:spcAft>
                </a:pPr>
                <a:r>
                  <a:rPr lang="en-GB" u="sng" dirty="0">
                    <a:effectLst/>
                    <a:latin typeface="+mn-lt"/>
                    <a:ea typeface="Calibri" panose="020F0502020204030204" pitchFamily="34" charset="0"/>
                    <a:cs typeface="Times New Roman" panose="02020603050405020304" pitchFamily="18" charset="0"/>
                  </a:rPr>
                  <a:t>Upflow velocity</a:t>
                </a:r>
                <a:r>
                  <a:rPr lang="en-GB" dirty="0">
                    <a:effectLst/>
                    <a:latin typeface="+mn-lt"/>
                    <a:ea typeface="Calibri" panose="020F0502020204030204" pitchFamily="34" charset="0"/>
                    <a:cs typeface="Times New Roman" panose="02020603050405020304" pitchFamily="18" charset="0"/>
                  </a:rPr>
                  <a:t>:</a:t>
                </a:r>
                <a:endParaRPr lang="en-IN" u="sng"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Upflow velocity at avg. flow</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5</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num>
                      <m:den>
                        <m:r>
                          <a:rPr lang="en-GB" i="1" dirty="0">
                            <a:latin typeface="Cambria Math" panose="02040503050406030204" pitchFamily="18" charset="0"/>
                            <a:ea typeface="Calibri" panose="020F0502020204030204" pitchFamily="34" charset="0"/>
                            <a:cs typeface="Times New Roman" panose="02020603050405020304" pitchFamily="18" charset="0"/>
                          </a:rPr>
                          <m:t>8.</m:t>
                        </m:r>
                        <m:r>
                          <a:rPr lang="en-US" b="0" i="1" dirty="0" smtClean="0">
                            <a:latin typeface="Cambria Math" panose="02040503050406030204" pitchFamily="18" charset="0"/>
                            <a:ea typeface="Calibri" panose="020F0502020204030204" pitchFamily="34" charset="0"/>
                            <a:cs typeface="Times New Roman" panose="02020603050405020304" pitchFamily="18" charset="0"/>
                          </a:rPr>
                          <m:t>66</m:t>
                        </m:r>
                        <m:r>
                          <a:rPr lang="en-GB" i="1" dirty="0">
                            <a:latin typeface="Cambria Math" panose="02040503050406030204" pitchFamily="18" charset="0"/>
                            <a:ea typeface="Calibri" panose="020F0502020204030204" pitchFamily="34" charset="0"/>
                            <a:cs typeface="Times New Roman" panose="02020603050405020304" pitchFamily="18" charset="0"/>
                          </a:rPr>
                          <m:t>h𝑟𝑠</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577</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h𝑟</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We  took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h𝑟</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GB" dirty="0">
                    <a:effectLst/>
                    <a:latin typeface="+mn-lt"/>
                    <a:ea typeface="Calibri" panose="020F0502020204030204" pitchFamily="34" charset="0"/>
                    <a:cs typeface="Times New Roman" panose="02020603050405020304" pitchFamily="18" charset="0"/>
                  </a:rPr>
                  <a:t>(so that we are able to retain even flocculant sludge within UASB)</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Upflow velocity at peak flow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=0.5∗2=1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h𝑟</m:t>
                    </m:r>
                  </m:oMath>
                </a14:m>
                <a:endParaRPr lang="en-IN" dirty="0">
                  <a:effectLst/>
                  <a:latin typeface="+mn-lt"/>
                  <a:ea typeface="Calibri" panose="020F0502020204030204" pitchFamily="34" charset="0"/>
                  <a:cs typeface="Times New Roman" panose="02020603050405020304" pitchFamily="18" charset="0"/>
                </a:endParaRPr>
              </a:p>
              <a:p>
                <a:pPr>
                  <a:spcAft>
                    <a:spcPts val="1000"/>
                  </a:spcAft>
                </a:pPr>
                <a:r>
                  <a:rPr lang="en-GB" u="sng" dirty="0">
                    <a:effectLst/>
                    <a:latin typeface="+mn-lt"/>
                    <a:ea typeface="Calibri" panose="020F0502020204030204" pitchFamily="34" charset="0"/>
                    <a:cs typeface="Times New Roman" panose="02020603050405020304" pitchFamily="18" charset="0"/>
                  </a:rPr>
                  <a:t>Reactor dimensions</a:t>
                </a:r>
                <a:r>
                  <a:rPr lang="en-GB" dirty="0">
                    <a:effectLst/>
                    <a:latin typeface="+mn-lt"/>
                    <a:ea typeface="Calibri" panose="020F0502020204030204" pitchFamily="34" charset="0"/>
                    <a:cs typeface="Times New Roman" panose="02020603050405020304" pitchFamily="18" charset="0"/>
                  </a:rPr>
                  <a:t>: </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Reactor area required = </a:t>
                </a:r>
                <a14:m>
                  <m:oMath xmlns:m="http://schemas.openxmlformats.org/officeDocument/2006/math">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𝑡𝑜𝑡𝑎𝑙</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𝑓𝑙𝑜𝑤</m:t>
                        </m:r>
                        <m:r>
                          <a:rPr lang="en-US" b="0" i="1" dirty="0" smtClean="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a:latin typeface="Cambria Math" panose="02040503050406030204" pitchFamily="18" charset="0"/>
                            <a:ea typeface="Calibri" panose="020F0502020204030204" pitchFamily="34" charset="0"/>
                            <a:cs typeface="Times New Roman" panose="02020603050405020304" pitchFamily="18" charset="0"/>
                          </a:rPr>
                          <m:t>3</m:t>
                        </m:r>
                        <m:r>
                          <a:rPr lang="en-US" i="1" dirty="0">
                            <a:latin typeface="Cambria Math" panose="02040503050406030204" pitchFamily="18" charset="0"/>
                            <a:ea typeface="Calibri" panose="020F0502020204030204" pitchFamily="34" charset="0"/>
                            <a:cs typeface="Times New Roman" panose="02020603050405020304" pitchFamily="18" charset="0"/>
                          </a:rPr>
                          <m:t>/</m:t>
                        </m:r>
                        <m:r>
                          <a:rPr lang="en-US" i="1" dirty="0">
                            <a:latin typeface="Cambria Math" panose="02040503050406030204" pitchFamily="18" charset="0"/>
                            <a:ea typeface="Calibri" panose="020F0502020204030204" pitchFamily="34" charset="0"/>
                            <a:cs typeface="Times New Roman" panose="02020603050405020304" pitchFamily="18" charset="0"/>
                          </a:rPr>
                          <m:t>𝑑</m:t>
                        </m:r>
                      </m:num>
                      <m:den>
                        <m:r>
                          <a:rPr lang="en-GB" i="1" dirty="0">
                            <a:latin typeface="Cambria Math" panose="02040503050406030204" pitchFamily="18" charset="0"/>
                            <a:ea typeface="Calibri" panose="020F0502020204030204" pitchFamily="34" charset="0"/>
                            <a:cs typeface="Times New Roman" panose="02020603050405020304" pitchFamily="18" charset="0"/>
                          </a:rPr>
                          <m:t>𝑢𝑝𝑓𝑙𝑜𝑤</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𝑣𝑒𝑙𝑜𝑐𝑖𝑡𝑦</m:t>
                        </m:r>
                        <m:r>
                          <a:rPr lang="en-US" b="0" i="1" dirty="0" smtClean="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𝑚</m:t>
                        </m:r>
                        <m:r>
                          <a:rPr lang="en-GB" i="1" dirty="0">
                            <a:latin typeface="Cambria Math" panose="02040503050406030204" pitchFamily="18" charset="0"/>
                            <a:ea typeface="Calibri" panose="020F0502020204030204" pitchFamily="34" charset="0"/>
                            <a:cs typeface="Times New Roman" panose="02020603050405020304" pitchFamily="18" charset="0"/>
                          </a:rPr>
                          <m:t>/</m:t>
                        </m:r>
                        <m:r>
                          <a:rPr lang="en-GB" i="1" dirty="0">
                            <a:latin typeface="Cambria Math" panose="02040503050406030204" pitchFamily="18" charset="0"/>
                            <a:ea typeface="Calibri" panose="020F0502020204030204" pitchFamily="34" charset="0"/>
                            <a:cs typeface="Times New Roman" panose="02020603050405020304" pitchFamily="18" charset="0"/>
                          </a:rPr>
                          <m:t>h𝑟</m:t>
                        </m:r>
                        <m:r>
                          <a:rPr lang="en-US" b="0" i="1" dirty="0" smtClean="0">
                            <a:latin typeface="Cambria Math" panose="02040503050406030204" pitchFamily="18" charset="0"/>
                            <a:ea typeface="Calibri" panose="020F0502020204030204" pitchFamily="34" charset="0"/>
                            <a:cs typeface="Times New Roman" panose="02020603050405020304" pitchFamily="18" charset="0"/>
                          </a:rPr>
                          <m:t>(</m:t>
                        </m:r>
                        <m:r>
                          <a:rPr lang="en-GB" i="1" dirty="0">
                            <a:latin typeface="Cambria Math" panose="02040503050406030204" pitchFamily="18" charset="0"/>
                            <a:ea typeface="Calibri" panose="020F0502020204030204" pitchFamily="34" charset="0"/>
                            <a:cs typeface="Times New Roman" panose="02020603050405020304" pitchFamily="18" charset="0"/>
                          </a:rPr>
                          <m:t>24</m:t>
                        </m:r>
                        <m:r>
                          <a:rPr lang="en-US" b="0" i="1" dirty="0" smtClean="0">
                            <a:latin typeface="Cambria Math" panose="02040503050406030204" pitchFamily="18" charset="0"/>
                            <a:ea typeface="Calibri" panose="020F0502020204030204" pitchFamily="34" charset="0"/>
                            <a:cs typeface="Times New Roman" panose="02020603050405020304" pitchFamily="18" charset="0"/>
                          </a:rPr>
                          <m:t>)</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10000</m:t>
                        </m:r>
                      </m:num>
                      <m:den>
                        <m:r>
                          <a:rPr lang="en-GB" i="1" dirty="0">
                            <a:latin typeface="Cambria Math" panose="02040503050406030204" pitchFamily="18" charset="0"/>
                            <a:ea typeface="Calibri" panose="020F0502020204030204" pitchFamily="34" charset="0"/>
                            <a:cs typeface="Times New Roman" panose="02020603050405020304" pitchFamily="18" charset="0"/>
                          </a:rPr>
                          <m:t>0.5∗24</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=833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latin typeface="+mn-lt"/>
                    <a:ea typeface="Calibri" panose="020F0502020204030204" pitchFamily="34" charset="0"/>
                    <a:cs typeface="Times New Roman" panose="02020603050405020304" pitchFamily="18" charset="0"/>
                  </a:rPr>
                  <a:t>Provide r</a:t>
                </a:r>
                <a:r>
                  <a:rPr lang="en-GB" dirty="0">
                    <a:effectLst/>
                    <a:latin typeface="+mn-lt"/>
                    <a:ea typeface="Calibri" panose="020F0502020204030204" pitchFamily="34" charset="0"/>
                    <a:cs typeface="Times New Roman" panose="02020603050405020304" pitchFamily="18" charset="0"/>
                  </a:rPr>
                  <a:t>eactor </a:t>
                </a:r>
                <a:r>
                  <a:rPr lang="en-GB" dirty="0">
                    <a:latin typeface="+mn-lt"/>
                    <a:ea typeface="Calibri" panose="020F0502020204030204" pitchFamily="34" charset="0"/>
                    <a:cs typeface="Times New Roman" panose="02020603050405020304" pitchFamily="18" charset="0"/>
                  </a:rPr>
                  <a:t>of 35 m length, 24 </a:t>
                </a:r>
                <a:r>
                  <a:rPr lang="en-GB" dirty="0">
                    <a:effectLst/>
                    <a:latin typeface="+mn-lt"/>
                    <a:ea typeface="Calibri" panose="020F0502020204030204" pitchFamily="34" charset="0"/>
                    <a:cs typeface="Times New Roman" panose="02020603050405020304" pitchFamily="18" charset="0"/>
                  </a:rPr>
                  <a:t>m width and 5 m side water depth + 0.5 m freeboard. </a:t>
                </a:r>
                <a:endParaRPr lang="en-IN" dirty="0">
                  <a:effectLst/>
                  <a:latin typeface="+mn-lt"/>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5FD6BBE8-9F77-F847-43D5-95590520AF09}"/>
                  </a:ext>
                </a:extLst>
              </p:cNvPr>
              <p:cNvSpPr>
                <a:spLocks noGrp="1" noRot="1" noChangeAspect="1" noMove="1" noResize="1" noEditPoints="1" noAdjustHandles="1" noChangeArrowheads="1" noChangeShapeType="1" noTextEdit="1"/>
              </p:cNvSpPr>
              <p:nvPr>
                <p:ph idx="1"/>
              </p:nvPr>
            </p:nvSpPr>
            <p:spPr>
              <a:xfrm>
                <a:off x="710214" y="1853248"/>
                <a:ext cx="9694416" cy="4662962"/>
              </a:xfrm>
              <a:blipFill>
                <a:blip r:embed="rId2"/>
                <a:stretch>
                  <a:fillRect l="-692" t="-654" r="-1132" b="-2484"/>
                </a:stretch>
              </a:blipFill>
            </p:spPr>
            <p:txBody>
              <a:bodyPr/>
              <a:lstStyle/>
              <a:p>
                <a:r>
                  <a:rPr lang="en-IN">
                    <a:noFill/>
                  </a:rPr>
                  <a:t> </a:t>
                </a:r>
              </a:p>
            </p:txBody>
          </p:sp>
        </mc:Fallback>
      </mc:AlternateContent>
    </p:spTree>
    <p:extLst>
      <p:ext uri="{BB962C8B-B14F-4D97-AF65-F5344CB8AC3E}">
        <p14:creationId xmlns:p14="http://schemas.microsoft.com/office/powerpoint/2010/main" val="39713421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062BC-E115-7B4E-79DB-1D3C387434AE}"/>
              </a:ext>
            </a:extLst>
          </p:cNvPr>
          <p:cNvSpPr>
            <a:spLocks noGrp="1"/>
          </p:cNvSpPr>
          <p:nvPr>
            <p:ph type="title"/>
          </p:nvPr>
        </p:nvSpPr>
        <p:spPr/>
        <p:txBody>
          <a:bodyPr/>
          <a:lstStyle/>
          <a:p>
            <a:r>
              <a:rPr lang="en-US" dirty="0"/>
              <a:t>Design of UASB Reactor</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FC163D9-4A18-971E-061D-E073078C07F0}"/>
                  </a:ext>
                </a:extLst>
              </p:cNvPr>
              <p:cNvSpPr>
                <a:spLocks noGrp="1"/>
              </p:cNvSpPr>
              <p:nvPr>
                <p:ph idx="1"/>
              </p:nvPr>
            </p:nvSpPr>
            <p:spPr>
              <a:xfrm>
                <a:off x="646111" y="1853248"/>
                <a:ext cx="11338743" cy="4627451"/>
              </a:xfrm>
            </p:spPr>
            <p:txBody>
              <a:bodyPr>
                <a:noAutofit/>
              </a:bodyPr>
              <a:lstStyle/>
              <a:p>
                <a:pPr marL="0" indent="0">
                  <a:spcAft>
                    <a:spcPts val="1000"/>
                  </a:spcAft>
                  <a:buNone/>
                </a:pPr>
                <a:r>
                  <a:rPr lang="en-GB" dirty="0">
                    <a:effectLst/>
                    <a:latin typeface="+mn-lt"/>
                    <a:ea typeface="Calibri" panose="020F0502020204030204" pitchFamily="34" charset="0"/>
                    <a:cs typeface="Times New Roman" panose="02020603050405020304" pitchFamily="18" charset="0"/>
                  </a:rPr>
                  <a:t>Check for organic loading: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𝑉𝑜𝑙𝑢𝑚𝑒𝑡𝑟𝑖𝑐</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𝑜𝑟𝑔𝑎𝑛𝑖𝑐</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𝑙𝑜𝑎𝑑𝑖𝑛𝑔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d>
                          <m:d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dPr>
                          <m:e>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𝐶𝑂𝐷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𝑙𝑜𝑎𝑑</m:t>
                            </m:r>
                          </m:e>
                        </m:d>
                      </m:num>
                      <m:den>
                        <m:r>
                          <a:rPr lang="en-GB" i="1" dirty="0">
                            <a:latin typeface="Cambria Math" panose="02040503050406030204" pitchFamily="18" charset="0"/>
                            <a:ea typeface="Calibri" panose="020F0502020204030204" pitchFamily="34" charset="0"/>
                            <a:cs typeface="Times New Roman" panose="02020603050405020304" pitchFamily="18" charset="0"/>
                          </a:rPr>
                          <m:t>𝑣𝑜𝑙𝑢𝑚𝑒</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𝑜𝑓</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𝑟𝑒𝑎𝑐𝑡𝑜𝑟</m:t>
                        </m:r>
                      </m:den>
                    </m:f>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820∗10</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000</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∗1000</m:t>
                        </m:r>
                      </m:num>
                      <m:den>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1000000∗(</m:t>
                        </m:r>
                        <m:r>
                          <a:rPr lang="en-GB" i="1" dirty="0">
                            <a:latin typeface="Cambria Math" panose="02040503050406030204" pitchFamily="18" charset="0"/>
                            <a:ea typeface="Calibri" panose="020F0502020204030204" pitchFamily="34" charset="0"/>
                            <a:cs typeface="Times New Roman" panose="02020603050405020304" pitchFamily="18" charset="0"/>
                          </a:rPr>
                          <m:t>2</m:t>
                        </m:r>
                        <m:r>
                          <a:rPr lang="en-US" b="0" i="1" dirty="0" smtClean="0">
                            <a:latin typeface="Cambria Math" panose="02040503050406030204" pitchFamily="18" charset="0"/>
                            <a:ea typeface="Calibri" panose="020F0502020204030204" pitchFamily="34" charset="0"/>
                            <a:cs typeface="Times New Roman" panose="02020603050405020304" pitchFamily="18" charset="0"/>
                          </a:rPr>
                          <m:t>4</m:t>
                        </m:r>
                        <m:r>
                          <a:rPr lang="en-GB" i="1" dirty="0">
                            <a:latin typeface="Cambria Math" panose="02040503050406030204" pitchFamily="18" charset="0"/>
                            <a:ea typeface="Calibri" panose="020F0502020204030204" pitchFamily="34" charset="0"/>
                            <a:cs typeface="Times New Roman" panose="02020603050405020304" pitchFamily="18" charset="0"/>
                          </a:rPr>
                          <m:t>∗3</m:t>
                        </m:r>
                        <m:r>
                          <a:rPr lang="en-US" b="0" i="1" dirty="0" smtClean="0">
                            <a:latin typeface="Cambria Math" panose="02040503050406030204" pitchFamily="18" charset="0"/>
                            <a:ea typeface="Calibri" panose="020F0502020204030204" pitchFamily="34" charset="0"/>
                            <a:cs typeface="Times New Roman" panose="02020603050405020304" pitchFamily="18" charset="0"/>
                          </a:rPr>
                          <m:t>5</m:t>
                        </m:r>
                        <m:r>
                          <a:rPr lang="en-GB" i="1" dirty="0">
                            <a:latin typeface="Cambria Math" panose="02040503050406030204" pitchFamily="18" charset="0"/>
                            <a:ea typeface="Calibri" panose="020F0502020204030204" pitchFamily="34" charset="0"/>
                            <a:cs typeface="Times New Roman" panose="02020603050405020304" pitchFamily="18" charset="0"/>
                          </a:rPr>
                          <m:t>∗5</m:t>
                        </m:r>
                        <m:r>
                          <a:rPr lang="en-US" b="0" i="1" dirty="0" smtClean="0">
                            <a:latin typeface="Cambria Math" panose="02040503050406030204" pitchFamily="18" charset="0"/>
                            <a:ea typeface="Calibri" panose="020F0502020204030204" pitchFamily="34" charset="0"/>
                            <a:cs typeface="Times New Roman" panose="02020603050405020304" pitchFamily="18" charset="0"/>
                          </a:rPr>
                          <m:t>)</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1.9</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5</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𝐶𝑂𝐷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𝑑𝑎𝑦</m:t>
                    </m:r>
                  </m:oMath>
                </a14:m>
                <a:r>
                  <a:rPr lang="en-GB" dirty="0">
                    <a:effectLst/>
                    <a:latin typeface="+mn-lt"/>
                    <a:ea typeface="Calibri" panose="020F0502020204030204" pitchFamily="34" charset="0"/>
                    <a:cs typeface="Times New Roman" panose="02020603050405020304" pitchFamily="18" charset="0"/>
                  </a:rPr>
                  <a:t> </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Organic loading on sludge blanket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820∗10000</m:t>
                        </m:r>
                      </m:num>
                      <m:den>
                        <m:r>
                          <a:rPr lang="en-GB" i="1" dirty="0">
                            <a:latin typeface="Cambria Math" panose="02040503050406030204" pitchFamily="18" charset="0"/>
                            <a:ea typeface="Calibri" panose="020F0502020204030204" pitchFamily="34" charset="0"/>
                            <a:cs typeface="Times New Roman" panose="02020603050405020304" pitchFamily="18" charset="0"/>
                          </a:rPr>
                          <m:t>1000∗0.4(</m:t>
                        </m:r>
                        <m:f>
                          <m:fPr>
                            <m:ctrlPr>
                              <a:rPr lang="en-GB" i="1" dirty="0">
                                <a:latin typeface="Cambria Math" panose="02040503050406030204" pitchFamily="18" charset="0"/>
                                <a:ea typeface="Calibri" panose="020F0502020204030204" pitchFamily="34" charset="0"/>
                                <a:cs typeface="Times New Roman" panose="02020603050405020304" pitchFamily="18" charset="0"/>
                              </a:rPr>
                            </m:ctrlPr>
                          </m:fPr>
                          <m:num>
                            <m:r>
                              <a:rPr lang="en-GB" i="1" dirty="0">
                                <a:latin typeface="Cambria Math" panose="02040503050406030204" pitchFamily="18" charset="0"/>
                                <a:ea typeface="Calibri" panose="020F0502020204030204" pitchFamily="34" charset="0"/>
                                <a:cs typeface="Times New Roman" panose="02020603050405020304" pitchFamily="18" charset="0"/>
                              </a:rPr>
                              <m:t>𝑉𝑆𝑆</m:t>
                            </m:r>
                          </m:num>
                          <m:den>
                            <m:r>
                              <a:rPr lang="en-GB" i="1" dirty="0">
                                <a:latin typeface="Cambria Math" panose="02040503050406030204" pitchFamily="18" charset="0"/>
                                <a:ea typeface="Calibri" panose="020F0502020204030204" pitchFamily="34" charset="0"/>
                                <a:cs typeface="Times New Roman" panose="02020603050405020304" pitchFamily="18" charset="0"/>
                              </a:rPr>
                              <m:t>𝑇𝑆𝑆</m:t>
                            </m:r>
                          </m:den>
                        </m:f>
                        <m:r>
                          <a:rPr lang="en-GB" i="1" dirty="0">
                            <a:latin typeface="Cambria Math" panose="02040503050406030204" pitchFamily="18" charset="0"/>
                            <a:ea typeface="Calibri" panose="020F0502020204030204" pitchFamily="34" charset="0"/>
                            <a:cs typeface="Times New Roman" panose="02020603050405020304" pitchFamily="18" charset="0"/>
                          </a:rPr>
                          <m:t>)70 </m:t>
                        </m:r>
                        <m:r>
                          <a:rPr lang="en-GB" i="1" dirty="0">
                            <a:latin typeface="Cambria Math" panose="02040503050406030204" pitchFamily="18" charset="0"/>
                            <a:ea typeface="Calibri" panose="020F0502020204030204" pitchFamily="34" charset="0"/>
                            <a:cs typeface="Times New Roman" panose="02020603050405020304" pitchFamily="18" charset="0"/>
                          </a:rPr>
                          <m:t>𝑘𝑔</m:t>
                        </m:r>
                        <m:r>
                          <a:rPr lang="en-GB" i="1" dirty="0">
                            <a:latin typeface="Cambria Math" panose="02040503050406030204" pitchFamily="18" charset="0"/>
                            <a:ea typeface="Calibri" panose="020F0502020204030204" pitchFamily="34" charset="0"/>
                            <a:cs typeface="Times New Roman" panose="02020603050405020304" pitchFamily="18" charset="0"/>
                          </a:rPr>
                          <m:t>/</m:t>
                        </m:r>
                        <m:r>
                          <a:rPr lang="en-GB" i="1" dirty="0">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a:latin typeface="Cambria Math" panose="02040503050406030204" pitchFamily="18" charset="0"/>
                            <a:ea typeface="Calibri" panose="020F0502020204030204" pitchFamily="34" charset="0"/>
                            <a:cs typeface="Times New Roman" panose="02020603050405020304" pitchFamily="18" charset="0"/>
                          </a:rPr>
                          <m:t>3</m:t>
                        </m:r>
                        <m:r>
                          <a:rPr lang="en-GB" i="1" dirty="0">
                            <a:latin typeface="Cambria Math" panose="02040503050406030204" pitchFamily="18" charset="0"/>
                            <a:ea typeface="Calibri" panose="020F0502020204030204" pitchFamily="34" charset="0"/>
                            <a:cs typeface="Times New Roman" panose="02020603050405020304" pitchFamily="18" charset="0"/>
                          </a:rPr>
                          <m:t>∗2</m:t>
                        </m:r>
                        <m:r>
                          <a:rPr lang="en-US" b="0" i="1" dirty="0" smtClean="0">
                            <a:latin typeface="Cambria Math" panose="02040503050406030204" pitchFamily="18" charset="0"/>
                            <a:ea typeface="Calibri" panose="020F0502020204030204" pitchFamily="34" charset="0"/>
                            <a:cs typeface="Times New Roman" panose="02020603050405020304" pitchFamily="18" charset="0"/>
                          </a:rPr>
                          <m:t>4</m:t>
                        </m:r>
                        <m:r>
                          <a:rPr lang="en-GB" i="1" dirty="0">
                            <a:latin typeface="Cambria Math" panose="02040503050406030204" pitchFamily="18" charset="0"/>
                            <a:ea typeface="Calibri" panose="020F0502020204030204" pitchFamily="34" charset="0"/>
                            <a:cs typeface="Times New Roman" panose="02020603050405020304" pitchFamily="18" charset="0"/>
                          </a:rPr>
                          <m:t>∗3</m:t>
                        </m:r>
                        <m:r>
                          <a:rPr lang="en-US" b="0" i="1" dirty="0" smtClean="0">
                            <a:latin typeface="Cambria Math" panose="02040503050406030204" pitchFamily="18" charset="0"/>
                            <a:ea typeface="Calibri" panose="020F0502020204030204" pitchFamily="34" charset="0"/>
                            <a:cs typeface="Times New Roman" panose="02020603050405020304" pitchFamily="18" charset="0"/>
                          </a:rPr>
                          <m:t>5</m:t>
                        </m:r>
                        <m:r>
                          <a:rPr lang="en-GB" i="1" dirty="0">
                            <a:latin typeface="Cambria Math" panose="02040503050406030204" pitchFamily="18" charset="0"/>
                            <a:ea typeface="Calibri" panose="020F0502020204030204" pitchFamily="34" charset="0"/>
                            <a:cs typeface="Times New Roman" panose="02020603050405020304" pitchFamily="18" charset="0"/>
                          </a:rPr>
                          <m:t>∗2.2</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15</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8</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𝐶𝑂𝐷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𝑉𝑆𝑆</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𝑑𝑎𝑦</m:t>
                    </m:r>
                  </m:oMath>
                </a14:m>
                <a:r>
                  <a:rPr lang="en-GB" dirty="0">
                    <a:effectLst/>
                    <a:latin typeface="+mn-lt"/>
                    <a:ea typeface="Calibri" panose="020F0502020204030204" pitchFamily="34" charset="0"/>
                    <a:cs typeface="Times New Roman" panose="02020603050405020304" pitchFamily="18" charset="0"/>
                  </a:rPr>
                  <a:t> </a:t>
                </a:r>
                <a:endParaRPr lang="en-IN" dirty="0">
                  <a:effectLst/>
                  <a:latin typeface="+mn-lt"/>
                  <a:ea typeface="Calibri" panose="020F0502020204030204" pitchFamily="34" charset="0"/>
                  <a:cs typeface="Times New Roman" panose="02020603050405020304" pitchFamily="18" charset="0"/>
                </a:endParaRPr>
              </a:p>
              <a:p>
                <a:pPr>
                  <a:spcAft>
                    <a:spcPts val="1000"/>
                  </a:spcAft>
                </a:pPr>
                <a:r>
                  <a:rPr lang="en-GB" u="sng" dirty="0">
                    <a:effectLst/>
                    <a:latin typeface="+mn-lt"/>
                    <a:ea typeface="Calibri" panose="020F0502020204030204" pitchFamily="34" charset="0"/>
                    <a:cs typeface="Times New Roman" panose="02020603050405020304" pitchFamily="18" charset="0"/>
                  </a:rPr>
                  <a:t>COD Removed and Methane Produced</a:t>
                </a:r>
                <a:r>
                  <a:rPr lang="en-GB" dirty="0">
                    <a:effectLst/>
                    <a:latin typeface="+mn-lt"/>
                    <a:ea typeface="Calibri" panose="020F0502020204030204" pitchFamily="34" charset="0"/>
                    <a:cs typeface="Times New Roman" panose="02020603050405020304" pitchFamily="18" charset="0"/>
                  </a:rPr>
                  <a:t>:</a:t>
                </a:r>
                <a:r>
                  <a:rPr lang="en-GB" u="sng" dirty="0">
                    <a:effectLst/>
                    <a:latin typeface="+mn-lt"/>
                    <a:ea typeface="Calibri" panose="020F0502020204030204" pitchFamily="34" charset="0"/>
                    <a:cs typeface="Times New Roman" panose="02020603050405020304" pitchFamily="18" charset="0"/>
                  </a:rPr>
                  <a:t> </a:t>
                </a:r>
                <a:endParaRPr lang="en-IN" u="sng" dirty="0">
                  <a:effectLst/>
                  <a:latin typeface="+mn-lt"/>
                  <a:ea typeface="Calibri" panose="020F0502020204030204" pitchFamily="34" charset="0"/>
                  <a:cs typeface="Times New Roman" panose="02020603050405020304" pitchFamily="18" charset="0"/>
                </a:endParaRPr>
              </a:p>
              <a:p>
                <a:pPr marL="514350" indent="-514350">
                  <a:spcAft>
                    <a:spcPts val="1000"/>
                  </a:spcAft>
                  <a:buFont typeface="+mj-lt"/>
                  <a:buAutoNum type="romanLcPeriod"/>
                </a:pPr>
                <a:r>
                  <a:rPr lang="en-GB" dirty="0">
                    <a:latin typeface="+mn-lt"/>
                    <a:ea typeface="Calibri" panose="020F0502020204030204" pitchFamily="34" charset="0"/>
                    <a:cs typeface="Times New Roman" panose="02020603050405020304" pitchFamily="18" charset="0"/>
                  </a:rPr>
                  <a:t>T</a:t>
                </a:r>
                <a:r>
                  <a:rPr lang="en-GB" dirty="0">
                    <a:effectLst/>
                    <a:latin typeface="+mn-lt"/>
                    <a:ea typeface="Calibri" panose="020F0502020204030204" pitchFamily="34" charset="0"/>
                    <a:cs typeface="Times New Roman" panose="02020603050405020304" pitchFamily="18" charset="0"/>
                  </a:rPr>
                  <a:t>otal COD removed = 80% of incoming load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=0.8∗(</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820</m:t>
                        </m:r>
                      </m:num>
                      <m:den>
                        <m:r>
                          <a:rPr lang="en-GB" i="1" dirty="0">
                            <a:latin typeface="Cambria Math" panose="02040503050406030204" pitchFamily="18" charset="0"/>
                            <a:ea typeface="Calibri" panose="020F0502020204030204" pitchFamily="34" charset="0"/>
                            <a:cs typeface="Times New Roman" panose="02020603050405020304" pitchFamily="18" charset="0"/>
                          </a:rPr>
                          <m:t>1000</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)∗10000=6560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𝑑𝑎𝑦</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514350" indent="-514350">
                  <a:spcAft>
                    <a:spcPts val="1000"/>
                  </a:spcAft>
                  <a:buFont typeface="+mj-lt"/>
                  <a:buAutoNum type="romanLcPeriod"/>
                </a:pPr>
                <a:r>
                  <a:rPr lang="en-GB" dirty="0">
                    <a:effectLst/>
                    <a:latin typeface="+mn-lt"/>
                    <a:ea typeface="Calibri" panose="020F0502020204030204" pitchFamily="34" charset="0"/>
                    <a:cs typeface="Times New Roman" panose="02020603050405020304" pitchFamily="18" charset="0"/>
                  </a:rPr>
                  <a:t> COD consumed in sulphate reduction:</a:t>
                </a:r>
                <a:endParaRPr lang="en-IN" dirty="0">
                  <a:effectLst/>
                  <a:latin typeface="+mn-lt"/>
                  <a:ea typeface="Calibri" panose="020F0502020204030204" pitchFamily="34" charset="0"/>
                  <a:cs typeface="Times New Roman" panose="02020603050405020304" pitchFamily="18" charset="0"/>
                </a:endParaRPr>
              </a:p>
              <a:p>
                <a:pPr marL="0" indent="0">
                  <a:buNone/>
                </a:pPr>
                <a:r>
                  <a:rPr lang="en-GB" dirty="0">
                    <a:effectLst/>
                    <a:latin typeface="+mn-lt"/>
                    <a:ea typeface="Calibri" panose="020F0502020204030204" pitchFamily="34" charset="0"/>
                    <a:cs typeface="Times New Roman" panose="02020603050405020304" pitchFamily="18" charset="0"/>
                  </a:rPr>
                  <a:t>         Sulphate incoming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latin typeface="+mn-lt"/>
                </a:endParaRPr>
              </a:p>
            </p:txBody>
          </p:sp>
        </mc:Choice>
        <mc:Fallback>
          <p:sp>
            <p:nvSpPr>
              <p:cNvPr id="3" name="Content Placeholder 2">
                <a:extLst>
                  <a:ext uri="{FF2B5EF4-FFF2-40B4-BE49-F238E27FC236}">
                    <a16:creationId xmlns:a16="http://schemas.microsoft.com/office/drawing/2014/main" id="{AFC163D9-4A18-971E-061D-E073078C07F0}"/>
                  </a:ext>
                </a:extLst>
              </p:cNvPr>
              <p:cNvSpPr>
                <a:spLocks noGrp="1" noRot="1" noChangeAspect="1" noMove="1" noResize="1" noEditPoints="1" noAdjustHandles="1" noChangeArrowheads="1" noChangeShapeType="1" noTextEdit="1"/>
              </p:cNvSpPr>
              <p:nvPr>
                <p:ph idx="1"/>
              </p:nvPr>
            </p:nvSpPr>
            <p:spPr>
              <a:xfrm>
                <a:off x="646111" y="1853248"/>
                <a:ext cx="11338743" cy="4627451"/>
              </a:xfrm>
              <a:blipFill>
                <a:blip r:embed="rId2"/>
                <a:stretch>
                  <a:fillRect l="-591"/>
                </a:stretch>
              </a:blipFill>
            </p:spPr>
            <p:txBody>
              <a:bodyPr/>
              <a:lstStyle/>
              <a:p>
                <a:r>
                  <a:rPr lang="en-IN">
                    <a:noFill/>
                  </a:rPr>
                  <a:t> </a:t>
                </a:r>
              </a:p>
            </p:txBody>
          </p:sp>
        </mc:Fallback>
      </mc:AlternateContent>
    </p:spTree>
    <p:extLst>
      <p:ext uri="{BB962C8B-B14F-4D97-AF65-F5344CB8AC3E}">
        <p14:creationId xmlns:p14="http://schemas.microsoft.com/office/powerpoint/2010/main" val="6654915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C2402-7F42-A574-4D91-E7449A7E3801}"/>
              </a:ext>
            </a:extLst>
          </p:cNvPr>
          <p:cNvSpPr>
            <a:spLocks noGrp="1"/>
          </p:cNvSpPr>
          <p:nvPr>
            <p:ph type="title"/>
          </p:nvPr>
        </p:nvSpPr>
        <p:spPr/>
        <p:txBody>
          <a:bodyPr/>
          <a:lstStyle/>
          <a:p>
            <a:r>
              <a:rPr lang="en-US" dirty="0"/>
              <a:t>Design of UASB Reactor</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0552CF6-EE91-7B05-2A0B-47ED72F9056E}"/>
                  </a:ext>
                </a:extLst>
              </p:cNvPr>
              <p:cNvSpPr>
                <a:spLocks noGrp="1"/>
              </p:cNvSpPr>
              <p:nvPr>
                <p:ph idx="1"/>
              </p:nvPr>
            </p:nvSpPr>
            <p:spPr>
              <a:xfrm>
                <a:off x="646110" y="1853248"/>
                <a:ext cx="10459855" cy="4552034"/>
              </a:xfrm>
            </p:spPr>
            <p:txBody>
              <a:bodyPr>
                <a:noAutofit/>
              </a:bodyPr>
              <a:lstStyle/>
              <a:p>
                <a:pPr marL="0" indent="0">
                  <a:lnSpc>
                    <a:spcPct val="120000"/>
                  </a:lnSpc>
                  <a:spcAft>
                    <a:spcPts val="1000"/>
                  </a:spcAft>
                  <a:buNone/>
                </a:pPr>
                <a:r>
                  <a:rPr lang="en-GB" dirty="0">
                    <a:effectLst/>
                    <a:latin typeface="+mn-lt"/>
                    <a:ea typeface="Calibri" panose="020F0502020204030204" pitchFamily="34" charset="0"/>
                    <a:cs typeface="Times New Roman" panose="02020603050405020304" pitchFamily="18" charset="0"/>
                  </a:rPr>
                  <a:t>Assuming sulphate removal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=80%=0.8∗105=84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84 </m:t>
                        </m:r>
                      </m:num>
                      <m:den>
                        <m:r>
                          <a:rPr lang="en-GB" i="1" dirty="0">
                            <a:latin typeface="Cambria Math" panose="02040503050406030204" pitchFamily="18" charset="0"/>
                            <a:ea typeface="Calibri" panose="020F0502020204030204" pitchFamily="34" charset="0"/>
                            <a:cs typeface="Times New Roman" panose="02020603050405020304" pitchFamily="18" charset="0"/>
                          </a:rPr>
                          <m:t>1000</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∗10000=840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𝑑𝑎𝑦</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20000"/>
                  </a:lnSpc>
                  <a:spcAft>
                    <a:spcPts val="1000"/>
                  </a:spcAft>
                  <a:buNone/>
                </a:pPr>
                <a:r>
                  <a:rPr lang="en-GB" dirty="0">
                    <a:effectLst/>
                    <a:latin typeface="+mn-lt"/>
                    <a:ea typeface="Calibri" panose="020F0502020204030204" pitchFamily="34" charset="0"/>
                    <a:cs typeface="Times New Roman" panose="02020603050405020304" pitchFamily="18" charset="0"/>
                  </a:rPr>
                  <a:t>Corresponding COD consumed in sulphate reduction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=840∗0.67=562.8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514350" indent="-514350">
                  <a:lnSpc>
                    <a:spcPct val="120000"/>
                  </a:lnSpc>
                  <a:spcAft>
                    <a:spcPts val="1000"/>
                  </a:spcAft>
                  <a:buFont typeface="+mj-lt"/>
                  <a:buAutoNum type="romanLcPeriod" startAt="3"/>
                </a:pPr>
                <a:r>
                  <a:rPr lang="en-GB" dirty="0">
                    <a:effectLst/>
                    <a:latin typeface="+mn-lt"/>
                    <a:ea typeface="Calibri" panose="020F0502020204030204" pitchFamily="34" charset="0"/>
                    <a:cs typeface="Times New Roman" panose="02020603050405020304" pitchFamily="18" charset="0"/>
                  </a:rPr>
                  <a:t>COD available for methane production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=6560−562.8=5997.2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20000"/>
                  </a:lnSpc>
                  <a:spcAft>
                    <a:spcPts val="1000"/>
                  </a:spcAft>
                  <a:buNone/>
                </a:pPr>
                <a:r>
                  <a:rPr lang="en-GB" dirty="0">
                    <a:effectLst/>
                    <a:latin typeface="+mn-lt"/>
                    <a:ea typeface="Calibri" panose="020F0502020204030204" pitchFamily="34" charset="0"/>
                    <a:cs typeface="Times New Roman" panose="02020603050405020304" pitchFamily="18" charset="0"/>
                  </a:rPr>
                  <a:t>         Methane produced at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27</m:t>
                    </m:r>
                    <m:r>
                      <a:rPr lang="en-GB" i="1" dirty="0" smtClean="0">
                        <a:effectLst/>
                        <a:latin typeface="Cambria Math" panose="02040503050406030204" pitchFamily="18" charset="0"/>
                        <a:ea typeface="Cambria Math" panose="02040503050406030204" pitchFamily="18"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=350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𝐶𝑂𝐷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𝑟𝑒𝑚𝑜𝑣𝑒𝑑</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20000"/>
                  </a:lnSpc>
                  <a:spcAft>
                    <a:spcPts val="1000"/>
                  </a:spcAft>
                  <a:buNone/>
                </a:pPr>
                <a:r>
                  <a:rPr lang="en-GB" dirty="0">
                    <a:effectLst/>
                    <a:latin typeface="+mn-lt"/>
                    <a:ea typeface="Calibri" panose="020F0502020204030204" pitchFamily="34" charset="0"/>
                    <a:cs typeface="Times New Roman" panose="02020603050405020304" pitchFamily="18" charset="0"/>
                  </a:rPr>
                  <a:t>         Total methane produced/day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=5997.2∗0.350</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b="0" i="1" dirty="0" smtClean="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i="1" dirty="0">
                            <a:latin typeface="Cambria Math" panose="02040503050406030204" pitchFamily="18" charset="0"/>
                            <a:ea typeface="Calibri" panose="020F0502020204030204" pitchFamily="34" charset="0"/>
                            <a:cs typeface="Times New Roman" panose="02020603050405020304" pitchFamily="18" charset="0"/>
                          </a:rPr>
                          <m:t>(273.15+27)</m:t>
                        </m:r>
                      </m:num>
                      <m:den>
                        <m:r>
                          <a:rPr lang="en-US" i="1" dirty="0">
                            <a:latin typeface="Cambria Math" panose="02040503050406030204" pitchFamily="18" charset="0"/>
                            <a:ea typeface="Cambria Math" panose="02040503050406030204" pitchFamily="18" charset="0"/>
                            <a:cs typeface="Times New Roman" panose="02020603050405020304" pitchFamily="18" charset="0"/>
                          </a:rPr>
                          <m:t>273.15</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306.5</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m:t>
                    </m:r>
                  </m:oMath>
                </a14:m>
                <a:endParaRPr lang="en-IN" dirty="0">
                  <a:latin typeface="+mn-lt"/>
                  <a:ea typeface="Calibri" panose="020F0502020204030204" pitchFamily="34" charset="0"/>
                  <a:cs typeface="Times New Roman" panose="02020603050405020304" pitchFamily="18" charset="0"/>
                </a:endParaRPr>
              </a:p>
              <a:p>
                <a:pPr marL="514350" indent="-514350">
                  <a:lnSpc>
                    <a:spcPct val="120000"/>
                  </a:lnSpc>
                  <a:spcAft>
                    <a:spcPts val="1000"/>
                  </a:spcAft>
                  <a:buFont typeface="+mj-lt"/>
                  <a:buAutoNum type="romanLcPeriod" startAt="4"/>
                </a:pPr>
                <a:r>
                  <a:rPr lang="en-GB" dirty="0">
                    <a:latin typeface="+mn-lt"/>
                    <a:ea typeface="Calibri" panose="020F0502020204030204" pitchFamily="34" charset="0"/>
                    <a:cs typeface="Times New Roman" panose="02020603050405020304" pitchFamily="18" charset="0"/>
                  </a:rPr>
                  <a:t>M</a:t>
                </a:r>
                <a:r>
                  <a:rPr lang="en-GB" dirty="0">
                    <a:effectLst/>
                    <a:latin typeface="+mn-lt"/>
                    <a:ea typeface="Calibri" panose="020F0502020204030204" pitchFamily="34" charset="0"/>
                    <a:cs typeface="Times New Roman" panose="02020603050405020304" pitchFamily="18" charset="0"/>
                  </a:rPr>
                  <a:t>ethane leaving as dissolved in effluent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=0.028∗10000=280</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𝑑𝑎𝑦</m:t>
                    </m:r>
                  </m:oMath>
                </a14:m>
                <a:r>
                  <a:rPr lang="en-GB" dirty="0">
                    <a:effectLst/>
                    <a:latin typeface="+mn-lt"/>
                    <a:ea typeface="Calibri" panose="020F0502020204030204" pitchFamily="34" charset="0"/>
                    <a:cs typeface="Times New Roman" panose="02020603050405020304" pitchFamily="18" charset="0"/>
                  </a:rPr>
                  <a:t> </a:t>
                </a:r>
                <a:endParaRPr lang="en-IN" dirty="0">
                  <a:effectLst/>
                  <a:latin typeface="+mn-lt"/>
                  <a:ea typeface="Calibri" panose="020F0502020204030204" pitchFamily="34" charset="0"/>
                  <a:cs typeface="Times New Roman" panose="02020603050405020304" pitchFamily="18" charset="0"/>
                </a:endParaRPr>
              </a:p>
              <a:p>
                <a:pPr marL="514350" indent="-514350">
                  <a:lnSpc>
                    <a:spcPct val="120000"/>
                  </a:lnSpc>
                  <a:spcAft>
                    <a:spcPts val="1000"/>
                  </a:spcAft>
                  <a:buFont typeface="+mj-lt"/>
                  <a:buAutoNum type="romanLcPeriod" startAt="4"/>
                </a:pPr>
                <a:r>
                  <a:rPr lang="en-GB" dirty="0">
                    <a:latin typeface="+mn-lt"/>
                    <a:ea typeface="Calibri" panose="020F0502020204030204" pitchFamily="34" charset="0"/>
                    <a:cs typeface="Times New Roman" panose="02020603050405020304" pitchFamily="18" charset="0"/>
                  </a:rPr>
                  <a:t>U</a:t>
                </a:r>
                <a:r>
                  <a:rPr lang="en-GB" dirty="0">
                    <a:effectLst/>
                    <a:latin typeface="+mn-lt"/>
                    <a:ea typeface="Calibri" panose="020F0502020204030204" pitchFamily="34" charset="0"/>
                    <a:cs typeface="Times New Roman" panose="02020603050405020304" pitchFamily="18" charset="0"/>
                  </a:rPr>
                  <a:t>sable methane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306</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5</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−280=</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2026.5</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2026.5</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𝑑</m:t>
                        </m:r>
                      </m:num>
                      <m:den>
                        <m:r>
                          <a:rPr lang="en-GB" i="1" dirty="0">
                            <a:latin typeface="Cambria Math" panose="02040503050406030204" pitchFamily="18" charset="0"/>
                            <a:ea typeface="Calibri" panose="020F0502020204030204" pitchFamily="34" charset="0"/>
                            <a:cs typeface="Times New Roman" panose="02020603050405020304" pitchFamily="18" charset="0"/>
                          </a:rPr>
                          <m:t>6560 </m:t>
                        </m:r>
                        <m:r>
                          <a:rPr lang="en-GB" i="1" dirty="0">
                            <a:latin typeface="Cambria Math" panose="02040503050406030204" pitchFamily="18" charset="0"/>
                            <a:ea typeface="Calibri" panose="020F0502020204030204" pitchFamily="34" charset="0"/>
                            <a:cs typeface="Times New Roman" panose="02020603050405020304" pitchFamily="18" charset="0"/>
                          </a:rPr>
                          <m:t>𝑘𝑔</m:t>
                        </m:r>
                        <m:r>
                          <a:rPr lang="en-GB" i="1" dirty="0">
                            <a:latin typeface="Cambria Math" panose="02040503050406030204" pitchFamily="18" charset="0"/>
                            <a:ea typeface="Calibri" panose="020F0502020204030204" pitchFamily="34" charset="0"/>
                            <a:cs typeface="Times New Roman" panose="02020603050405020304" pitchFamily="18" charset="0"/>
                          </a:rPr>
                          <m:t>/</m:t>
                        </m:r>
                        <m:r>
                          <a:rPr lang="en-GB" i="1" dirty="0">
                            <a:latin typeface="Cambria Math" panose="02040503050406030204" pitchFamily="18" charset="0"/>
                            <a:ea typeface="Calibri" panose="020F0502020204030204" pitchFamily="34" charset="0"/>
                            <a:cs typeface="Times New Roman" panose="02020603050405020304" pitchFamily="18" charset="0"/>
                          </a:rPr>
                          <m:t>𝑑</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309</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𝐶𝑂𝐷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90552CF6-EE91-7B05-2A0B-47ED72F9056E}"/>
                  </a:ext>
                </a:extLst>
              </p:cNvPr>
              <p:cNvSpPr>
                <a:spLocks noGrp="1" noRot="1" noChangeAspect="1" noMove="1" noResize="1" noEditPoints="1" noAdjustHandles="1" noChangeArrowheads="1" noChangeShapeType="1" noTextEdit="1"/>
              </p:cNvSpPr>
              <p:nvPr>
                <p:ph idx="1"/>
              </p:nvPr>
            </p:nvSpPr>
            <p:spPr>
              <a:xfrm>
                <a:off x="646110" y="1853248"/>
                <a:ext cx="10459855" cy="4552034"/>
              </a:xfrm>
              <a:blipFill>
                <a:blip r:embed="rId2"/>
                <a:stretch>
                  <a:fillRect l="-641" b="-3481"/>
                </a:stretch>
              </a:blipFill>
            </p:spPr>
            <p:txBody>
              <a:bodyPr/>
              <a:lstStyle/>
              <a:p>
                <a:r>
                  <a:rPr lang="en-IN">
                    <a:noFill/>
                  </a:rPr>
                  <a:t> </a:t>
                </a:r>
              </a:p>
            </p:txBody>
          </p:sp>
        </mc:Fallback>
      </mc:AlternateContent>
    </p:spTree>
    <p:extLst>
      <p:ext uri="{BB962C8B-B14F-4D97-AF65-F5344CB8AC3E}">
        <p14:creationId xmlns:p14="http://schemas.microsoft.com/office/powerpoint/2010/main" val="4094431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EFF82-4EC9-B2B5-84B4-865B46F38382}"/>
              </a:ext>
            </a:extLst>
          </p:cNvPr>
          <p:cNvSpPr>
            <a:spLocks noGrp="1"/>
          </p:cNvSpPr>
          <p:nvPr>
            <p:ph type="title"/>
          </p:nvPr>
        </p:nvSpPr>
        <p:spPr/>
        <p:txBody>
          <a:bodyPr/>
          <a:lstStyle/>
          <a:p>
            <a:r>
              <a:rPr lang="en-US" dirty="0"/>
              <a:t>Design of UASB Reactor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419EA2-83E9-C932-DCCB-AA91969B0A95}"/>
                  </a:ext>
                </a:extLst>
              </p:cNvPr>
              <p:cNvSpPr>
                <a:spLocks noGrp="1"/>
              </p:cNvSpPr>
              <p:nvPr>
                <p:ph idx="1"/>
              </p:nvPr>
            </p:nvSpPr>
            <p:spPr>
              <a:xfrm>
                <a:off x="719091" y="1571348"/>
                <a:ext cx="10653203" cy="5122415"/>
              </a:xfrm>
            </p:spPr>
            <p:txBody>
              <a:bodyPr>
                <a:normAutofit/>
              </a:bodyPr>
              <a:lstStyle/>
              <a:p>
                <a:r>
                  <a:rPr lang="en-US" u="sng" dirty="0"/>
                  <a:t>Sulphates - Sulphides</a:t>
                </a:r>
                <a:r>
                  <a:rPr lang="en-US" dirty="0"/>
                  <a:t>:</a:t>
                </a:r>
              </a:p>
              <a:p>
                <a:pPr marL="0" indent="0">
                  <a:buNone/>
                </a:pPr>
                <a:r>
                  <a:rPr lang="en-US" dirty="0"/>
                  <a:t>Sulphates contained in influent will be reduced to sulphides. Assuming 85% removal of sulphates and their reduction to sulphides,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baseline="30000" smtClean="0">
                          <a:latin typeface="Cambria Math" panose="02040503050406030204" pitchFamily="18" charset="0"/>
                        </a:rPr>
                        <m:t>2− </m:t>
                      </m:r>
                      <m:r>
                        <a:rPr lang="en-US" b="0" i="1" smtClean="0">
                          <a:latin typeface="Cambria Math" panose="02040503050406030204" pitchFamily="18" charset="0"/>
                        </a:rPr>
                        <m:t>=0.85∗</m:t>
                      </m:r>
                      <m:f>
                        <m:fPr>
                          <m:ctrlPr>
                            <a:rPr lang="en-US" b="0" i="1" smtClean="0">
                              <a:latin typeface="Cambria Math" panose="02040503050406030204" pitchFamily="18" charset="0"/>
                            </a:rPr>
                          </m:ctrlPr>
                        </m:fPr>
                        <m:num>
                          <m:r>
                            <a:rPr lang="en-US" b="0" i="1" smtClean="0">
                              <a:latin typeface="Cambria Math" panose="02040503050406030204" pitchFamily="18" charset="0"/>
                            </a:rPr>
                            <m:t>105</m:t>
                          </m:r>
                        </m:num>
                        <m:den>
                          <m:r>
                            <a:rPr lang="en-US" b="0" i="1" smtClean="0">
                              <a:latin typeface="Cambria Math" panose="02040503050406030204" pitchFamily="18" charset="0"/>
                            </a:rPr>
                            <m:t>3</m:t>
                          </m:r>
                        </m:den>
                      </m:f>
                      <m:r>
                        <a:rPr lang="en-US" b="0" i="1" smtClean="0">
                          <a:latin typeface="Cambria Math" panose="02040503050406030204" pitchFamily="18" charset="0"/>
                        </a:rPr>
                        <m:t>=29.75 </m:t>
                      </m:r>
                      <m:r>
                        <a:rPr lang="en-US" b="0" i="1" smtClean="0">
                          <a:latin typeface="Cambria Math" panose="02040503050406030204" pitchFamily="18" charset="0"/>
                        </a:rPr>
                        <m:t>𝑚𝑔</m:t>
                      </m:r>
                      <m:r>
                        <a:rPr lang="en-US" b="0" i="1" smtClean="0">
                          <a:latin typeface="Cambria Math" panose="02040503050406030204" pitchFamily="18" charset="0"/>
                        </a:rPr>
                        <m:t>/</m:t>
                      </m:r>
                      <m:r>
                        <a:rPr lang="en-US" b="0" i="1" smtClean="0">
                          <a:latin typeface="Cambria Math" panose="02040503050406030204" pitchFamily="18" charset="0"/>
                        </a:rPr>
                        <m:t>𝑙</m:t>
                      </m:r>
                    </m:oMath>
                  </m:oMathPara>
                </a14:m>
                <a:endParaRPr lang="en-US" dirty="0"/>
              </a:p>
              <a:p>
                <a:pPr marL="0" indent="0" algn="ctr">
                  <a:buNone/>
                </a:pPr>
                <a14:m>
                  <m:oMath xmlns:m="http://schemas.openxmlformats.org/officeDocument/2006/math">
                    <m:f>
                      <m:fPr>
                        <m:ctrlPr>
                          <a:rPr lang="en-IN" i="1" dirty="0" smtClean="0">
                            <a:latin typeface="Cambria Math" panose="02040503050406030204" pitchFamily="18" charset="0"/>
                          </a:rPr>
                        </m:ctrlPr>
                      </m:fPr>
                      <m:num>
                        <m:r>
                          <a:rPr lang="en-IN" i="1" dirty="0" smtClean="0">
                            <a:latin typeface="Cambria Math" panose="02040503050406030204" pitchFamily="18" charset="0"/>
                          </a:rPr>
                          <m:t>𝐶𝑂𝐷</m:t>
                        </m:r>
                      </m:num>
                      <m:den>
                        <m:r>
                          <a:rPr lang="en-IN" i="1" dirty="0" smtClean="0">
                            <a:latin typeface="Cambria Math" panose="02040503050406030204" pitchFamily="18" charset="0"/>
                          </a:rPr>
                          <m:t>𝑆𝑂</m:t>
                        </m:r>
                        <m:r>
                          <a:rPr lang="en-IN" i="1" baseline="-25000" dirty="0" smtClean="0">
                            <a:latin typeface="Cambria Math" panose="02040503050406030204" pitchFamily="18" charset="0"/>
                          </a:rPr>
                          <m:t>4</m:t>
                        </m:r>
                      </m:den>
                    </m:f>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820</m:t>
                        </m:r>
                      </m:num>
                      <m:den>
                        <m:r>
                          <a:rPr lang="en-US" b="0" i="1" dirty="0" smtClean="0">
                            <a:latin typeface="Cambria Math" panose="02040503050406030204" pitchFamily="18" charset="0"/>
                          </a:rPr>
                          <m:t>105</m:t>
                        </m:r>
                      </m:den>
                    </m:f>
                    <m:r>
                      <a:rPr lang="en-US" b="0" i="1" dirty="0" smtClean="0">
                        <a:latin typeface="Cambria Math" panose="02040503050406030204" pitchFamily="18" charset="0"/>
                      </a:rPr>
                      <m:t>=7.8</m:t>
                    </m:r>
                  </m:oMath>
                </a14:m>
                <a:r>
                  <a:rPr lang="en-IN" sz="1600" dirty="0"/>
                  <a:t>(favourable)</a:t>
                </a:r>
              </a:p>
              <a:p>
                <a:pPr marL="0" indent="0">
                  <a:buNone/>
                </a:pPr>
                <a:r>
                  <a:rPr lang="en-IN" dirty="0"/>
                  <a:t>Any H</a:t>
                </a:r>
                <a:r>
                  <a:rPr lang="en-IN" baseline="-25000" dirty="0"/>
                  <a:t>2</a:t>
                </a:r>
                <a:r>
                  <a:rPr lang="en-IN" dirty="0"/>
                  <a:t>S gas present would be corrosive and would necessitate scrubbing of the gas with a NaOH solution prior to the supply of gas.</a:t>
                </a:r>
              </a:p>
              <a:p>
                <a:pPr marL="0" indent="0">
                  <a:buNone/>
                </a:pPr>
                <a:r>
                  <a:rPr lang="en-IN" dirty="0"/>
                  <a:t>Residual sulphides remaining in the UASB, and therefore leaving in the effluent will have to be treated by aeration during post treatment.</a:t>
                </a:r>
              </a:p>
              <a:p>
                <a:r>
                  <a:rPr lang="en-IN" u="sng" dirty="0"/>
                  <a:t>Gas Collector Design</a:t>
                </a:r>
                <a:r>
                  <a:rPr lang="en-IN" dirty="0"/>
                  <a:t>: </a:t>
                </a:r>
              </a:p>
              <a:p>
                <a:pPr marL="0" indent="0">
                  <a:buNone/>
                </a:pPr>
                <a:r>
                  <a:rPr lang="en-IN" dirty="0"/>
                  <a:t>Provide gas collector width (i.e. centre to centre distance between two deflector beams) of 4m. Hence number of gas collector </a:t>
                </a:r>
                <a14:m>
                  <m:oMath xmlns:m="http://schemas.openxmlformats.org/officeDocument/2006/math">
                    <m:r>
                      <a:rPr lang="en-IN"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IN" i="1" dirty="0" smtClean="0">
                            <a:latin typeface="Cambria Math" panose="02040503050406030204" pitchFamily="18" charset="0"/>
                          </a:rPr>
                          <m:t>2</m:t>
                        </m:r>
                        <m:r>
                          <a:rPr lang="en-US" b="0" i="1" dirty="0" smtClean="0">
                            <a:latin typeface="Cambria Math" panose="02040503050406030204" pitchFamily="18" charset="0"/>
                          </a:rPr>
                          <m:t>4</m:t>
                        </m:r>
                      </m:num>
                      <m:den>
                        <m:r>
                          <a:rPr lang="en-US" b="0" i="1" dirty="0" smtClean="0">
                            <a:latin typeface="Cambria Math" panose="02040503050406030204" pitchFamily="18" charset="0"/>
                          </a:rPr>
                          <m:t>4</m:t>
                        </m:r>
                      </m:den>
                    </m:f>
                    <m:r>
                      <a:rPr lang="en-US" b="0" i="1" dirty="0" smtClean="0">
                        <a:latin typeface="Cambria Math" panose="02040503050406030204" pitchFamily="18" charset="0"/>
                      </a:rPr>
                      <m:t>=6 </m:t>
                    </m:r>
                    <m:r>
                      <a:rPr lang="en-US" b="0" i="1" dirty="0" smtClean="0">
                        <a:latin typeface="Cambria Math" panose="02040503050406030204" pitchFamily="18" charset="0"/>
                      </a:rPr>
                      <m:t>𝑛𝑜</m:t>
                    </m:r>
                    <m:r>
                      <a:rPr lang="en-US" b="0" i="1" dirty="0" smtClean="0">
                        <a:latin typeface="Cambria Math" panose="02040503050406030204" pitchFamily="18" charset="0"/>
                      </a:rPr>
                      <m:t>.</m:t>
                    </m:r>
                  </m:oMath>
                </a14:m>
                <a:r>
                  <a:rPr lang="en-IN" dirty="0"/>
                  <a:t> (each 35 m length).</a:t>
                </a:r>
              </a:p>
            </p:txBody>
          </p:sp>
        </mc:Choice>
        <mc:Fallback xmlns="">
          <p:sp>
            <p:nvSpPr>
              <p:cNvPr id="3" name="Content Placeholder 2">
                <a:extLst>
                  <a:ext uri="{FF2B5EF4-FFF2-40B4-BE49-F238E27FC236}">
                    <a16:creationId xmlns:a16="http://schemas.microsoft.com/office/drawing/2014/main" id="{40419EA2-83E9-C932-DCCB-AA91969B0A95}"/>
                  </a:ext>
                </a:extLst>
              </p:cNvPr>
              <p:cNvSpPr>
                <a:spLocks noGrp="1" noRot="1" noChangeAspect="1" noMove="1" noResize="1" noEditPoints="1" noAdjustHandles="1" noChangeArrowheads="1" noChangeShapeType="1" noTextEdit="1"/>
              </p:cNvSpPr>
              <p:nvPr>
                <p:ph idx="1"/>
              </p:nvPr>
            </p:nvSpPr>
            <p:spPr>
              <a:xfrm>
                <a:off x="719091" y="1571348"/>
                <a:ext cx="10653203" cy="5122415"/>
              </a:xfrm>
              <a:blipFill>
                <a:blip r:embed="rId2"/>
                <a:stretch>
                  <a:fillRect l="-629" t="-714"/>
                </a:stretch>
              </a:blipFill>
            </p:spPr>
            <p:txBody>
              <a:bodyPr/>
              <a:lstStyle/>
              <a:p>
                <a:r>
                  <a:rPr lang="en-IN">
                    <a:noFill/>
                  </a:rPr>
                  <a:t> </a:t>
                </a:r>
              </a:p>
            </p:txBody>
          </p:sp>
        </mc:Fallback>
      </mc:AlternateContent>
    </p:spTree>
    <p:extLst>
      <p:ext uri="{BB962C8B-B14F-4D97-AF65-F5344CB8AC3E}">
        <p14:creationId xmlns:p14="http://schemas.microsoft.com/office/powerpoint/2010/main" val="1491275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A73D2-4CD0-E6A8-C140-6986B14D6B79}"/>
              </a:ext>
            </a:extLst>
          </p:cNvPr>
          <p:cNvSpPr>
            <a:spLocks noGrp="1"/>
          </p:cNvSpPr>
          <p:nvPr>
            <p:ph type="title"/>
          </p:nvPr>
        </p:nvSpPr>
        <p:spPr/>
        <p:txBody>
          <a:bodyPr/>
          <a:lstStyle/>
          <a:p>
            <a:r>
              <a:rPr lang="en-US" dirty="0"/>
              <a:t>Design of UASB Reactor</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A12B34C-660F-B965-7F1D-36E413727B89}"/>
                  </a:ext>
                </a:extLst>
              </p:cNvPr>
              <p:cNvSpPr>
                <a:spLocks noGrp="1"/>
              </p:cNvSpPr>
              <p:nvPr>
                <p:ph idx="1"/>
              </p:nvPr>
            </p:nvSpPr>
            <p:spPr>
              <a:xfrm>
                <a:off x="645131" y="2052918"/>
                <a:ext cx="10176749" cy="4427781"/>
              </a:xfrm>
            </p:spPr>
            <p:txBody>
              <a:bodyPr>
                <a:normAutofit/>
              </a:bodyPr>
              <a:lstStyle/>
              <a:p>
                <a:pPr>
                  <a:lnSpc>
                    <a:spcPct val="115000"/>
                  </a:lnSpc>
                  <a:spcAft>
                    <a:spcPts val="1000"/>
                  </a:spcAft>
                </a:pPr>
                <a:r>
                  <a:rPr lang="en-GB" sz="2200" u="sng" dirty="0">
                    <a:effectLst/>
                    <a:latin typeface="+mn-lt"/>
                    <a:ea typeface="Calibri" panose="020F0502020204030204" pitchFamily="34" charset="0"/>
                    <a:cs typeface="Times New Roman" panose="02020603050405020304" pitchFamily="18" charset="0"/>
                  </a:rPr>
                  <a:t>Aperture Width</a:t>
                </a:r>
                <a:r>
                  <a:rPr lang="en-GB" dirty="0">
                    <a:effectLst/>
                    <a:latin typeface="+mn-lt"/>
                    <a:ea typeface="Calibri" panose="020F0502020204030204" pitchFamily="34" charset="0"/>
                    <a:cs typeface="Times New Roman" panose="02020603050405020304" pitchFamily="18" charset="0"/>
                  </a:rPr>
                  <a:t>:</a:t>
                </a:r>
              </a:p>
              <a:p>
                <a:pPr marL="0" indent="0">
                  <a:lnSpc>
                    <a:spcPct val="115000"/>
                  </a:lnSpc>
                  <a:spcAft>
                    <a:spcPts val="1000"/>
                  </a:spcAft>
                  <a:buNone/>
                </a:pPr>
                <a:r>
                  <a:rPr lang="en-GB" sz="2200" dirty="0">
                    <a:latin typeface="+mn-lt"/>
                    <a:ea typeface="Calibri" panose="020F0502020204030204" pitchFamily="34" charset="0"/>
                    <a:cs typeface="Times New Roman" panose="02020603050405020304" pitchFamily="18" charset="0"/>
                  </a:rPr>
                  <a:t>M</a:t>
                </a:r>
                <a:r>
                  <a:rPr lang="en-GB" sz="2200" dirty="0">
                    <a:effectLst/>
                    <a:latin typeface="+mn-lt"/>
                    <a:ea typeface="Calibri" panose="020F0502020204030204" pitchFamily="34" charset="0"/>
                    <a:cs typeface="Times New Roman" panose="02020603050405020304" pitchFamily="18" charset="0"/>
                  </a:rPr>
                  <a:t>aximum </a:t>
                </a:r>
                <a:r>
                  <a:rPr lang="en-GB" sz="2200" dirty="0" err="1">
                    <a:effectLst/>
                    <a:latin typeface="+mn-lt"/>
                    <a:ea typeface="Calibri" panose="020F0502020204030204" pitchFamily="34" charset="0"/>
                    <a:cs typeface="Times New Roman" panose="02020603050405020304" pitchFamily="18" charset="0"/>
                  </a:rPr>
                  <a:t>upflow</a:t>
                </a:r>
                <a:r>
                  <a:rPr lang="en-GB" sz="2200" dirty="0">
                    <a:effectLst/>
                    <a:latin typeface="+mn-lt"/>
                    <a:ea typeface="Calibri" panose="020F0502020204030204" pitchFamily="34" charset="0"/>
                    <a:cs typeface="Times New Roman" panose="02020603050405020304" pitchFamily="18" charset="0"/>
                  </a:rPr>
                  <a:t> velocity through aperture is to be limited to 5 m/hr at peak flow. </a:t>
                </a:r>
                <a:endParaRPr lang="en-IN" sz="2200"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sz="2200" dirty="0">
                    <a:effectLst/>
                    <a:latin typeface="+mn-lt"/>
                    <a:ea typeface="Calibri" panose="020F0502020204030204" pitchFamily="34" charset="0"/>
                    <a:cs typeface="Times New Roman" panose="02020603050405020304" pitchFamily="18" charset="0"/>
                  </a:rPr>
                  <a:t>Aperture area required </a:t>
                </a:r>
                <a14:m>
                  <m:oMath xmlns:m="http://schemas.openxmlformats.org/officeDocument/2006/math">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𝑝𝑒𝑎𝑘</m:t>
                        </m:r>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𝑓𝑙𝑜𝑤</m:t>
                        </m:r>
                        <m:r>
                          <a:rPr lang="en-US" sz="2200"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sz="2200" i="1" dirty="0">
                            <a:latin typeface="Cambria Math" panose="02040503050406030204" pitchFamily="18" charset="0"/>
                            <a:ea typeface="Calibri" panose="020F0502020204030204" pitchFamily="34" charset="0"/>
                            <a:cs typeface="Times New Roman" panose="02020603050405020304" pitchFamily="18" charset="0"/>
                          </a:rPr>
                          <m:t>𝑚</m:t>
                        </m:r>
                        <m:r>
                          <a:rPr lang="en-GB" sz="2200" i="1" baseline="30000" dirty="0">
                            <a:latin typeface="Cambria Math" panose="02040503050406030204" pitchFamily="18" charset="0"/>
                            <a:ea typeface="Calibri" panose="020F0502020204030204" pitchFamily="34" charset="0"/>
                            <a:cs typeface="Times New Roman" panose="02020603050405020304" pitchFamily="18" charset="0"/>
                          </a:rPr>
                          <m:t>3</m:t>
                        </m:r>
                        <m:r>
                          <a:rPr lang="en-US" sz="2200" i="1" dirty="0">
                            <a:latin typeface="Cambria Math" panose="02040503050406030204" pitchFamily="18" charset="0"/>
                            <a:ea typeface="Calibri" panose="020F0502020204030204" pitchFamily="34" charset="0"/>
                            <a:cs typeface="Times New Roman" panose="02020603050405020304" pitchFamily="18" charset="0"/>
                          </a:rPr>
                          <m:t>/</m:t>
                        </m:r>
                        <m:r>
                          <a:rPr lang="en-US" sz="2200" i="1" dirty="0">
                            <a:latin typeface="Cambria Math" panose="02040503050406030204" pitchFamily="18" charset="0"/>
                            <a:ea typeface="Calibri" panose="020F0502020204030204" pitchFamily="34" charset="0"/>
                            <a:cs typeface="Times New Roman" panose="02020603050405020304" pitchFamily="18" charset="0"/>
                          </a:rPr>
                          <m:t>h𝑟</m:t>
                        </m:r>
                      </m:num>
                      <m:den>
                        <m:r>
                          <a:rPr lang="en-GB" sz="2200" i="1" dirty="0">
                            <a:latin typeface="Cambria Math" panose="02040503050406030204" pitchFamily="18" charset="0"/>
                            <a:ea typeface="Calibri" panose="020F0502020204030204" pitchFamily="34" charset="0"/>
                            <a:cs typeface="Times New Roman" panose="02020603050405020304" pitchFamily="18" charset="0"/>
                          </a:rPr>
                          <m:t>𝑝𝑒𝑟𝑚𝑖𝑠𝑠𝑖𝑏𝑙𝑒</m:t>
                        </m:r>
                        <m:r>
                          <a:rPr lang="en-GB" sz="2200" i="1" dirty="0">
                            <a:latin typeface="Cambria Math" panose="02040503050406030204" pitchFamily="18" charset="0"/>
                            <a:ea typeface="Calibri" panose="020F0502020204030204" pitchFamily="34" charset="0"/>
                            <a:cs typeface="Times New Roman" panose="02020603050405020304" pitchFamily="18" charset="0"/>
                          </a:rPr>
                          <m:t> </m:t>
                        </m:r>
                        <m:r>
                          <a:rPr lang="en-GB" sz="2200" i="1" dirty="0">
                            <a:latin typeface="Cambria Math" panose="02040503050406030204" pitchFamily="18" charset="0"/>
                            <a:ea typeface="Calibri" panose="020F0502020204030204" pitchFamily="34" charset="0"/>
                            <a:cs typeface="Times New Roman" panose="02020603050405020304" pitchFamily="18" charset="0"/>
                          </a:rPr>
                          <m:t>𝑎𝑝𝑒𝑟𝑡𝑢𝑟𝑒</m:t>
                        </m:r>
                        <m:r>
                          <a:rPr lang="en-GB" sz="2200" i="1" dirty="0">
                            <a:latin typeface="Cambria Math" panose="02040503050406030204" pitchFamily="18" charset="0"/>
                            <a:ea typeface="Calibri" panose="020F0502020204030204" pitchFamily="34" charset="0"/>
                            <a:cs typeface="Times New Roman" panose="02020603050405020304" pitchFamily="18" charset="0"/>
                          </a:rPr>
                          <m:t> </m:t>
                        </m:r>
                        <m:r>
                          <a:rPr lang="en-GB" sz="2200" i="1" dirty="0">
                            <a:latin typeface="Cambria Math" panose="02040503050406030204" pitchFamily="18" charset="0"/>
                            <a:ea typeface="Calibri" panose="020F0502020204030204" pitchFamily="34" charset="0"/>
                            <a:cs typeface="Times New Roman" panose="02020603050405020304" pitchFamily="18" charset="0"/>
                          </a:rPr>
                          <m:t>𝑣𝑒𝑙𝑜𝑐𝑖𝑡𝑦</m:t>
                        </m:r>
                        <m:r>
                          <a:rPr lang="en-GB" sz="2200" i="1" dirty="0">
                            <a:latin typeface="Cambria Math" panose="02040503050406030204" pitchFamily="18" charset="0"/>
                            <a:ea typeface="Calibri" panose="020F0502020204030204" pitchFamily="34" charset="0"/>
                            <a:cs typeface="Times New Roman" panose="02020603050405020304" pitchFamily="18" charset="0"/>
                          </a:rPr>
                          <m:t> </m:t>
                        </m:r>
                        <m:r>
                          <a:rPr lang="en-GB" sz="2200" i="1" dirty="0">
                            <a:latin typeface="Cambria Math" panose="02040503050406030204" pitchFamily="18" charset="0"/>
                            <a:ea typeface="Calibri" panose="020F0502020204030204" pitchFamily="34" charset="0"/>
                            <a:cs typeface="Times New Roman" panose="02020603050405020304" pitchFamily="18" charset="0"/>
                          </a:rPr>
                          <m:t>𝑚</m:t>
                        </m:r>
                        <m:r>
                          <a:rPr lang="en-GB" sz="2200" i="1" dirty="0">
                            <a:latin typeface="Cambria Math" panose="02040503050406030204" pitchFamily="18" charset="0"/>
                            <a:ea typeface="Calibri" panose="020F0502020204030204" pitchFamily="34" charset="0"/>
                            <a:cs typeface="Times New Roman" panose="02020603050405020304" pitchFamily="18" charset="0"/>
                          </a:rPr>
                          <m:t>/</m:t>
                        </m:r>
                        <m:r>
                          <a:rPr lang="en-GB" sz="2200" i="1" dirty="0">
                            <a:latin typeface="Cambria Math" panose="02040503050406030204" pitchFamily="18" charset="0"/>
                            <a:ea typeface="Calibri" panose="020F0502020204030204" pitchFamily="34" charset="0"/>
                            <a:cs typeface="Times New Roman" panose="02020603050405020304" pitchFamily="18" charset="0"/>
                          </a:rPr>
                          <m:t>h𝑟</m:t>
                        </m:r>
                      </m:den>
                    </m:f>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2200" i="1" dirty="0">
                            <a:latin typeface="Cambria Math" panose="02040503050406030204" pitchFamily="18" charset="0"/>
                            <a:ea typeface="Calibri" panose="020F0502020204030204" pitchFamily="34" charset="0"/>
                            <a:cs typeface="Times New Roman" panose="02020603050405020304" pitchFamily="18" charset="0"/>
                          </a:rPr>
                          <m:t>10000∗</m:t>
                        </m:r>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2</m:t>
                        </m:r>
                      </m:num>
                      <m:den>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5∗24</m:t>
                        </m:r>
                      </m:den>
                    </m:f>
                    <m:r>
                      <a:rPr lang="en-US" sz="2200"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166.6</m:t>
                    </m:r>
                    <m:r>
                      <a:rPr lang="en-US" sz="2200" b="0" i="1" dirty="0" smtClean="0">
                        <a:effectLst/>
                        <a:latin typeface="Cambria Math" panose="02040503050406030204" pitchFamily="18" charset="0"/>
                        <a:ea typeface="Calibri" panose="020F0502020204030204" pitchFamily="34" charset="0"/>
                        <a:cs typeface="Times New Roman" panose="02020603050405020304" pitchFamily="18" charset="0"/>
                      </a:rPr>
                      <m:t>7</m:t>
                    </m:r>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sz="2200"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sz="2200"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sz="2200" dirty="0">
                    <a:effectLst/>
                    <a:latin typeface="+mn-lt"/>
                    <a:ea typeface="Calibri" panose="020F0502020204030204" pitchFamily="34" charset="0"/>
                    <a:cs typeface="Times New Roman" panose="02020603050405020304" pitchFamily="18" charset="0"/>
                  </a:rPr>
                  <a:t>Aperture width </a:t>
                </a:r>
                <a14:m>
                  <m:oMath xmlns:m="http://schemas.openxmlformats.org/officeDocument/2006/math">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2200" i="1" dirty="0">
                            <a:latin typeface="Cambria Math" panose="02040503050406030204" pitchFamily="18" charset="0"/>
                            <a:ea typeface="Calibri" panose="020F0502020204030204" pitchFamily="34" charset="0"/>
                            <a:cs typeface="Times New Roman" panose="02020603050405020304" pitchFamily="18" charset="0"/>
                          </a:rPr>
                          <m:t>𝑎𝑝𝑒𝑟𝑡𝑢𝑟𝑒</m:t>
                        </m:r>
                        <m:r>
                          <a:rPr lang="en-US" sz="2200" b="0" i="1" dirty="0" smtClean="0">
                            <a:latin typeface="Cambria Math" panose="02040503050406030204" pitchFamily="18" charset="0"/>
                            <a:ea typeface="Calibri" panose="020F0502020204030204" pitchFamily="34" charset="0"/>
                            <a:cs typeface="Times New Roman" panose="02020603050405020304" pitchFamily="18" charset="0"/>
                          </a:rPr>
                          <m:t> </m:t>
                        </m:r>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𝑎𝑟𝑒𝑎</m:t>
                        </m:r>
                      </m:num>
                      <m:den>
                        <m:r>
                          <a:rPr lang="en-GB" sz="2200" i="1" dirty="0">
                            <a:latin typeface="Cambria Math" panose="02040503050406030204" pitchFamily="18" charset="0"/>
                            <a:ea typeface="Calibri" panose="020F0502020204030204" pitchFamily="34" charset="0"/>
                            <a:cs typeface="Times New Roman" panose="02020603050405020304" pitchFamily="18" charset="0"/>
                          </a:rPr>
                          <m:t>𝑙𝑒𝑛𝑔𝑡h</m:t>
                        </m:r>
                        <m:r>
                          <a:rPr lang="en-GB" sz="2200" i="1" dirty="0">
                            <a:latin typeface="Cambria Math" panose="02040503050406030204" pitchFamily="18" charset="0"/>
                            <a:ea typeface="Calibri" panose="020F0502020204030204" pitchFamily="34" charset="0"/>
                            <a:cs typeface="Times New Roman" panose="02020603050405020304" pitchFamily="18" charset="0"/>
                          </a:rPr>
                          <m:t> </m:t>
                        </m:r>
                        <m:r>
                          <a:rPr lang="en-GB" sz="2200" i="1" dirty="0">
                            <a:latin typeface="Cambria Math" panose="02040503050406030204" pitchFamily="18" charset="0"/>
                            <a:ea typeface="Calibri" panose="020F0502020204030204" pitchFamily="34" charset="0"/>
                            <a:cs typeface="Times New Roman" panose="02020603050405020304" pitchFamily="18" charset="0"/>
                          </a:rPr>
                          <m:t>𝑜𝑓</m:t>
                        </m:r>
                        <m:r>
                          <a:rPr lang="en-GB" sz="2200" i="1" dirty="0">
                            <a:latin typeface="Cambria Math" panose="02040503050406030204" pitchFamily="18" charset="0"/>
                            <a:ea typeface="Calibri" panose="020F0502020204030204" pitchFamily="34" charset="0"/>
                            <a:cs typeface="Times New Roman" panose="02020603050405020304" pitchFamily="18" charset="0"/>
                          </a:rPr>
                          <m:t> </m:t>
                        </m:r>
                        <m:r>
                          <a:rPr lang="en-GB" sz="2200" i="1" dirty="0">
                            <a:latin typeface="Cambria Math" panose="02040503050406030204" pitchFamily="18" charset="0"/>
                            <a:ea typeface="Calibri" panose="020F0502020204030204" pitchFamily="34" charset="0"/>
                            <a:cs typeface="Times New Roman" panose="02020603050405020304" pitchFamily="18" charset="0"/>
                          </a:rPr>
                          <m:t>𝑎𝑝𝑒𝑟𝑡𝑢𝑟𝑒</m:t>
                        </m:r>
                        <m:r>
                          <a:rPr lang="en-GB" sz="2200" i="1" dirty="0">
                            <a:latin typeface="Cambria Math" panose="02040503050406030204" pitchFamily="18" charset="0"/>
                            <a:ea typeface="Calibri" panose="020F0502020204030204" pitchFamily="34" charset="0"/>
                            <a:cs typeface="Times New Roman" panose="02020603050405020304" pitchFamily="18" charset="0"/>
                          </a:rPr>
                          <m:t> ∗ </m:t>
                        </m:r>
                        <m:r>
                          <a:rPr lang="en-GB" sz="2200" i="1" dirty="0">
                            <a:latin typeface="Cambria Math" panose="02040503050406030204" pitchFamily="18" charset="0"/>
                            <a:ea typeface="Calibri" panose="020F0502020204030204" pitchFamily="34" charset="0"/>
                            <a:cs typeface="Times New Roman" panose="02020603050405020304" pitchFamily="18" charset="0"/>
                          </a:rPr>
                          <m:t>𝑛𝑜</m:t>
                        </m:r>
                        <m:r>
                          <a:rPr lang="en-GB" sz="2200" i="1" dirty="0">
                            <a:latin typeface="Cambria Math" panose="02040503050406030204" pitchFamily="18" charset="0"/>
                            <a:ea typeface="Calibri" panose="020F0502020204030204" pitchFamily="34" charset="0"/>
                            <a:cs typeface="Times New Roman" panose="02020603050405020304" pitchFamily="18" charset="0"/>
                          </a:rPr>
                          <m:t>. </m:t>
                        </m:r>
                        <m:r>
                          <a:rPr lang="en-GB" sz="2200" i="1" dirty="0">
                            <a:latin typeface="Cambria Math" panose="02040503050406030204" pitchFamily="18" charset="0"/>
                            <a:ea typeface="Calibri" panose="020F0502020204030204" pitchFamily="34" charset="0"/>
                            <a:cs typeface="Times New Roman" panose="02020603050405020304" pitchFamily="18" charset="0"/>
                          </a:rPr>
                          <m:t>𝑜𝑓</m:t>
                        </m:r>
                        <m:r>
                          <a:rPr lang="en-GB" sz="2200" i="1" dirty="0">
                            <a:latin typeface="Cambria Math" panose="02040503050406030204" pitchFamily="18" charset="0"/>
                            <a:ea typeface="Calibri" panose="020F0502020204030204" pitchFamily="34" charset="0"/>
                            <a:cs typeface="Times New Roman" panose="02020603050405020304" pitchFamily="18" charset="0"/>
                          </a:rPr>
                          <m:t> </m:t>
                        </m:r>
                        <m:r>
                          <a:rPr lang="en-GB" sz="2200" i="1" dirty="0">
                            <a:latin typeface="Cambria Math" panose="02040503050406030204" pitchFamily="18" charset="0"/>
                            <a:ea typeface="Calibri" panose="020F0502020204030204" pitchFamily="34" charset="0"/>
                            <a:cs typeface="Times New Roman" panose="02020603050405020304" pitchFamily="18" charset="0"/>
                          </a:rPr>
                          <m:t>𝑎𝑝𝑒𝑟𝑡𝑢𝑟𝑒</m:t>
                        </m:r>
                      </m:den>
                    </m:f>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166.6</m:t>
                        </m:r>
                        <m:r>
                          <a:rPr lang="en-US" sz="2200" b="0" i="1" dirty="0" smtClean="0">
                            <a:effectLst/>
                            <a:latin typeface="Cambria Math" panose="02040503050406030204" pitchFamily="18" charset="0"/>
                            <a:ea typeface="Calibri" panose="020F0502020204030204" pitchFamily="34" charset="0"/>
                            <a:cs typeface="Times New Roman" panose="02020603050405020304" pitchFamily="18" charset="0"/>
                          </a:rPr>
                          <m:t>7</m:t>
                        </m:r>
                      </m:num>
                      <m:den>
                        <m:r>
                          <a:rPr lang="en-GB" sz="2200" i="1" dirty="0">
                            <a:latin typeface="Cambria Math" panose="02040503050406030204" pitchFamily="18" charset="0"/>
                            <a:ea typeface="Calibri" panose="020F0502020204030204" pitchFamily="34" charset="0"/>
                            <a:cs typeface="Times New Roman" panose="02020603050405020304" pitchFamily="18" charset="0"/>
                          </a:rPr>
                          <m:t>35∗</m:t>
                        </m:r>
                        <m:r>
                          <a:rPr lang="en-US" sz="2200" b="0" i="1" dirty="0" smtClean="0">
                            <a:latin typeface="Cambria Math" panose="02040503050406030204" pitchFamily="18" charset="0"/>
                            <a:ea typeface="Calibri" panose="020F0502020204030204" pitchFamily="34" charset="0"/>
                            <a:cs typeface="Times New Roman" panose="02020603050405020304" pitchFamily="18" charset="0"/>
                          </a:rPr>
                          <m:t>6</m:t>
                        </m:r>
                      </m:den>
                    </m:f>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=0. </m:t>
                    </m:r>
                    <m:r>
                      <a:rPr lang="en-US" sz="2200" b="0" i="1" dirty="0" smtClean="0">
                        <a:effectLst/>
                        <a:latin typeface="Cambria Math" panose="02040503050406030204" pitchFamily="18" charset="0"/>
                        <a:ea typeface="Calibri" panose="020F0502020204030204" pitchFamily="34" charset="0"/>
                        <a:cs typeface="Times New Roman" panose="02020603050405020304" pitchFamily="18" charset="0"/>
                      </a:rPr>
                      <m:t>794 </m:t>
                    </m:r>
                    <m:r>
                      <a:rPr lang="en-GB" sz="2200"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sz="2200"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sz="2200" dirty="0">
                    <a:effectLst/>
                    <a:latin typeface="+mn-lt"/>
                    <a:ea typeface="Calibri" panose="020F0502020204030204" pitchFamily="34" charset="0"/>
                    <a:cs typeface="Times New Roman" panose="02020603050405020304" pitchFamily="18" charset="0"/>
                  </a:rPr>
                  <a:t>Taking it as approximately equal to 0.8 m.</a:t>
                </a:r>
              </a:p>
            </p:txBody>
          </p:sp>
        </mc:Choice>
        <mc:Fallback>
          <p:sp>
            <p:nvSpPr>
              <p:cNvPr id="3" name="Content Placeholder 2">
                <a:extLst>
                  <a:ext uri="{FF2B5EF4-FFF2-40B4-BE49-F238E27FC236}">
                    <a16:creationId xmlns:a16="http://schemas.microsoft.com/office/drawing/2014/main" id="{9A12B34C-660F-B965-7F1D-36E413727B89}"/>
                  </a:ext>
                </a:extLst>
              </p:cNvPr>
              <p:cNvSpPr>
                <a:spLocks noGrp="1" noRot="1" noChangeAspect="1" noMove="1" noResize="1" noEditPoints="1" noAdjustHandles="1" noChangeArrowheads="1" noChangeShapeType="1" noTextEdit="1"/>
              </p:cNvSpPr>
              <p:nvPr>
                <p:ph idx="1"/>
              </p:nvPr>
            </p:nvSpPr>
            <p:spPr>
              <a:xfrm>
                <a:off x="645131" y="2052918"/>
                <a:ext cx="10176749" cy="4427781"/>
              </a:xfrm>
              <a:blipFill>
                <a:blip r:embed="rId2"/>
                <a:stretch>
                  <a:fillRect l="-779" t="-689"/>
                </a:stretch>
              </a:blipFill>
            </p:spPr>
            <p:txBody>
              <a:bodyPr/>
              <a:lstStyle/>
              <a:p>
                <a:r>
                  <a:rPr lang="en-IN">
                    <a:noFill/>
                  </a:rPr>
                  <a:t> </a:t>
                </a:r>
              </a:p>
            </p:txBody>
          </p:sp>
        </mc:Fallback>
      </mc:AlternateContent>
    </p:spTree>
    <p:extLst>
      <p:ext uri="{BB962C8B-B14F-4D97-AF65-F5344CB8AC3E}">
        <p14:creationId xmlns:p14="http://schemas.microsoft.com/office/powerpoint/2010/main" val="361699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8A3A5-424B-6E9A-14AC-5DC0BD97F95C}"/>
              </a:ext>
            </a:extLst>
          </p:cNvPr>
          <p:cNvSpPr>
            <a:spLocks noGrp="1"/>
          </p:cNvSpPr>
          <p:nvPr>
            <p:ph type="title"/>
          </p:nvPr>
        </p:nvSpPr>
        <p:spPr/>
        <p:txBody>
          <a:bodyPr/>
          <a:lstStyle/>
          <a:p>
            <a:r>
              <a:rPr lang="en-US" dirty="0"/>
              <a:t>Design of UASB Reactor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3E7743-0EE4-DB1E-D4C3-5F0679AA485D}"/>
                  </a:ext>
                </a:extLst>
              </p:cNvPr>
              <p:cNvSpPr>
                <a:spLocks noGrp="1"/>
              </p:cNvSpPr>
              <p:nvPr>
                <p:ph idx="1"/>
              </p:nvPr>
            </p:nvSpPr>
            <p:spPr>
              <a:xfrm>
                <a:off x="645130" y="1731146"/>
                <a:ext cx="10496346" cy="4776186"/>
              </a:xfrm>
            </p:spPr>
            <p:txBody>
              <a:bodyPr>
                <a:noAutofit/>
              </a:bodyPr>
              <a:lstStyle/>
              <a:p>
                <a:pPr>
                  <a:spcAft>
                    <a:spcPts val="1000"/>
                  </a:spcAft>
                </a:pPr>
                <a:r>
                  <a:rPr lang="en-GB" u="sng" dirty="0">
                    <a:effectLst/>
                    <a:latin typeface="+mn-lt"/>
                    <a:ea typeface="Calibri" panose="020F0502020204030204" pitchFamily="34" charset="0"/>
                    <a:cs typeface="Times New Roman" panose="02020603050405020304" pitchFamily="18" charset="0"/>
                  </a:rPr>
                  <a:t>Deflector Beam</a:t>
                </a:r>
                <a:r>
                  <a:rPr lang="en-GB" dirty="0">
                    <a:effectLst/>
                    <a:latin typeface="+mn-lt"/>
                    <a:ea typeface="Calibri" panose="020F0502020204030204" pitchFamily="34" charset="0"/>
                    <a:cs typeface="Times New Roman" panose="02020603050405020304" pitchFamily="18" charset="0"/>
                  </a:rPr>
                  <a:t>:</a:t>
                </a:r>
                <a:endParaRPr lang="en-IN" u="sng" dirty="0">
                  <a:effectLst/>
                  <a:latin typeface="+mn-lt"/>
                  <a:ea typeface="Calibri" panose="020F0502020204030204" pitchFamily="34" charset="0"/>
                  <a:cs typeface="Times New Roman" panose="02020603050405020304" pitchFamily="18" charset="0"/>
                </a:endParaRPr>
              </a:p>
              <a:p>
                <a:pPr marL="0" indent="0">
                  <a:spcAft>
                    <a:spcPts val="1000"/>
                  </a:spcAft>
                  <a:buNone/>
                </a:pPr>
                <a14:m>
                  <m:oMathPara xmlns:m="http://schemas.openxmlformats.org/officeDocument/2006/math">
                    <m:oMathParaPr>
                      <m:jc m:val="centerGroup"/>
                    </m:oMathParaPr>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𝑊𝑖𝑑𝑡h</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𝑜𝑓</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𝑑𝑒𝑓𝑙𝑒𝑐𝑡𝑜𝑟</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𝑏𝑒𝑎𝑚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𝑎𝑝𝑒𝑟𝑡𝑢𝑟𝑒</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𝑤𝑖𝑑𝑡h</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𝑜𝑣𝑒𝑟𝑙𝑎𝑝</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)=0.8+2∗0.1=1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Height of deflector beam = 0.5 m </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Check for total side water depth of 5m </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Sludge bed height up to base of deflector beam</a:t>
                </a:r>
                <a14:m>
                  <m:oMath xmlns:m="http://schemas.openxmlformats.org/officeDocument/2006/math">
                    <m:r>
                      <a:rPr lang="en-US" b="0" i="0"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2.2 </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Collector plate height, P</a:t>
                </a:r>
                <a:r>
                  <a:rPr lang="en-GB" baseline="-25000" dirty="0">
                    <a:effectLst/>
                    <a:latin typeface="+mn-lt"/>
                    <a:ea typeface="Calibri" panose="020F0502020204030204" pitchFamily="34" charset="0"/>
                    <a:cs typeface="Times New Roman" panose="02020603050405020304" pitchFamily="18" charset="0"/>
                  </a:rPr>
                  <a:t>v</a:t>
                </a:r>
                <a:r>
                  <a:rPr lang="en-GB" dirty="0">
                    <a:effectLst/>
                    <a:latin typeface="+mn-lt"/>
                    <a:ea typeface="Calibri" panose="020F0502020204030204" pitchFamily="34" charset="0"/>
                    <a:cs typeface="Times New Roman" panose="02020603050405020304" pitchFamily="18" charset="0"/>
                  </a:rPr>
                  <a:t> = 1.64 m</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Vertical water depth in settler = 0.4 m</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Free board at top</a:t>
                </a:r>
                <a14:m>
                  <m:oMath xmlns:m="http://schemas.openxmlformats.org/officeDocument/2006/math">
                    <m:r>
                      <a:rPr lang="en-US" b="0" i="0"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0.5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Total reactor height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5.5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oMath>
                </a14:m>
                <a:endParaRPr lang="en-IN" dirty="0">
                  <a:effectLst/>
                  <a:latin typeface="+mn-lt"/>
                  <a:ea typeface="Calibri" panose="020F0502020204030204" pitchFamily="34"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7C3E7743-0EE4-DB1E-D4C3-5F0679AA485D}"/>
                  </a:ext>
                </a:extLst>
              </p:cNvPr>
              <p:cNvSpPr>
                <a:spLocks noGrp="1" noRot="1" noChangeAspect="1" noMove="1" noResize="1" noEditPoints="1" noAdjustHandles="1" noChangeArrowheads="1" noChangeShapeType="1" noTextEdit="1"/>
              </p:cNvSpPr>
              <p:nvPr>
                <p:ph idx="1"/>
              </p:nvPr>
            </p:nvSpPr>
            <p:spPr>
              <a:xfrm>
                <a:off x="645130" y="1731146"/>
                <a:ext cx="10496346" cy="4776186"/>
              </a:xfrm>
              <a:blipFill>
                <a:blip r:embed="rId2"/>
                <a:stretch>
                  <a:fillRect l="-639" t="-766" b="-1533"/>
                </a:stretch>
              </a:blipFill>
            </p:spPr>
            <p:txBody>
              <a:bodyPr/>
              <a:lstStyle/>
              <a:p>
                <a:r>
                  <a:rPr lang="en-IN">
                    <a:noFill/>
                  </a:rPr>
                  <a:t> </a:t>
                </a:r>
              </a:p>
            </p:txBody>
          </p:sp>
        </mc:Fallback>
      </mc:AlternateContent>
    </p:spTree>
    <p:extLst>
      <p:ext uri="{BB962C8B-B14F-4D97-AF65-F5344CB8AC3E}">
        <p14:creationId xmlns:p14="http://schemas.microsoft.com/office/powerpoint/2010/main" val="11865232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3F481-DEF0-90EF-5D73-1AD643BA810D}"/>
              </a:ext>
            </a:extLst>
          </p:cNvPr>
          <p:cNvSpPr>
            <a:spLocks noGrp="1"/>
          </p:cNvSpPr>
          <p:nvPr>
            <p:ph type="title"/>
          </p:nvPr>
        </p:nvSpPr>
        <p:spPr/>
        <p:txBody>
          <a:bodyPr/>
          <a:lstStyle/>
          <a:p>
            <a:r>
              <a:rPr lang="en-US" dirty="0"/>
              <a:t>Design of UASB Reactor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CFF0BA-E6F5-7B31-60C2-936672BD8F89}"/>
                  </a:ext>
                </a:extLst>
              </p:cNvPr>
              <p:cNvSpPr>
                <a:spLocks noGrp="1"/>
              </p:cNvSpPr>
              <p:nvPr>
                <p:ph idx="1"/>
              </p:nvPr>
            </p:nvSpPr>
            <p:spPr>
              <a:xfrm>
                <a:off x="1103311" y="1853249"/>
                <a:ext cx="9984899" cy="4334488"/>
              </a:xfrm>
            </p:spPr>
            <p:txBody>
              <a:bodyPr>
                <a:noAutofit/>
              </a:bodyPr>
              <a:lstStyle/>
              <a:p>
                <a:pPr>
                  <a:lnSpc>
                    <a:spcPct val="115000"/>
                  </a:lnSpc>
                  <a:spcAft>
                    <a:spcPts val="1000"/>
                  </a:spcAft>
                </a:pPr>
                <a:r>
                  <a:rPr lang="en-GB" u="sng" dirty="0">
                    <a:effectLst/>
                    <a:latin typeface="+mn-lt"/>
                    <a:ea typeface="Calibri" panose="020F0502020204030204" pitchFamily="34" charset="0"/>
                    <a:cs typeface="Times New Roman" panose="02020603050405020304" pitchFamily="18" charset="0"/>
                  </a:rPr>
                  <a:t>Settling Zone</a:t>
                </a:r>
                <a:r>
                  <a:rPr lang="en-GB" dirty="0">
                    <a:effectLst/>
                    <a:latin typeface="+mn-lt"/>
                    <a:ea typeface="Calibri" panose="020F0502020204030204" pitchFamily="34" charset="0"/>
                    <a:cs typeface="Times New Roman" panose="02020603050405020304" pitchFamily="18" charset="0"/>
                  </a:rPr>
                  <a:t>:</a:t>
                </a:r>
                <a:endParaRPr lang="en-IN" u="sng"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dirty="0">
                    <a:effectLst/>
                    <a:latin typeface="+mn-lt"/>
                    <a:ea typeface="Calibri" panose="020F0502020204030204" pitchFamily="34" charset="0"/>
                    <a:cs typeface="Times New Roman" panose="02020603050405020304" pitchFamily="18" charset="0"/>
                  </a:rPr>
                  <a:t>Cross sectional area of settler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0.8</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∗1.64)+(0.4∗3.2)+(1.64∗1.2)=4.</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56</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𝑉𝑜𝑙𝑢𝑚𝑒</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𝑎𝑟𝑒𝑎</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𝑙𝑒𝑛𝑔𝑡h</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𝑛𝑜</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en-GB" dirty="0">
                    <a:effectLst/>
                    <a:latin typeface="+mn-lt"/>
                    <a:ea typeface="Calibri" panose="020F0502020204030204" pitchFamily="34" charset="0"/>
                    <a:cs typeface="Times New Roman" panose="02020603050405020304" pitchFamily="18" charset="0"/>
                  </a:rPr>
                  <a:t>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=4.</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56</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∗35∗</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6</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957.6</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oMath>
                </a14:m>
                <a:endParaRPr lang="en-IN" dirty="0">
                  <a:effectLst/>
                  <a:latin typeface="+mn-lt"/>
                  <a:ea typeface="Calibri" panose="020F0502020204030204" pitchFamily="34" charset="0"/>
                  <a:cs typeface="Times New Roman" panose="02020603050405020304" pitchFamily="18" charset="0"/>
                </a:endParaRPr>
              </a:p>
              <a:p>
                <a:pPr marL="0" indent="0">
                  <a:lnSpc>
                    <a:spcPct val="115000"/>
                  </a:lnSpc>
                  <a:spcAft>
                    <a:spcPts val="1000"/>
                  </a:spcAft>
                  <a:buNone/>
                </a:pP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𝐻𝑅𝑇</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𝑣𝑜𝑙𝑢𝑚𝑒</m:t>
                        </m:r>
                      </m:num>
                      <m:den>
                        <m:r>
                          <a:rPr lang="en-GB" i="1" dirty="0">
                            <a:latin typeface="Cambria Math" panose="02040503050406030204" pitchFamily="18" charset="0"/>
                            <a:ea typeface="Calibri" panose="020F0502020204030204" pitchFamily="34" charset="0"/>
                            <a:cs typeface="Times New Roman" panose="02020603050405020304" pitchFamily="18" charset="0"/>
                          </a:rPr>
                          <m:t>𝑓𝑙𝑜𝑤</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𝑟𝑎𝑡𝑒</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957.6</m:t>
                        </m:r>
                      </m:num>
                      <m:den>
                        <m:r>
                          <a:rPr lang="en-GB" i="1" dirty="0">
                            <a:latin typeface="Cambria Math" panose="02040503050406030204" pitchFamily="18" charset="0"/>
                            <a:ea typeface="Calibri" panose="020F0502020204030204" pitchFamily="34" charset="0"/>
                            <a:cs typeface="Times New Roman" panose="02020603050405020304" pitchFamily="18" charset="0"/>
                          </a:rPr>
                          <m:t>10000</m:t>
                        </m:r>
                        <m:r>
                          <a:rPr lang="en-GB" i="1" dirty="0">
                            <a:solidFill>
                              <a:prstClr val="white"/>
                            </a:solidFill>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a:solidFill>
                              <a:prstClr val="white"/>
                            </a:solidFill>
                            <a:latin typeface="Cambria Math" panose="02040503050406030204" pitchFamily="18" charset="0"/>
                            <a:ea typeface="Calibri" panose="020F0502020204030204" pitchFamily="34" charset="0"/>
                            <a:cs typeface="Times New Roman" panose="02020603050405020304" pitchFamily="18" charset="0"/>
                          </a:rPr>
                          <m:t>3</m:t>
                        </m:r>
                        <m:r>
                          <a:rPr lang="en-GB" i="1" dirty="0" smtClean="0">
                            <a:solidFill>
                              <a:prstClr val="white"/>
                            </a:solidFill>
                            <a:latin typeface="Cambria Math" panose="02040503050406030204" pitchFamily="18" charset="0"/>
                            <a:ea typeface="Calibri" panose="020F0502020204030204" pitchFamily="34" charset="0"/>
                            <a:cs typeface="Times New Roman" panose="02020603050405020304" pitchFamily="18" charset="0"/>
                          </a:rPr>
                          <m:t>/</m:t>
                        </m:r>
                        <m:r>
                          <a:rPr lang="en-GB" i="1" dirty="0">
                            <a:solidFill>
                              <a:prstClr val="white"/>
                            </a:solidFill>
                            <a:latin typeface="Cambria Math" panose="02040503050406030204" pitchFamily="18" charset="0"/>
                            <a:ea typeface="Calibri" panose="020F0502020204030204" pitchFamily="34" charset="0"/>
                            <a:cs typeface="Times New Roman" panose="02020603050405020304" pitchFamily="18" charset="0"/>
                          </a:rPr>
                          <m:t>𝑑</m:t>
                        </m:r>
                        <m:r>
                          <a:rPr lang="en-US" b="0" i="1" dirty="0" smtClean="0">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a:latin typeface="Cambria Math" panose="02040503050406030204" pitchFamily="18" charset="0"/>
                                <a:ea typeface="Calibri" panose="020F0502020204030204" pitchFamily="34" charset="0"/>
                                <a:cs typeface="Times New Roman" panose="02020603050405020304" pitchFamily="18" charset="0"/>
                              </a:rPr>
                            </m:ctrlPr>
                          </m:fPr>
                          <m:num>
                            <m:r>
                              <a:rPr lang="en-US" b="0" i="1" dirty="0" smtClean="0">
                                <a:latin typeface="Cambria Math" panose="02040503050406030204" pitchFamily="18" charset="0"/>
                                <a:ea typeface="Calibri" panose="020F0502020204030204" pitchFamily="34" charset="0"/>
                                <a:cs typeface="Times New Roman" panose="02020603050405020304" pitchFamily="18" charset="0"/>
                              </a:rPr>
                              <m:t>1</m:t>
                            </m:r>
                          </m:num>
                          <m:den>
                            <m:r>
                              <a:rPr lang="en-GB" i="1" dirty="0">
                                <a:latin typeface="Cambria Math" panose="02040503050406030204" pitchFamily="18" charset="0"/>
                                <a:ea typeface="Calibri" panose="020F0502020204030204" pitchFamily="34" charset="0"/>
                                <a:cs typeface="Times New Roman" panose="02020603050405020304" pitchFamily="18" charset="0"/>
                              </a:rPr>
                              <m:t>24</m:t>
                            </m:r>
                          </m:den>
                        </m:f>
                        <m:r>
                          <a:rPr lang="en-US" b="0" i="1" dirty="0" smtClean="0">
                            <a:latin typeface="Cambria Math" panose="02040503050406030204" pitchFamily="18" charset="0"/>
                            <a:ea typeface="Calibri" panose="020F0502020204030204" pitchFamily="34" charset="0"/>
                            <a:cs typeface="Times New Roman" panose="02020603050405020304" pitchFamily="18" charset="0"/>
                          </a:rPr>
                          <m:t>)</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h𝑟𝑠</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IN" dirty="0">
                    <a:effectLst/>
                    <a:latin typeface="+mn-lt"/>
                    <a:ea typeface="Calibri" panose="020F0502020204030204" pitchFamily="34" charset="0"/>
                    <a:cs typeface="Times New Roman" panose="02020603050405020304" pitchFamily="18" charset="0"/>
                  </a:rPr>
                  <a:t>(acceptable)</a:t>
                </a:r>
              </a:p>
              <a:p>
                <a:pPr marL="0" indent="0">
                  <a:lnSpc>
                    <a:spcPct val="115000"/>
                  </a:lnSpc>
                  <a:spcAft>
                    <a:spcPts val="1000"/>
                  </a:spcAft>
                  <a:buNone/>
                </a:pP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𝑆𝑢𝑟𝑓𝑎𝑐𝑒</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𝑙𝑜𝑎𝑑𝑖𝑛𝑔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10000</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a:latin typeface="Cambria Math" panose="02040503050406030204" pitchFamily="18" charset="0"/>
                            <a:ea typeface="Calibri" panose="020F0502020204030204" pitchFamily="34" charset="0"/>
                            <a:cs typeface="Times New Roman" panose="02020603050405020304" pitchFamily="18" charset="0"/>
                          </a:rPr>
                          <m:t>3</m:t>
                        </m:r>
                        <m:r>
                          <a:rPr lang="en-GB" i="1" dirty="0">
                            <a:latin typeface="Cambria Math" panose="02040503050406030204" pitchFamily="18" charset="0"/>
                            <a:ea typeface="Calibri" panose="020F0502020204030204" pitchFamily="34" charset="0"/>
                            <a:cs typeface="Times New Roman" panose="02020603050405020304" pitchFamily="18" charset="0"/>
                          </a:rPr>
                          <m:t>/</m:t>
                        </m:r>
                        <m:r>
                          <a:rPr lang="en-GB" i="1" dirty="0">
                            <a:latin typeface="Cambria Math" panose="02040503050406030204" pitchFamily="18" charset="0"/>
                            <a:ea typeface="Calibri" panose="020F0502020204030204" pitchFamily="34" charset="0"/>
                            <a:cs typeface="Times New Roman" panose="02020603050405020304" pitchFamily="18" charset="0"/>
                          </a:rPr>
                          <m:t>𝑑</m:t>
                        </m:r>
                        <m:r>
                          <m:rPr>
                            <m:nor/>
                          </m:rPr>
                          <a:rPr lang="en-IN" dirty="0">
                            <a:latin typeface="+mn-lt"/>
                            <a:ea typeface="Calibri" panose="020F0502020204030204" pitchFamily="34" charset="0"/>
                            <a:cs typeface="Times New Roman" panose="02020603050405020304" pitchFamily="18" charset="0"/>
                          </a:rPr>
                          <m:t> </m:t>
                        </m:r>
                      </m:num>
                      <m:den>
                        <m:r>
                          <a:rPr lang="en-GB" i="1" dirty="0">
                            <a:latin typeface="Cambria Math" panose="02040503050406030204" pitchFamily="18" charset="0"/>
                            <a:ea typeface="Calibri" panose="020F0502020204030204" pitchFamily="34" charset="0"/>
                            <a:cs typeface="Times New Roman" panose="02020603050405020304" pitchFamily="18" charset="0"/>
                          </a:rPr>
                          <m:t>𝑠𝑒𝑡𝑡𝑙𝑒𝑟</m:t>
                        </m:r>
                        <m:r>
                          <a:rPr lang="en-GB" i="1" dirty="0">
                            <a:latin typeface="Cambria Math" panose="02040503050406030204" pitchFamily="18" charset="0"/>
                            <a:ea typeface="Calibri" panose="020F0502020204030204" pitchFamily="34" charset="0"/>
                            <a:cs typeface="Times New Roman" panose="02020603050405020304" pitchFamily="18" charset="0"/>
                          </a:rPr>
                          <m:t> </m:t>
                        </m:r>
                        <m:r>
                          <a:rPr lang="en-GB" i="1" dirty="0">
                            <a:latin typeface="Cambria Math" panose="02040503050406030204" pitchFamily="18" charset="0"/>
                            <a:ea typeface="Calibri" panose="020F0502020204030204" pitchFamily="34" charset="0"/>
                            <a:cs typeface="Times New Roman" panose="02020603050405020304" pitchFamily="18" charset="0"/>
                          </a:rPr>
                          <m:t>𝑤𝑖𝑑𝑡h</m:t>
                        </m:r>
                        <m:r>
                          <a:rPr lang="en-GB" i="1" dirty="0">
                            <a:latin typeface="Cambria Math" panose="02040503050406030204" pitchFamily="18" charset="0"/>
                            <a:ea typeface="Calibri" panose="020F0502020204030204" pitchFamily="34" charset="0"/>
                            <a:cs typeface="Times New Roman" panose="02020603050405020304" pitchFamily="18" charset="0"/>
                          </a:rPr>
                          <m:t>∗</m:t>
                        </m:r>
                        <m:r>
                          <a:rPr lang="en-GB" i="1" dirty="0">
                            <a:latin typeface="Cambria Math" panose="02040503050406030204" pitchFamily="18" charset="0"/>
                            <a:ea typeface="Calibri" panose="020F0502020204030204" pitchFamily="34" charset="0"/>
                            <a:cs typeface="Times New Roman" panose="02020603050405020304" pitchFamily="18" charset="0"/>
                          </a:rPr>
                          <m:t>𝑙𝑒𝑛𝑔𝑡h</m:t>
                        </m:r>
                        <m:r>
                          <a:rPr lang="en-GB" i="1" dirty="0">
                            <a:latin typeface="Cambria Math" panose="02040503050406030204" pitchFamily="18" charset="0"/>
                            <a:ea typeface="Calibri" panose="020F0502020204030204" pitchFamily="34" charset="0"/>
                            <a:cs typeface="Times New Roman" panose="02020603050405020304" pitchFamily="18" charset="0"/>
                          </a:rPr>
                          <m:t>∗</m:t>
                        </m:r>
                        <m:r>
                          <a:rPr lang="en-GB" i="1" dirty="0" err="1">
                            <a:latin typeface="Cambria Math" panose="02040503050406030204" pitchFamily="18" charset="0"/>
                            <a:ea typeface="Calibri" panose="020F0502020204030204" pitchFamily="34" charset="0"/>
                            <a:cs typeface="Times New Roman" panose="02020603050405020304" pitchFamily="18" charset="0"/>
                          </a:rPr>
                          <m:t>𝑛𝑜</m:t>
                        </m:r>
                        <m:r>
                          <a:rPr lang="en-US" b="0" i="1" dirty="0" smtClean="0">
                            <a:latin typeface="Cambria Math" panose="02040503050406030204" pitchFamily="18" charset="0"/>
                            <a:ea typeface="Calibri" panose="020F0502020204030204" pitchFamily="34" charset="0"/>
                            <a:cs typeface="Times New Roman" panose="02020603050405020304" pitchFamily="18" charset="0"/>
                          </a:rPr>
                          <m:t>.</m:t>
                        </m:r>
                        <m:r>
                          <a:rPr lang="en-GB" i="1" dirty="0">
                            <a:latin typeface="Cambria Math" panose="02040503050406030204" pitchFamily="18" charset="0"/>
                            <a:ea typeface="Calibri" panose="020F0502020204030204" pitchFamily="34" charset="0"/>
                            <a:cs typeface="Times New Roman" panose="02020603050405020304" pitchFamily="18" charset="0"/>
                          </a:rPr>
                          <m:t> </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10000</m:t>
                        </m:r>
                      </m:num>
                      <m:den>
                        <m:r>
                          <a:rPr lang="en-GB" i="1" dirty="0">
                            <a:latin typeface="Cambria Math" panose="02040503050406030204" pitchFamily="18" charset="0"/>
                            <a:ea typeface="Calibri" panose="020F0502020204030204" pitchFamily="34" charset="0"/>
                            <a:cs typeface="Times New Roman" panose="02020603050405020304" pitchFamily="18" charset="0"/>
                          </a:rPr>
                          <m:t>3.2∗35∗</m:t>
                        </m:r>
                        <m:r>
                          <a:rPr lang="en-US" b="0" i="1" dirty="0" smtClean="0">
                            <a:latin typeface="Cambria Math" panose="02040503050406030204" pitchFamily="18" charset="0"/>
                            <a:ea typeface="Calibri" panose="020F0502020204030204" pitchFamily="34" charset="0"/>
                            <a:cs typeface="Times New Roman" panose="02020603050405020304" pitchFamily="18" charset="0"/>
                          </a:rPr>
                          <m:t>6</m:t>
                        </m:r>
                      </m:den>
                    </m:f>
                    <m:r>
                      <a:rPr lang="en-US" b="0" i="1" dirty="0" smtClean="0">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4.88</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𝑑𝑎𝑦</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IN" dirty="0">
                    <a:effectLst/>
                    <a:latin typeface="+mn-lt"/>
                    <a:ea typeface="Calibri" panose="020F0502020204030204" pitchFamily="34" charset="0"/>
                    <a:cs typeface="Times New Roman" panose="02020603050405020304" pitchFamily="18" charset="0"/>
                  </a:rPr>
                  <a:t>(acceptable)</a:t>
                </a:r>
              </a:p>
              <a:p>
                <a:pPr marL="0" indent="0">
                  <a:spcAft>
                    <a:spcPts val="1000"/>
                  </a:spcAft>
                  <a:buNone/>
                </a:pPr>
                <a:r>
                  <a:rPr lang="en-GB" sz="2000" dirty="0">
                    <a:effectLst/>
                    <a:latin typeface="+mn-lt"/>
                    <a:ea typeface="Calibri" panose="020F0502020204030204" pitchFamily="34" charset="0"/>
                    <a:cs typeface="Times New Roman" panose="02020603050405020304" pitchFamily="18" charset="0"/>
                  </a:rPr>
                  <a:t>Final effluent should be suitable for land irrigation (BOD&lt;100 mg/l, SS &lt; 100 mg/l, Sulphide &lt; 2 mg/l)</a:t>
                </a:r>
                <a:endParaRPr lang="en-IN" dirty="0">
                  <a:effectLst/>
                  <a:latin typeface="+mn-lt"/>
                  <a:ea typeface="Calibri" panose="020F0502020204030204" pitchFamily="34"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F7CFF0BA-E6F5-7B31-60C2-936672BD8F89}"/>
                  </a:ext>
                </a:extLst>
              </p:cNvPr>
              <p:cNvSpPr>
                <a:spLocks noGrp="1" noRot="1" noChangeAspect="1" noMove="1" noResize="1" noEditPoints="1" noAdjustHandles="1" noChangeArrowheads="1" noChangeShapeType="1" noTextEdit="1"/>
              </p:cNvSpPr>
              <p:nvPr>
                <p:ph idx="1"/>
              </p:nvPr>
            </p:nvSpPr>
            <p:spPr>
              <a:xfrm>
                <a:off x="1103311" y="1853249"/>
                <a:ext cx="9984899" cy="4334488"/>
              </a:xfrm>
              <a:blipFill>
                <a:blip r:embed="rId2"/>
                <a:stretch>
                  <a:fillRect l="-672" t="-422" r="-916"/>
                </a:stretch>
              </a:blipFill>
            </p:spPr>
            <p:txBody>
              <a:bodyPr/>
              <a:lstStyle/>
              <a:p>
                <a:r>
                  <a:rPr lang="en-IN">
                    <a:noFill/>
                  </a:rPr>
                  <a:t> </a:t>
                </a:r>
              </a:p>
            </p:txBody>
          </p:sp>
        </mc:Fallback>
      </mc:AlternateContent>
    </p:spTree>
    <p:extLst>
      <p:ext uri="{BB962C8B-B14F-4D97-AF65-F5344CB8AC3E}">
        <p14:creationId xmlns:p14="http://schemas.microsoft.com/office/powerpoint/2010/main" val="39373243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446D9-C139-F3D4-8286-F10EB495031A}"/>
              </a:ext>
            </a:extLst>
          </p:cNvPr>
          <p:cNvSpPr>
            <a:spLocks noGrp="1"/>
          </p:cNvSpPr>
          <p:nvPr>
            <p:ph type="title"/>
          </p:nvPr>
        </p:nvSpPr>
        <p:spPr>
          <a:xfrm>
            <a:off x="646111" y="452718"/>
            <a:ext cx="9404723" cy="1109752"/>
          </a:xfrm>
        </p:spPr>
        <p:txBody>
          <a:bodyPr/>
          <a:lstStyle/>
          <a:p>
            <a:r>
              <a:rPr lang="en-US" dirty="0"/>
              <a:t>Design of UASB Reactor</a:t>
            </a:r>
            <a:endParaRPr lang="en-IN" dirty="0"/>
          </a:p>
        </p:txBody>
      </p:sp>
      <p:pic>
        <p:nvPicPr>
          <p:cNvPr id="5" name="Content Placeholder 4">
            <a:extLst>
              <a:ext uri="{FF2B5EF4-FFF2-40B4-BE49-F238E27FC236}">
                <a16:creationId xmlns:a16="http://schemas.microsoft.com/office/drawing/2014/main" id="{C412A15B-6AE4-F966-18D6-B6E4393F0D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0238" y="1482572"/>
            <a:ext cx="7228068" cy="5113537"/>
          </a:xfrm>
        </p:spPr>
      </p:pic>
    </p:spTree>
    <p:extLst>
      <p:ext uri="{BB962C8B-B14F-4D97-AF65-F5344CB8AC3E}">
        <p14:creationId xmlns:p14="http://schemas.microsoft.com/office/powerpoint/2010/main" val="1880583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47627-018D-3E61-D5B4-4C7882F449BB}"/>
              </a:ext>
            </a:extLst>
          </p:cNvPr>
          <p:cNvSpPr>
            <a:spLocks noGrp="1"/>
          </p:cNvSpPr>
          <p:nvPr>
            <p:ph type="title"/>
          </p:nvPr>
        </p:nvSpPr>
        <p:spPr/>
        <p:txBody>
          <a:bodyPr/>
          <a:lstStyle/>
          <a:p>
            <a:r>
              <a:rPr lang="en-US" dirty="0"/>
              <a:t>Design of UASB Reactor</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5CB3CE8-4072-6551-C0ED-35705D89E856}"/>
                  </a:ext>
                </a:extLst>
              </p:cNvPr>
              <p:cNvSpPr>
                <a:spLocks noGrp="1"/>
              </p:cNvSpPr>
              <p:nvPr>
                <p:ph idx="1"/>
              </p:nvPr>
            </p:nvSpPr>
            <p:spPr>
              <a:xfrm>
                <a:off x="719091" y="1784412"/>
                <a:ext cx="10826798" cy="4900473"/>
              </a:xfrm>
            </p:spPr>
            <p:txBody>
              <a:bodyPr>
                <a:noAutofit/>
              </a:bodyPr>
              <a:lstStyle/>
              <a:p>
                <a:pPr>
                  <a:spcAft>
                    <a:spcPts val="1000"/>
                  </a:spcAft>
                </a:pPr>
                <a:r>
                  <a:rPr lang="en-GB" u="sng" dirty="0">
                    <a:effectLst/>
                    <a:latin typeface="+mn-lt"/>
                    <a:ea typeface="Calibri" panose="020F0502020204030204" pitchFamily="34" charset="0"/>
                    <a:cs typeface="Times New Roman" panose="02020603050405020304" pitchFamily="18" charset="0"/>
                  </a:rPr>
                  <a:t>Sludge Withdrawal and Dewatering</a:t>
                </a:r>
                <a:r>
                  <a:rPr lang="en-GB" dirty="0">
                    <a:effectLst/>
                    <a:latin typeface="+mn-lt"/>
                    <a:ea typeface="Calibri" panose="020F0502020204030204" pitchFamily="34" charset="0"/>
                    <a:cs typeface="Times New Roman" panose="02020603050405020304" pitchFamily="18" charset="0"/>
                  </a:rPr>
                  <a:t>:</a:t>
                </a:r>
                <a:endParaRPr lang="en-IN" u="sng"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Sludge produced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15 </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𝑙</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=0.3</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15 </m:t>
                    </m:r>
                    <m:r>
                      <a:rPr lang="en-US" b="0" i="1" dirty="0" smtClean="0">
                        <a:latin typeface="Cambria Math" panose="02040503050406030204" pitchFamily="18" charset="0"/>
                        <a:ea typeface="Calibri" panose="020F0502020204030204" pitchFamily="34" charset="0"/>
                        <a:cs typeface="Times New Roman" panose="02020603050405020304" pitchFamily="18" charset="0"/>
                      </a:rPr>
                      <m:t>𝑘𝑔</m:t>
                    </m:r>
                    <m:r>
                      <a:rPr lang="en-IN" i="1" dirty="0">
                        <a:latin typeface="Cambria Math" panose="02040503050406030204" pitchFamily="18" charset="0"/>
                        <a:ea typeface="Calibri" panose="020F0502020204030204" pitchFamily="34" charset="0"/>
                        <a:cs typeface="Times New Roman" panose="02020603050405020304" pitchFamily="18" charset="0"/>
                      </a:rPr>
                      <m:t>/</m:t>
                    </m:r>
                    <m:r>
                      <a:rPr lang="en-IN"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IN"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At a sludge concentration of 7 % solids , the sludge volume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150</m:t>
                        </m:r>
                      </m:num>
                      <m:den>
                        <m:r>
                          <a:rPr lang="en-GB" i="1" dirty="0">
                            <a:latin typeface="Cambria Math" panose="02040503050406030204" pitchFamily="18" charset="0"/>
                            <a:ea typeface="Calibri" panose="020F0502020204030204" pitchFamily="34" charset="0"/>
                            <a:cs typeface="Times New Roman" panose="02020603050405020304" pitchFamily="18" charset="0"/>
                          </a:rPr>
                          <m:t>0.07</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4</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5</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m:t>
                    </m:r>
                  </m:oMath>
                </a14:m>
                <a:endParaRPr lang="en-IN" dirty="0">
                  <a:effectLst/>
                  <a:latin typeface="+mn-lt"/>
                  <a:ea typeface="Calibri" panose="020F0502020204030204" pitchFamily="34" charset="0"/>
                  <a:cs typeface="Times New Roman" panose="02020603050405020304" pitchFamily="18" charset="0"/>
                </a:endParaRPr>
              </a:p>
              <a:p>
                <a:pPr>
                  <a:spcAft>
                    <a:spcPts val="1000"/>
                  </a:spcAft>
                </a:pPr>
                <a:r>
                  <a:rPr lang="en-GB" dirty="0">
                    <a:effectLst/>
                    <a:latin typeface="+mn-lt"/>
                    <a:ea typeface="Calibri" panose="020F0502020204030204" pitchFamily="34" charset="0"/>
                    <a:cs typeface="Times New Roman" panose="02020603050405020304" pitchFamily="18" charset="0"/>
                  </a:rPr>
                  <a:t>Sludge Drying Bed</a:t>
                </a: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Sludge drying time of 7 days followed by 2 to 3 days for sludge lifting before the next cycle commences, and assuming 45 m</a:t>
                </a:r>
                <a:r>
                  <a:rPr lang="en-GB" baseline="30000" dirty="0">
                    <a:effectLst/>
                    <a:latin typeface="+mn-lt"/>
                    <a:ea typeface="Calibri" panose="020F0502020204030204" pitchFamily="34" charset="0"/>
                    <a:cs typeface="Times New Roman" panose="02020603050405020304" pitchFamily="18" charset="0"/>
                  </a:rPr>
                  <a:t>3</a:t>
                </a:r>
                <a:r>
                  <a:rPr lang="en-GB" dirty="0">
                    <a:effectLst/>
                    <a:latin typeface="+mn-lt"/>
                    <a:ea typeface="Calibri" panose="020F0502020204030204" pitchFamily="34" charset="0"/>
                    <a:cs typeface="Times New Roman" panose="02020603050405020304" pitchFamily="18" charset="0"/>
                  </a:rPr>
                  <a:t>/d will be applies at 25 cm depth </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Total sludge bed area required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=4</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5</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10</m:t>
                        </m:r>
                      </m:num>
                      <m:den>
                        <m:r>
                          <a:rPr lang="en-GB" i="1" dirty="0">
                            <a:latin typeface="Cambria Math" panose="02040503050406030204" pitchFamily="18" charset="0"/>
                            <a:ea typeface="Calibri" panose="020F0502020204030204" pitchFamily="34" charset="0"/>
                            <a:cs typeface="Times New Roman" panose="02020603050405020304" pitchFamily="18" charset="0"/>
                          </a:rPr>
                          <m:t>0.25 </m:t>
                        </m:r>
                        <m:r>
                          <a:rPr lang="en-GB" i="1" dirty="0">
                            <a:latin typeface="Cambria Math" panose="02040503050406030204" pitchFamily="18" charset="0"/>
                            <a:ea typeface="Calibri" panose="020F0502020204030204" pitchFamily="34" charset="0"/>
                            <a:cs typeface="Times New Roman" panose="02020603050405020304" pitchFamily="18" charset="0"/>
                          </a:rPr>
                          <m:t>𝑚</m:t>
                        </m:r>
                      </m:den>
                    </m:f>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=18</m:t>
                    </m:r>
                    <m:r>
                      <a:rPr lang="en-US" b="0" i="1" dirty="0" smtClean="0">
                        <a:effectLst/>
                        <a:latin typeface="Cambria Math" panose="02040503050406030204" pitchFamily="18" charset="0"/>
                        <a:ea typeface="Calibri" panose="020F0502020204030204" pitchFamily="34" charset="0"/>
                        <a:cs typeface="Times New Roman" panose="02020603050405020304" pitchFamily="18" charset="0"/>
                      </a:rPr>
                      <m:t>0</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0" indent="0">
                  <a:buNone/>
                </a:pPr>
                <a:r>
                  <a:rPr lang="en-GB" dirty="0">
                    <a:effectLst/>
                    <a:latin typeface="+mn-lt"/>
                    <a:ea typeface="Calibri" panose="020F0502020204030204" pitchFamily="34" charset="0"/>
                    <a:cs typeface="Times New Roman" panose="02020603050405020304" pitchFamily="18" charset="0"/>
                  </a:rPr>
                  <a:t>Provide 12 beds of length 15 m and width 10 m. The beds will be formed with graded gravel and sand with open-jointed, glazed stoneware pipes at bottom to drain the filtrate back to the plant.</a:t>
                </a:r>
                <a:endParaRPr lang="en-IN" dirty="0">
                  <a:latin typeface="+mn-lt"/>
                </a:endParaRPr>
              </a:p>
            </p:txBody>
          </p:sp>
        </mc:Choice>
        <mc:Fallback>
          <p:sp>
            <p:nvSpPr>
              <p:cNvPr id="3" name="Content Placeholder 2">
                <a:extLst>
                  <a:ext uri="{FF2B5EF4-FFF2-40B4-BE49-F238E27FC236}">
                    <a16:creationId xmlns:a16="http://schemas.microsoft.com/office/drawing/2014/main" id="{B5CB3CE8-4072-6551-C0ED-35705D89E856}"/>
                  </a:ext>
                </a:extLst>
              </p:cNvPr>
              <p:cNvSpPr>
                <a:spLocks noGrp="1" noRot="1" noChangeAspect="1" noMove="1" noResize="1" noEditPoints="1" noAdjustHandles="1" noChangeArrowheads="1" noChangeShapeType="1" noTextEdit="1"/>
              </p:cNvSpPr>
              <p:nvPr>
                <p:ph idx="1"/>
              </p:nvPr>
            </p:nvSpPr>
            <p:spPr>
              <a:xfrm>
                <a:off x="719091" y="1784412"/>
                <a:ext cx="10826798" cy="4900473"/>
              </a:xfrm>
              <a:blipFill>
                <a:blip r:embed="rId2"/>
                <a:stretch>
                  <a:fillRect l="-619" t="-746" b="-2736"/>
                </a:stretch>
              </a:blipFill>
            </p:spPr>
            <p:txBody>
              <a:bodyPr/>
              <a:lstStyle/>
              <a:p>
                <a:r>
                  <a:rPr lang="en-IN">
                    <a:noFill/>
                  </a:rPr>
                  <a:t> </a:t>
                </a:r>
              </a:p>
            </p:txBody>
          </p:sp>
        </mc:Fallback>
      </mc:AlternateContent>
    </p:spTree>
    <p:extLst>
      <p:ext uri="{BB962C8B-B14F-4D97-AF65-F5344CB8AC3E}">
        <p14:creationId xmlns:p14="http://schemas.microsoft.com/office/powerpoint/2010/main" val="36841121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81DBF-D4A9-400F-B524-F0BBC68F3F83}"/>
              </a:ext>
            </a:extLst>
          </p:cNvPr>
          <p:cNvSpPr>
            <a:spLocks noGrp="1"/>
          </p:cNvSpPr>
          <p:nvPr>
            <p:ph type="title"/>
          </p:nvPr>
        </p:nvSpPr>
        <p:spPr>
          <a:xfrm>
            <a:off x="646111" y="429858"/>
            <a:ext cx="9404723" cy="1400530"/>
          </a:xfrm>
        </p:spPr>
        <p:txBody>
          <a:bodyPr/>
          <a:lstStyle/>
          <a:p>
            <a:r>
              <a:rPr lang="en-US" dirty="0"/>
              <a:t>Design of Facultative Type Aerated Lagoon </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FE1DD3-36D4-336A-D003-55AF7259178E}"/>
                  </a:ext>
                </a:extLst>
              </p:cNvPr>
              <p:cNvSpPr>
                <a:spLocks noGrp="1"/>
              </p:cNvSpPr>
              <p:nvPr>
                <p:ph idx="1"/>
              </p:nvPr>
            </p:nvSpPr>
            <p:spPr>
              <a:xfrm>
                <a:off x="646111" y="2052918"/>
                <a:ext cx="10761695" cy="4516558"/>
              </a:xfrm>
            </p:spPr>
            <p:txBody>
              <a:bodyPr>
                <a:noAutofit/>
              </a:bodyPr>
              <a:lstStyle/>
              <a:p>
                <a:pPr marL="0" indent="0">
                  <a:spcAft>
                    <a:spcPts val="1000"/>
                  </a:spcAft>
                  <a:buNone/>
                </a:pPr>
                <a:r>
                  <a:rPr lang="en-GB" dirty="0">
                    <a:effectLst/>
                    <a:latin typeface="+mn-lt"/>
                    <a:ea typeface="Calibri" panose="020F0502020204030204" pitchFamily="34" charset="0"/>
                    <a:cs typeface="Times New Roman" panose="02020603050405020304" pitchFamily="18" charset="0"/>
                  </a:rPr>
                  <a:t>Provide facultative aerated lagoon of 1 day detention time </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BOD removal will occur from 70 mg/l to 40 mg/l (i.e. 42.8 % removal)</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Oxygen demand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=0.428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𝑖𝑛𝑐𝑜𝑚𝑖𝑛𝑔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𝐵𝑂𝐷</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𝑢𝑙𝑡𝑖𝑚𝑎𝑡𝑒</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)=0.428 (1.47 ∗70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𝑔𝑚</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3</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 10000∗(1/1000)=440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𝑑</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=18.3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h</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Also oxygen demand of 20 mg/l sulphides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=20∗2=40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𝑜𝑥𝑦𝑔𝑒𝑛</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𝑙𝑖𝑡𝑟𝑒</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Kilogram of solids deposited from carryover @ 200 mg/l for ½ hour = 41.6 kg (oxygen demand @ 0.1 kg oxygen/kg solids = 4.16 kg oxygen/day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=0.17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h𝑟</m:t>
                    </m:r>
                  </m:oMath>
                </a14:m>
                <a:r>
                  <a:rPr lang="en-GB" dirty="0">
                    <a:effectLst/>
                    <a:latin typeface="+mn-lt"/>
                    <a:ea typeface="Calibri" panose="020F0502020204030204" pitchFamily="34" charset="0"/>
                    <a:cs typeface="Times New Roman" panose="02020603050405020304" pitchFamily="18" charset="0"/>
                  </a:rPr>
                  <a:t>)</a:t>
                </a:r>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Total oxygen required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=18.3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h𝑟</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+16.7 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h𝑟</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+0.17=35.2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𝑘𝑔</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h𝑟</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a:p>
                <a:pPr marL="0" indent="0">
                  <a:spcAft>
                    <a:spcPts val="1000"/>
                  </a:spcAft>
                  <a:buNone/>
                </a:pPr>
                <a:r>
                  <a:rPr lang="en-GB" dirty="0">
                    <a:effectLst/>
                    <a:latin typeface="+mn-lt"/>
                    <a:ea typeface="Calibri" panose="020F0502020204030204" pitchFamily="34" charset="0"/>
                    <a:cs typeface="Times New Roman" panose="02020603050405020304" pitchFamily="18" charset="0"/>
                  </a:rPr>
                  <a:t>Power level </a:t>
                </a:r>
                <a14:m>
                  <m:oMath xmlns:m="http://schemas.openxmlformats.org/officeDocument/2006/math">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=2.51 </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𝑊</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𝑚</m:t>
                    </m:r>
                    <m:r>
                      <a:rPr lang="en-GB" i="1" baseline="30000" dirty="0" smtClean="0">
                        <a:effectLst/>
                        <a:latin typeface="Cambria Math" panose="02040503050406030204" pitchFamily="18" charset="0"/>
                        <a:ea typeface="Calibri" panose="020F0502020204030204" pitchFamily="34" charset="0"/>
                        <a:cs typeface="Times New Roman" panose="02020603050405020304" pitchFamily="18" charset="0"/>
                      </a:rPr>
                      <m:t>2</m:t>
                    </m:r>
                    <m:r>
                      <a:rPr lang="en-GB" i="1" dirty="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IN" dirty="0">
                  <a:effectLst/>
                  <a:latin typeface="+mn-lt"/>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DAFE1DD3-36D4-336A-D003-55AF7259178E}"/>
                  </a:ext>
                </a:extLst>
              </p:cNvPr>
              <p:cNvSpPr>
                <a:spLocks noGrp="1" noRot="1" noChangeAspect="1" noMove="1" noResize="1" noEditPoints="1" noAdjustHandles="1" noChangeArrowheads="1" noChangeShapeType="1" noTextEdit="1"/>
              </p:cNvSpPr>
              <p:nvPr>
                <p:ph idx="1"/>
              </p:nvPr>
            </p:nvSpPr>
            <p:spPr>
              <a:xfrm>
                <a:off x="646111" y="2052918"/>
                <a:ext cx="10761695" cy="4516558"/>
              </a:xfrm>
              <a:blipFill>
                <a:blip r:embed="rId2"/>
                <a:stretch>
                  <a:fillRect l="-623" t="-810"/>
                </a:stretch>
              </a:blipFill>
            </p:spPr>
            <p:txBody>
              <a:bodyPr/>
              <a:lstStyle/>
              <a:p>
                <a:r>
                  <a:rPr lang="en-IN">
                    <a:noFill/>
                  </a:rPr>
                  <a:t> </a:t>
                </a:r>
              </a:p>
            </p:txBody>
          </p:sp>
        </mc:Fallback>
      </mc:AlternateContent>
    </p:spTree>
    <p:extLst>
      <p:ext uri="{BB962C8B-B14F-4D97-AF65-F5344CB8AC3E}">
        <p14:creationId xmlns:p14="http://schemas.microsoft.com/office/powerpoint/2010/main" val="37310464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C3267-C2F7-CA7B-CEC8-64878D887742}"/>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A1E355FA-233D-55A7-8A90-D7AF6C43F529}"/>
              </a:ext>
            </a:extLst>
          </p:cNvPr>
          <p:cNvSpPr>
            <a:spLocks noGrp="1"/>
          </p:cNvSpPr>
          <p:nvPr>
            <p:ph idx="1"/>
          </p:nvPr>
        </p:nvSpPr>
        <p:spPr/>
        <p:txBody>
          <a:bodyPr/>
          <a:lstStyle/>
          <a:p>
            <a:pPr>
              <a:buFont typeface="Wingdings" panose="05000000000000000000" pitchFamily="2" charset="2"/>
              <a:buChar char="§"/>
            </a:pPr>
            <a:r>
              <a:rPr lang="en-US" dirty="0"/>
              <a:t>Waste water treatment by G.L. </a:t>
            </a:r>
            <a:r>
              <a:rPr lang="en-US" dirty="0" err="1"/>
              <a:t>Karia</a:t>
            </a:r>
            <a:r>
              <a:rPr lang="en-US" dirty="0"/>
              <a:t> and R. A. Christian</a:t>
            </a:r>
          </a:p>
          <a:p>
            <a:pPr>
              <a:buFont typeface="Wingdings" panose="05000000000000000000" pitchFamily="2" charset="2"/>
              <a:buChar char="§"/>
            </a:pPr>
            <a:r>
              <a:rPr lang="en-US" dirty="0"/>
              <a:t>CPHEEO manuals</a:t>
            </a:r>
          </a:p>
          <a:p>
            <a:pPr>
              <a:buFont typeface="Wingdings" panose="05000000000000000000" pitchFamily="2" charset="2"/>
              <a:buChar char="§"/>
            </a:pPr>
            <a:r>
              <a:rPr lang="en-US" dirty="0"/>
              <a:t>Wikipedia</a:t>
            </a:r>
            <a:endParaRPr lang="en-IN" dirty="0"/>
          </a:p>
        </p:txBody>
      </p:sp>
    </p:spTree>
    <p:extLst>
      <p:ext uri="{BB962C8B-B14F-4D97-AF65-F5344CB8AC3E}">
        <p14:creationId xmlns:p14="http://schemas.microsoft.com/office/powerpoint/2010/main" val="2540376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435F7F56-893C-1B55-265C-FA47FA1BA2D9}"/>
              </a:ext>
            </a:extLst>
          </p:cNvPr>
          <p:cNvGraphicFramePr>
            <a:graphicFrameLocks noGrp="1"/>
          </p:cNvGraphicFramePr>
          <p:nvPr>
            <p:ph idx="1"/>
            <p:extLst>
              <p:ext uri="{D42A27DB-BD31-4B8C-83A1-F6EECF244321}">
                <p14:modId xmlns:p14="http://schemas.microsoft.com/office/powerpoint/2010/main" val="3925838838"/>
              </p:ext>
            </p:extLst>
          </p:nvPr>
        </p:nvGraphicFramePr>
        <p:xfrm>
          <a:off x="1622729" y="1331259"/>
          <a:ext cx="8946541" cy="4195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37762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5670</TotalTime>
  <Words>3650</Words>
  <Application>Microsoft Office PowerPoint</Application>
  <PresentationFormat>Widescreen</PresentationFormat>
  <Paragraphs>286</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Cambria Math</vt:lpstr>
      <vt:lpstr>Century Gothic</vt:lpstr>
      <vt:lpstr>Wingdings</vt:lpstr>
      <vt:lpstr>Wingdings 3</vt:lpstr>
      <vt:lpstr>Ion</vt:lpstr>
      <vt:lpstr>Treatment Of Domestic Sewage Using Upflow Anaerobic Sludge Blanket(UASB) Reactor</vt:lpstr>
      <vt:lpstr>Overview</vt:lpstr>
      <vt:lpstr>Introduction</vt:lpstr>
      <vt:lpstr>Contribution of human wastes</vt:lpstr>
      <vt:lpstr>General Standards of Discharge of Pollutants</vt:lpstr>
      <vt:lpstr>Water Quality Changes</vt:lpstr>
      <vt:lpstr>Objective </vt:lpstr>
      <vt:lpstr>Preliminary Treatment </vt:lpstr>
      <vt:lpstr>UASB Reactor</vt:lpstr>
      <vt:lpstr>Anaerobic Process</vt:lpstr>
      <vt:lpstr>Anaerobic Process</vt:lpstr>
      <vt:lpstr>Facultative type Aerated Lagoon</vt:lpstr>
      <vt:lpstr>Treatment Scheme</vt:lpstr>
      <vt:lpstr>Design of Treatment Units for 10 MLD Domestic Sewage</vt:lpstr>
      <vt:lpstr>Design of Pump House</vt:lpstr>
      <vt:lpstr>Design of Pump House </vt:lpstr>
      <vt:lpstr>Design of Pump House</vt:lpstr>
      <vt:lpstr>Design of Pump House </vt:lpstr>
      <vt:lpstr>Design of Power House</vt:lpstr>
      <vt:lpstr>DESIGN OF APPROACH  CHANNEL </vt:lpstr>
      <vt:lpstr>DESIGN OF APPROACH  CHANNEL </vt:lpstr>
      <vt:lpstr>DESIGN OF APPROACH  CHANNEL </vt:lpstr>
      <vt:lpstr>Design of Screen Chamber</vt:lpstr>
      <vt:lpstr>Design of Screen Chamber </vt:lpstr>
      <vt:lpstr>Design of Screen Chamber</vt:lpstr>
      <vt:lpstr>Design of Screen Chamber </vt:lpstr>
      <vt:lpstr>Design of Grit Chamber</vt:lpstr>
      <vt:lpstr>Design of Grit Chamber</vt:lpstr>
      <vt:lpstr>Design of Grit Chamber</vt:lpstr>
      <vt:lpstr>Design of UASB Reactor</vt:lpstr>
      <vt:lpstr>Design of UASB Reactor</vt:lpstr>
      <vt:lpstr>Design of UASB Reactor</vt:lpstr>
      <vt:lpstr>Design of UASB Reactor</vt:lpstr>
      <vt:lpstr>Design of UASB Reactor</vt:lpstr>
      <vt:lpstr>Design of UASB Reactor</vt:lpstr>
      <vt:lpstr>Design of UASB Reactor</vt:lpstr>
      <vt:lpstr>Design of UASB Reactor</vt:lpstr>
      <vt:lpstr>Design of UASB Reactor</vt:lpstr>
      <vt:lpstr>Design of UASB Reactor</vt:lpstr>
      <vt:lpstr>Design of UASB Reactor</vt:lpstr>
      <vt:lpstr>Design of UASB Reactor</vt:lpstr>
      <vt:lpstr>Design of Facultative Type Aerated Lagoon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Treatment Of Domestic Sewage Using Up-flow Anaerobic Sludge Blanket(UASB) Reactor</dc:title>
  <dc:creator>Aryan</dc:creator>
  <cp:lastModifiedBy>Aryan varshney</cp:lastModifiedBy>
  <cp:revision>62</cp:revision>
  <dcterms:created xsi:type="dcterms:W3CDTF">2023-01-07T09:24:53Z</dcterms:created>
  <dcterms:modified xsi:type="dcterms:W3CDTF">2023-05-21T21:08:29Z</dcterms:modified>
</cp:coreProperties>
</file>